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428806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自己紹介。インターンで取り組んだテーマの位置づけを一言で述べる。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全体の流れ。手法は概要と詳細の2枚、結果と考察はまとめて3章、最後に振り返り。付録は質疑用。</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左：いま困っていること。右：それに対してやりたいこと。下段：そのために今取り組んでいる範囲（実験は進行中で、結果はこの後のスライドで触れる）。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4段階の流れ。1〜2がLLM、3がプログラム、4が質問応答。下段は「なぜこの分け方にするか」。手法はまだ検討中である点を口頭でも触れる。</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中→右の順に話す。中央のCLAIMが要：因果・兆候・必要・順序を混ぜず、条件や「〜のことがある」を関係そのものに結びつけられる。比較もこのCLAIMを起点に切り出すので、意味の欠けた断片どうしは一致しな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AI活用の推進状況と、定例での事例共有から感じた技術への感度の高さ。②いつでも議論できる環境。メンターの方の説明と、まわりの人が自然に議論へ加わってくる雰囲気。③熟練者の方とAIの対話の会に参加して感じた、知識の深さと仕事への誇り。ここでノウハウを残すことの意義を再認識した、という流れで下段へ。</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ここから先は質疑用の付録。時間があれば構造化（A-1〜A-3）と構造比較（A-4〜A-6）を説明する。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左：原文を7種類の点に分解する。右：因果などの関係を辺ではなく点として置くことで、条件や確からしさをその関係に付けられる。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上段：原文の意味を決める3つの情報。これを残すかどうかで、後の比較の精度が変わる。下段：分野をまたぐために言葉づかいをそろえるが、違う意味まで統合しない。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抽出でいちばん怖いのは、もっともらしい因果を足してしまうこと。足さないための規則と、表せない部分の置き場をセットで決めている。</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比較の単位をどう切り出すか。意味を決める引数を落とすと、形だけ似た別物が一致してしまうため、閉じた範囲で切り出す。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比較の設計で最も効くところ。使う情報を増やすと誤った一致は減るが、厳しくしすぎると分野をまたいだ一致が消える。そのバランスを実験で確かめている。</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照合は2段階。粗い条件はあくまで絞り込みで、一致の証明にはしない。保留した断片は辞書を直してから再探索する。最後の枠は、比較方式を差し替えて効果を測れるようにしてあるという話。</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841"/>
        </a:solidFill>
        <a:effectLst/>
      </p:bgPr>
    </p:bg>
    <p:spTree>
      <p:nvGrpSpPr>
        <p:cNvPr id="1" name=""/>
        <p:cNvGrpSpPr/>
        <p:nvPr/>
      </p:nvGrpSpPr>
      <p:grpSpPr>
        <a:xfrm>
          <a:off x="0" y="0"/>
          <a:ext cx="0" cy="0"/>
          <a:chOff x="0" y="0"/>
          <a:chExt cx="0" cy="0"/>
        </a:xfrm>
      </p:grpSpPr>
      <p:sp>
        <p:nvSpPr>
          <p:cNvPr id="2" name="Shape 0"/>
          <p:cNvSpPr/>
          <p:nvPr/>
        </p:nvSpPr>
        <p:spPr>
          <a:xfrm>
            <a:off x="8961120" y="3108960"/>
            <a:ext cx="4754880" cy="4754880"/>
          </a:xfrm>
          <a:prstGeom prst="ellipse">
            <a:avLst/>
          </a:prstGeom>
          <a:solidFill>
            <a:srgbClr val="0E2841"/>
          </a:solidFill>
          <a:ln w="15875">
            <a:solidFill>
              <a:srgbClr val="156082"/>
            </a:solidFill>
            <a:prstDash val="solid"/>
          </a:ln>
        </p:spPr>
        <p:txBody>
          <a:bodyPr/>
          <a:lstStyle/>
          <a:p>
            <a:endParaRPr lang="ja-JP" altLang="en-US"/>
          </a:p>
        </p:txBody>
      </p:sp>
      <p:sp>
        <p:nvSpPr>
          <p:cNvPr id="3" name="Shape 1"/>
          <p:cNvSpPr/>
          <p:nvPr/>
        </p:nvSpPr>
        <p:spPr>
          <a:xfrm>
            <a:off x="10378440" y="4526280"/>
            <a:ext cx="1920240" cy="1920240"/>
          </a:xfrm>
          <a:prstGeom prst="ellipse">
            <a:avLst/>
          </a:prstGeom>
          <a:solidFill>
            <a:srgbClr val="156082">
              <a:alpha val="45000"/>
            </a:srgbClr>
          </a:solidFill>
          <a:ln w="12700">
            <a:solidFill>
              <a:srgbClr val="156082"/>
            </a:solidFill>
            <a:prstDash val="solid"/>
          </a:ln>
        </p:spPr>
        <p:txBody>
          <a:bodyPr/>
          <a:lstStyle/>
          <a:p>
            <a:endParaRPr lang="ja-JP" altLang="en-US"/>
          </a:p>
        </p:txBody>
      </p:sp>
      <p:sp>
        <p:nvSpPr>
          <p:cNvPr id="4" name="Text 2"/>
          <p:cNvSpPr txBox="1"/>
          <p:nvPr/>
        </p:nvSpPr>
        <p:spPr>
          <a:xfrm>
            <a:off x="1005840" y="2487168"/>
            <a:ext cx="8412480" cy="868680"/>
          </a:xfrm>
          <a:prstGeom prst="rect">
            <a:avLst/>
          </a:prstGeom>
          <a:noFill/>
          <a:ln/>
        </p:spPr>
        <p:txBody>
          <a:bodyPr wrap="square" lIns="0" tIns="0" rIns="0" bIns="0" rtlCol="0" anchor="ctr"/>
          <a:lstStyle/>
          <a:p>
            <a:pPr marL="0" indent="0">
              <a:buNone/>
            </a:pPr>
            <a:r>
              <a:rPr lang="en-US" sz="4000" b="1" dirty="0">
                <a:solidFill>
                  <a:srgbClr val="FFFFFF"/>
                </a:solidFill>
                <a:latin typeface="游ゴシック" pitchFamily="34" charset="0"/>
                <a:ea typeface="游ゴシック" pitchFamily="34" charset="-122"/>
                <a:cs typeface="游ゴシック" pitchFamily="34" charset="-120"/>
              </a:rPr>
              <a:t>インターン成果報告</a:t>
            </a:r>
            <a:endParaRPr lang="en-US" sz="4000" dirty="0"/>
          </a:p>
        </p:txBody>
      </p:sp>
      <p:sp>
        <p:nvSpPr>
          <p:cNvPr id="5" name="Text 3"/>
          <p:cNvSpPr txBox="1"/>
          <p:nvPr/>
        </p:nvSpPr>
        <p:spPr>
          <a:xfrm>
            <a:off x="1005840" y="3456432"/>
            <a:ext cx="8412480" cy="457200"/>
          </a:xfrm>
          <a:prstGeom prst="rect">
            <a:avLst/>
          </a:prstGeom>
          <a:noFill/>
          <a:ln/>
        </p:spPr>
        <p:txBody>
          <a:bodyPr wrap="square" lIns="0" tIns="0" rIns="0" bIns="0" rtlCol="0" anchor="ctr"/>
          <a:lstStyle/>
          <a:p>
            <a:pPr marL="0" indent="0">
              <a:buNone/>
            </a:pPr>
            <a:r>
              <a:rPr lang="en-US" sz="1900" dirty="0">
                <a:solidFill>
                  <a:srgbClr val="CADCFC"/>
                </a:solidFill>
                <a:latin typeface="游ゴシック" pitchFamily="34" charset="0"/>
                <a:ea typeface="游ゴシック" pitchFamily="34" charset="-122"/>
                <a:cs typeface="游ゴシック" pitchFamily="34" charset="-120"/>
              </a:rPr>
              <a:t>熟練者の分野を横断した共通の「考え方」の発見に向けて</a:t>
            </a:r>
            <a:endParaRPr lang="en-US" sz="1900" dirty="0"/>
          </a:p>
        </p:txBody>
      </p:sp>
      <p:sp>
        <p:nvSpPr>
          <p:cNvPr id="6" name="Shape 4"/>
          <p:cNvSpPr/>
          <p:nvPr/>
        </p:nvSpPr>
        <p:spPr>
          <a:xfrm>
            <a:off x="1005840" y="4224528"/>
            <a:ext cx="502920" cy="32004"/>
          </a:xfrm>
          <a:prstGeom prst="rect">
            <a:avLst/>
          </a:prstGeom>
          <a:solidFill>
            <a:srgbClr val="E97132"/>
          </a:solidFill>
          <a:ln w="12700">
            <a:solidFill>
              <a:srgbClr val="333333"/>
            </a:solidFill>
            <a:prstDash val="solid"/>
          </a:ln>
        </p:spPr>
        <p:txBody>
          <a:bodyPr/>
          <a:lstStyle/>
          <a:p>
            <a:endParaRPr lang="ja-JP" altLang="en-US"/>
          </a:p>
        </p:txBody>
      </p:sp>
      <p:sp>
        <p:nvSpPr>
          <p:cNvPr id="7" name="Text 5"/>
          <p:cNvSpPr txBox="1"/>
          <p:nvPr/>
        </p:nvSpPr>
        <p:spPr>
          <a:xfrm>
            <a:off x="1005840" y="4480560"/>
            <a:ext cx="5486400" cy="365760"/>
          </a:xfrm>
          <a:prstGeom prst="rect">
            <a:avLst/>
          </a:prstGeom>
          <a:noFill/>
          <a:ln/>
        </p:spPr>
        <p:txBody>
          <a:bodyPr wrap="square" lIns="0" tIns="0" rIns="0" bIns="0" rtlCol="0" anchor="ctr"/>
          <a:lstStyle/>
          <a:p>
            <a:pPr marL="0" indent="0">
              <a:buNone/>
            </a:pPr>
            <a:r>
              <a:rPr lang="en-US" sz="1500" dirty="0">
                <a:solidFill>
                  <a:srgbClr val="FFFFFF"/>
                </a:solidFill>
                <a:latin typeface="游ゴシック" pitchFamily="34" charset="0"/>
                <a:ea typeface="游ゴシック" pitchFamily="34" charset="-122"/>
                <a:cs typeface="游ゴシック" pitchFamily="34" charset="-120"/>
              </a:rPr>
              <a:t>名古屋大学　岩﨑文紀</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75488"/>
            <a:ext cx="10881360" cy="658368"/>
          </a:xfrm>
          <a:prstGeom prst="rect">
            <a:avLst/>
          </a:prstGeom>
          <a:noFill/>
          <a:ln/>
        </p:spPr>
        <p:txBody>
          <a:bodyPr wrap="square" lIns="0" tIns="0" rIns="0" bIns="0" rtlCol="0" anchor="ctr"/>
          <a:lstStyle/>
          <a:p>
            <a:pPr marL="0" indent="0">
              <a:buNone/>
            </a:pPr>
            <a:r>
              <a:rPr lang="en-US" sz="3000" b="1" dirty="0">
                <a:solidFill>
                  <a:srgbClr val="0E2841"/>
                </a:solidFill>
                <a:latin typeface="游ゴシック" pitchFamily="34" charset="0"/>
                <a:ea typeface="游ゴシック" pitchFamily="34" charset="-122"/>
                <a:cs typeface="游ゴシック" pitchFamily="34" charset="-120"/>
              </a:rPr>
              <a:t>目次</a:t>
            </a:r>
            <a:endParaRPr lang="en-US" sz="3000" dirty="0"/>
          </a:p>
        </p:txBody>
      </p:sp>
      <p:sp>
        <p:nvSpPr>
          <p:cNvPr id="3" name="Shape 1"/>
          <p:cNvSpPr/>
          <p:nvPr/>
        </p:nvSpPr>
        <p:spPr>
          <a:xfrm>
            <a:off x="1097280" y="1554480"/>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4" name="Text 2"/>
          <p:cNvSpPr txBox="1"/>
          <p:nvPr/>
        </p:nvSpPr>
        <p:spPr>
          <a:xfrm>
            <a:off x="1097280" y="1554480"/>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883664" y="1517904"/>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目標</a:t>
            </a:r>
            <a:endParaRPr lang="en-US" sz="2000" dirty="0"/>
          </a:p>
        </p:txBody>
      </p:sp>
      <p:sp>
        <p:nvSpPr>
          <p:cNvPr id="6" name="Shape 4"/>
          <p:cNvSpPr/>
          <p:nvPr/>
        </p:nvSpPr>
        <p:spPr>
          <a:xfrm>
            <a:off x="1097280" y="2377440"/>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7" name="Text 5"/>
          <p:cNvSpPr txBox="1"/>
          <p:nvPr/>
        </p:nvSpPr>
        <p:spPr>
          <a:xfrm>
            <a:off x="1097280" y="2377440"/>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883664" y="2340864"/>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手法</a:t>
            </a:r>
            <a:endParaRPr lang="en-US" sz="2000" dirty="0"/>
          </a:p>
        </p:txBody>
      </p:sp>
      <p:sp>
        <p:nvSpPr>
          <p:cNvPr id="9" name="Text 7"/>
          <p:cNvSpPr txBox="1"/>
          <p:nvPr/>
        </p:nvSpPr>
        <p:spPr>
          <a:xfrm>
            <a:off x="1883664" y="2980944"/>
            <a:ext cx="640080" cy="329184"/>
          </a:xfrm>
          <a:prstGeom prst="rect">
            <a:avLst/>
          </a:prstGeom>
          <a:noFill/>
          <a:ln/>
        </p:spPr>
        <p:txBody>
          <a:bodyPr wrap="square" lIns="0" tIns="0" rIns="0" bIns="0" rtlCol="0" anchor="ctr"/>
          <a:lstStyle/>
          <a:p>
            <a:pPr marL="0" indent="0">
              <a:buNone/>
            </a:pPr>
            <a:r>
              <a:rPr lang="en-US" sz="1350" b="1" dirty="0">
                <a:solidFill>
                  <a:srgbClr val="156082"/>
                </a:solidFill>
                <a:latin typeface="Calibri" pitchFamily="34" charset="0"/>
                <a:ea typeface="Calibri" pitchFamily="34" charset="-122"/>
                <a:cs typeface="Calibri" pitchFamily="34" charset="-120"/>
              </a:rPr>
              <a:t>2.1</a:t>
            </a:r>
            <a:endParaRPr lang="en-US" sz="1350" dirty="0"/>
          </a:p>
        </p:txBody>
      </p:sp>
      <p:sp>
        <p:nvSpPr>
          <p:cNvPr id="10" name="Text 8"/>
          <p:cNvSpPr txBox="1"/>
          <p:nvPr/>
        </p:nvSpPr>
        <p:spPr>
          <a:xfrm>
            <a:off x="2578608" y="2980944"/>
            <a:ext cx="6400800" cy="329184"/>
          </a:xfrm>
          <a:prstGeom prst="rect">
            <a:avLst/>
          </a:prstGeom>
          <a:noFill/>
          <a:ln/>
        </p:spPr>
        <p:txBody>
          <a:bodyPr wrap="square" lIns="0" tIns="0" rIns="0" bIns="0" rtlCol="0" anchor="ctr"/>
          <a:lstStyle/>
          <a:p>
            <a:pPr marL="0" indent="0">
              <a:buNone/>
            </a:pPr>
            <a:r>
              <a:rPr lang="en-US" sz="1500" dirty="0">
                <a:solidFill>
                  <a:srgbClr val="32414E"/>
                </a:solidFill>
                <a:latin typeface="游ゴシック" pitchFamily="34" charset="0"/>
                <a:ea typeface="游ゴシック" pitchFamily="34" charset="-122"/>
                <a:cs typeface="游ゴシック" pitchFamily="34" charset="-120"/>
              </a:rPr>
              <a:t>手法概要</a:t>
            </a:r>
            <a:endParaRPr lang="en-US" sz="1500" dirty="0"/>
          </a:p>
        </p:txBody>
      </p:sp>
      <p:sp>
        <p:nvSpPr>
          <p:cNvPr id="11" name="Text 9"/>
          <p:cNvSpPr txBox="1"/>
          <p:nvPr/>
        </p:nvSpPr>
        <p:spPr>
          <a:xfrm>
            <a:off x="1883664" y="3401568"/>
            <a:ext cx="640080" cy="329184"/>
          </a:xfrm>
          <a:prstGeom prst="rect">
            <a:avLst/>
          </a:prstGeom>
          <a:noFill/>
          <a:ln/>
        </p:spPr>
        <p:txBody>
          <a:bodyPr wrap="square" lIns="0" tIns="0" rIns="0" bIns="0" rtlCol="0" anchor="ctr"/>
          <a:lstStyle/>
          <a:p>
            <a:pPr marL="0" indent="0">
              <a:buNone/>
            </a:pPr>
            <a:r>
              <a:rPr lang="en-US" sz="1350" b="1" dirty="0">
                <a:solidFill>
                  <a:srgbClr val="156082"/>
                </a:solidFill>
                <a:latin typeface="Calibri" pitchFamily="34" charset="0"/>
                <a:ea typeface="Calibri" pitchFamily="34" charset="-122"/>
                <a:cs typeface="Calibri" pitchFamily="34" charset="-120"/>
              </a:rPr>
              <a:t>2.2</a:t>
            </a:r>
            <a:endParaRPr lang="en-US" sz="1350" dirty="0"/>
          </a:p>
        </p:txBody>
      </p:sp>
      <p:sp>
        <p:nvSpPr>
          <p:cNvPr id="12" name="Text 10"/>
          <p:cNvSpPr txBox="1"/>
          <p:nvPr/>
        </p:nvSpPr>
        <p:spPr>
          <a:xfrm>
            <a:off x="2578608" y="3401568"/>
            <a:ext cx="6400800" cy="329184"/>
          </a:xfrm>
          <a:prstGeom prst="rect">
            <a:avLst/>
          </a:prstGeom>
          <a:noFill/>
          <a:ln/>
        </p:spPr>
        <p:txBody>
          <a:bodyPr wrap="square" lIns="0" tIns="0" rIns="0" bIns="0" rtlCol="0" anchor="ctr"/>
          <a:lstStyle/>
          <a:p>
            <a:pPr marL="0" indent="0">
              <a:buNone/>
            </a:pPr>
            <a:r>
              <a:rPr lang="en-US" sz="1500" dirty="0">
                <a:solidFill>
                  <a:srgbClr val="32414E"/>
                </a:solidFill>
                <a:latin typeface="游ゴシック" pitchFamily="34" charset="0"/>
                <a:ea typeface="游ゴシック" pitchFamily="34" charset="-122"/>
                <a:cs typeface="游ゴシック" pitchFamily="34" charset="-120"/>
              </a:rPr>
              <a:t>手法詳細</a:t>
            </a:r>
            <a:endParaRPr lang="en-US" sz="1500" dirty="0"/>
          </a:p>
        </p:txBody>
      </p:sp>
      <p:sp>
        <p:nvSpPr>
          <p:cNvPr id="13" name="Shape 11"/>
          <p:cNvSpPr/>
          <p:nvPr/>
        </p:nvSpPr>
        <p:spPr>
          <a:xfrm>
            <a:off x="1097280" y="3986784"/>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14" name="Text 12"/>
          <p:cNvSpPr txBox="1"/>
          <p:nvPr/>
        </p:nvSpPr>
        <p:spPr>
          <a:xfrm>
            <a:off x="1097280" y="3986784"/>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883664" y="3950208"/>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結果・考察</a:t>
            </a:r>
            <a:endParaRPr lang="en-US" sz="2000" dirty="0"/>
          </a:p>
        </p:txBody>
      </p:sp>
      <p:sp>
        <p:nvSpPr>
          <p:cNvPr id="16" name="Shape 14"/>
          <p:cNvSpPr/>
          <p:nvPr/>
        </p:nvSpPr>
        <p:spPr>
          <a:xfrm>
            <a:off x="1097280" y="4809744"/>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17" name="Text 15"/>
          <p:cNvSpPr txBox="1"/>
          <p:nvPr/>
        </p:nvSpPr>
        <p:spPr>
          <a:xfrm>
            <a:off x="1097280" y="4809744"/>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1883664" y="4773168"/>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インターン振り返り</a:t>
            </a:r>
            <a:endParaRPr lang="en-US" sz="2000" dirty="0"/>
          </a:p>
        </p:txBody>
      </p:sp>
      <p:sp>
        <p:nvSpPr>
          <p:cNvPr id="19" name="Text 17"/>
          <p:cNvSpPr txBox="1"/>
          <p:nvPr/>
        </p:nvSpPr>
        <p:spPr>
          <a:xfrm>
            <a:off x="1883664" y="5650992"/>
            <a:ext cx="8229600" cy="310896"/>
          </a:xfrm>
          <a:prstGeom prst="rect">
            <a:avLst/>
          </a:prstGeom>
          <a:noFill/>
          <a:ln/>
        </p:spPr>
        <p:txBody>
          <a:bodyPr wrap="square" lIns="0" tIns="0" rIns="0" bIns="0" rtlCol="0" anchor="ctr"/>
          <a:lstStyle/>
          <a:p>
            <a:pPr marL="0" indent="0">
              <a:buNone/>
            </a:pPr>
            <a:r>
              <a:rPr lang="en-US" sz="1300" dirty="0">
                <a:solidFill>
                  <a:srgbClr val="6B7A87"/>
                </a:solidFill>
                <a:latin typeface="游ゴシック" pitchFamily="34" charset="0"/>
                <a:ea typeface="游ゴシック" pitchFamily="34" charset="-122"/>
                <a:cs typeface="游ゴシック" pitchFamily="34" charset="-120"/>
              </a:rPr>
              <a:t>付録　構造化の詳細（A-1〜A-3）／ 構造比較の詳細（A-4〜A-6）</a:t>
            </a:r>
            <a:endParaRPr lang="en-US" sz="1300" dirty="0"/>
          </a:p>
        </p:txBody>
      </p:sp>
      <p:sp>
        <p:nvSpPr>
          <p:cNvPr id="20" name="Text 18"/>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75488"/>
            <a:ext cx="10881360" cy="658368"/>
          </a:xfrm>
          <a:prstGeom prst="rect">
            <a:avLst/>
          </a:prstGeom>
          <a:noFill/>
          <a:ln/>
        </p:spPr>
        <p:txBody>
          <a:bodyPr wrap="square" lIns="0" tIns="0" rIns="0" bIns="0" rtlCol="0" anchor="ctr"/>
          <a:lstStyle/>
          <a:p>
            <a:pPr marL="0" indent="0">
              <a:buNone/>
            </a:pPr>
            <a:r>
              <a:rPr lang="en-US" sz="3000" b="1" dirty="0">
                <a:solidFill>
                  <a:srgbClr val="0E2841"/>
                </a:solidFill>
                <a:latin typeface="游ゴシック" pitchFamily="34" charset="0"/>
                <a:ea typeface="游ゴシック" pitchFamily="34" charset="-122"/>
                <a:cs typeface="游ゴシック" pitchFamily="34" charset="-120"/>
              </a:rPr>
              <a:t>分野を横断して共通する「考え方」を見つけたい</a:t>
            </a:r>
            <a:endParaRPr lang="en-US" sz="3000" dirty="0"/>
          </a:p>
        </p:txBody>
      </p:sp>
      <p:sp>
        <p:nvSpPr>
          <p:cNvPr id="3" name="Shape 1"/>
          <p:cNvSpPr/>
          <p:nvPr/>
        </p:nvSpPr>
        <p:spPr>
          <a:xfrm>
            <a:off x="658368" y="1481328"/>
            <a:ext cx="4800600" cy="3310128"/>
          </a:xfrm>
          <a:prstGeom prst="roundRect">
            <a:avLst>
              <a:gd name="adj" fmla="val 2210"/>
            </a:avLst>
          </a:prstGeom>
          <a:solidFill>
            <a:srgbClr val="F5F8FA"/>
          </a:solidFill>
          <a:ln w="12700">
            <a:solidFill>
              <a:srgbClr val="333333"/>
            </a:solidFill>
            <a:prstDash val="solid"/>
          </a:ln>
          <a:effectLst>
            <a:outerShdw blurRad="127000" dist="25400" dir="5400000" algn="bl" rotWithShape="0">
              <a:srgbClr val="9AA8B4">
                <a:alpha val="20000"/>
              </a:srgbClr>
            </a:outerShdw>
          </a:effectLst>
        </p:spPr>
        <p:txBody>
          <a:bodyPr/>
          <a:lstStyle/>
          <a:p>
            <a:endParaRPr lang="ja-JP" altLang="en-US"/>
          </a:p>
        </p:txBody>
      </p:sp>
      <p:sp>
        <p:nvSpPr>
          <p:cNvPr id="4" name="Shape 2"/>
          <p:cNvSpPr/>
          <p:nvPr/>
        </p:nvSpPr>
        <p:spPr>
          <a:xfrm>
            <a:off x="1042416" y="1847088"/>
            <a:ext cx="1170432" cy="329184"/>
          </a:xfrm>
          <a:prstGeom prst="roundRect">
            <a:avLst>
              <a:gd name="adj" fmla="val 138889"/>
            </a:avLst>
          </a:prstGeom>
          <a:solidFill>
            <a:srgbClr val="0E2841"/>
          </a:solidFill>
          <a:ln w="12700">
            <a:solidFill>
              <a:srgbClr val="333333"/>
            </a:solidFill>
            <a:prstDash val="solid"/>
          </a:ln>
        </p:spPr>
        <p:txBody>
          <a:bodyPr/>
          <a:lstStyle/>
          <a:p>
            <a:endParaRPr lang="ja-JP" altLang="en-US"/>
          </a:p>
        </p:txBody>
      </p:sp>
      <p:sp>
        <p:nvSpPr>
          <p:cNvPr id="5" name="Text 3"/>
          <p:cNvSpPr txBox="1"/>
          <p:nvPr/>
        </p:nvSpPr>
        <p:spPr>
          <a:xfrm>
            <a:off x="1042416" y="1847088"/>
            <a:ext cx="1170432"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游ゴシック" pitchFamily="34" charset="0"/>
                <a:ea typeface="游ゴシック" pitchFamily="34" charset="-122"/>
                <a:cs typeface="游ゴシック" pitchFamily="34" charset="-120"/>
              </a:rPr>
              <a:t>課題</a:t>
            </a:r>
            <a:endParaRPr lang="en-US" sz="1200" dirty="0"/>
          </a:p>
        </p:txBody>
      </p:sp>
      <p:sp>
        <p:nvSpPr>
          <p:cNvPr id="6" name="Text 4"/>
          <p:cNvSpPr txBox="1"/>
          <p:nvPr/>
        </p:nvSpPr>
        <p:spPr>
          <a:xfrm>
            <a:off x="1042416" y="2322576"/>
            <a:ext cx="4032504" cy="768096"/>
          </a:xfrm>
          <a:prstGeom prst="rect">
            <a:avLst/>
          </a:prstGeom>
          <a:noFill/>
          <a:ln/>
        </p:spPr>
        <p:txBody>
          <a:bodyPr wrap="square" lIns="0" tIns="0" rIns="0" bIns="0" rtlCol="0" anchor="ctr"/>
          <a:lstStyle/>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DBにない分野の質問に</a:t>
            </a:r>
            <a:endParaRPr lang="en-US" sz="1800" dirty="0"/>
          </a:p>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うまく答えられない</a:t>
            </a:r>
            <a:endParaRPr lang="en-US" sz="1800" dirty="0"/>
          </a:p>
        </p:txBody>
      </p:sp>
      <p:sp>
        <p:nvSpPr>
          <p:cNvPr id="7" name="Text 5"/>
          <p:cNvSpPr txBox="1"/>
          <p:nvPr/>
        </p:nvSpPr>
        <p:spPr>
          <a:xfrm>
            <a:off x="1042416" y="3182112"/>
            <a:ext cx="4032504" cy="1371600"/>
          </a:xfrm>
          <a:prstGeom prst="rect">
            <a:avLst/>
          </a:prstGeom>
          <a:noFill/>
          <a:ln/>
        </p:spPr>
        <p:txBody>
          <a:bodyPr wrap="square" lIns="0" tIns="0" rIns="0" bIns="0" rtlCol="0" anchor="ctr"/>
          <a:lstStyle/>
          <a:p>
            <a:pPr marL="342900" indent="-342900">
              <a:lnSpc>
                <a:spcPct val="130000"/>
              </a:lnSpc>
              <a:spcAft>
                <a:spcPts val="1000"/>
              </a:spcAft>
              <a:buSzPct val="100000"/>
              <a:buChar char="–"/>
            </a:pPr>
            <a:r>
              <a:rPr lang="en-US" sz="1350" dirty="0">
                <a:solidFill>
                  <a:srgbClr val="32414E"/>
                </a:solidFill>
                <a:latin typeface="游ゴシック" pitchFamily="34" charset="0"/>
                <a:ea typeface="游ゴシック" pitchFamily="34" charset="-122"/>
                <a:cs typeface="游ゴシック" pitchFamily="34" charset="-120"/>
              </a:rPr>
              <a:t>現状はベクトル・語彙検索で具体的なノウハウを参照する</a:t>
            </a:r>
            <a:endParaRPr lang="en-US" sz="1350" dirty="0"/>
          </a:p>
          <a:p>
            <a:pPr marL="342900" indent="-342900">
              <a:lnSpc>
                <a:spcPct val="130000"/>
              </a:lnSpc>
              <a:spcAft>
                <a:spcPts val="1000"/>
              </a:spcAft>
              <a:buSzPct val="100000"/>
              <a:buChar char="–"/>
            </a:pPr>
            <a:r>
              <a:rPr lang="en-US" sz="1350" dirty="0">
                <a:solidFill>
                  <a:srgbClr val="32414E"/>
                </a:solidFill>
                <a:latin typeface="游ゴシック" pitchFamily="34" charset="0"/>
                <a:ea typeface="游ゴシック" pitchFamily="34" charset="-122"/>
                <a:cs typeface="游ゴシック" pitchFamily="34" charset="-120"/>
              </a:rPr>
              <a:t>分野が違えば言葉づかいも違うため、同じ考え方でも結びつかない</a:t>
            </a:r>
            <a:endParaRPr lang="en-US" sz="1350" dirty="0"/>
          </a:p>
        </p:txBody>
      </p:sp>
      <p:sp>
        <p:nvSpPr>
          <p:cNvPr id="8" name="Shape 6"/>
          <p:cNvSpPr/>
          <p:nvPr/>
        </p:nvSpPr>
        <p:spPr>
          <a:xfrm>
            <a:off x="6729984" y="1481328"/>
            <a:ext cx="4800600" cy="3310128"/>
          </a:xfrm>
          <a:prstGeom prst="roundRect">
            <a:avLst>
              <a:gd name="adj" fmla="val 2210"/>
            </a:avLst>
          </a:prstGeom>
          <a:solidFill>
            <a:srgbClr val="EEF5F8"/>
          </a:solidFill>
          <a:ln w="12700">
            <a:solidFill>
              <a:srgbClr val="333333"/>
            </a:solidFill>
            <a:prstDash val="solid"/>
          </a:ln>
          <a:effectLst>
            <a:outerShdw blurRad="127000" dist="25400" dir="5400000" algn="bl" rotWithShape="0">
              <a:srgbClr val="9AA8B4">
                <a:alpha val="20000"/>
              </a:srgbClr>
            </a:outerShdw>
          </a:effectLst>
        </p:spPr>
        <p:txBody>
          <a:bodyPr/>
          <a:lstStyle/>
          <a:p>
            <a:endParaRPr lang="ja-JP" altLang="en-US"/>
          </a:p>
        </p:txBody>
      </p:sp>
      <p:sp>
        <p:nvSpPr>
          <p:cNvPr id="9" name="Shape 7"/>
          <p:cNvSpPr/>
          <p:nvPr/>
        </p:nvSpPr>
        <p:spPr>
          <a:xfrm>
            <a:off x="7114032" y="1847088"/>
            <a:ext cx="1170432" cy="329184"/>
          </a:xfrm>
          <a:prstGeom prst="roundRect">
            <a:avLst>
              <a:gd name="adj" fmla="val 138889"/>
            </a:avLst>
          </a:prstGeom>
          <a:solidFill>
            <a:srgbClr val="156082"/>
          </a:solidFill>
          <a:ln w="12700">
            <a:solidFill>
              <a:srgbClr val="333333"/>
            </a:solidFill>
            <a:prstDash val="solid"/>
          </a:ln>
        </p:spPr>
        <p:txBody>
          <a:bodyPr/>
          <a:lstStyle/>
          <a:p>
            <a:endParaRPr lang="ja-JP" altLang="en-US"/>
          </a:p>
        </p:txBody>
      </p:sp>
      <p:sp>
        <p:nvSpPr>
          <p:cNvPr id="10" name="Text 8"/>
          <p:cNvSpPr txBox="1"/>
          <p:nvPr/>
        </p:nvSpPr>
        <p:spPr>
          <a:xfrm>
            <a:off x="7114032" y="1847088"/>
            <a:ext cx="1170432"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游ゴシック" pitchFamily="34" charset="0"/>
                <a:ea typeface="游ゴシック" pitchFamily="34" charset="-122"/>
                <a:cs typeface="游ゴシック" pitchFamily="34" charset="-120"/>
              </a:rPr>
              <a:t>やりたいこと</a:t>
            </a:r>
            <a:endParaRPr lang="en-US" sz="1200" dirty="0"/>
          </a:p>
        </p:txBody>
      </p:sp>
      <p:sp>
        <p:nvSpPr>
          <p:cNvPr id="11" name="Text 9"/>
          <p:cNvSpPr txBox="1"/>
          <p:nvPr/>
        </p:nvSpPr>
        <p:spPr>
          <a:xfrm>
            <a:off x="7114032" y="2322576"/>
            <a:ext cx="4032504" cy="768096"/>
          </a:xfrm>
          <a:prstGeom prst="rect">
            <a:avLst/>
          </a:prstGeom>
          <a:noFill/>
          <a:ln/>
        </p:spPr>
        <p:txBody>
          <a:bodyPr wrap="square" lIns="0" tIns="0" rIns="0" bIns="0" rtlCol="0" anchor="ctr"/>
          <a:lstStyle/>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分野をまたいで共通する</a:t>
            </a:r>
            <a:endParaRPr lang="en-US" sz="1800" dirty="0"/>
          </a:p>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「考え方」を取り出す</a:t>
            </a:r>
            <a:endParaRPr lang="en-US" sz="1800" dirty="0"/>
          </a:p>
        </p:txBody>
      </p:sp>
      <p:sp>
        <p:nvSpPr>
          <p:cNvPr id="12" name="Text 10"/>
          <p:cNvSpPr txBox="1"/>
          <p:nvPr/>
        </p:nvSpPr>
        <p:spPr>
          <a:xfrm>
            <a:off x="7114032" y="3182112"/>
            <a:ext cx="4032504" cy="1371600"/>
          </a:xfrm>
          <a:prstGeom prst="rect">
            <a:avLst/>
          </a:prstGeom>
          <a:noFill/>
          <a:ln/>
        </p:spPr>
        <p:txBody>
          <a:bodyPr wrap="square" lIns="0" tIns="0" rIns="0" bIns="0" rtlCol="0" anchor="ctr"/>
          <a:lstStyle/>
          <a:p>
            <a:pPr marL="342900" indent="-342900">
              <a:lnSpc>
                <a:spcPct val="130000"/>
              </a:lnSpc>
              <a:spcAft>
                <a:spcPts val="1000"/>
              </a:spcAft>
              <a:buSzPct val="100000"/>
              <a:buChar char="–"/>
            </a:pPr>
            <a:r>
              <a:rPr lang="en-US" sz="1350" dirty="0">
                <a:solidFill>
                  <a:srgbClr val="32414E"/>
                </a:solidFill>
                <a:latin typeface="游ゴシック" pitchFamily="34" charset="0"/>
                <a:ea typeface="游ゴシック" pitchFamily="34" charset="-122"/>
                <a:cs typeface="游ゴシック" pitchFamily="34" charset="-120"/>
              </a:rPr>
              <a:t>様々な分野の熟練者ノウハウを解析し、共通する考え方を見つける</a:t>
            </a:r>
            <a:endParaRPr lang="en-US" sz="1350" dirty="0"/>
          </a:p>
          <a:p>
            <a:pPr marL="342900" indent="-342900">
              <a:lnSpc>
                <a:spcPct val="130000"/>
              </a:lnSpc>
              <a:spcAft>
                <a:spcPts val="1000"/>
              </a:spcAft>
              <a:buSzPct val="100000"/>
              <a:buChar char="–"/>
            </a:pPr>
            <a:r>
              <a:rPr lang="en-US" sz="1350" dirty="0">
                <a:solidFill>
                  <a:srgbClr val="32414E"/>
                </a:solidFill>
                <a:latin typeface="游ゴシック" pitchFamily="34" charset="0"/>
                <a:ea typeface="游ゴシック" pitchFamily="34" charset="-122"/>
                <a:cs typeface="游ゴシック" pitchFamily="34" charset="-120"/>
              </a:rPr>
              <a:t>見つけた考え方を、新規の分野の質問にも当てはめて使えるようにする</a:t>
            </a:r>
            <a:endParaRPr lang="en-US" sz="1350" dirty="0"/>
          </a:p>
        </p:txBody>
      </p:sp>
      <p:sp>
        <p:nvSpPr>
          <p:cNvPr id="13" name="Shape 11"/>
          <p:cNvSpPr/>
          <p:nvPr/>
        </p:nvSpPr>
        <p:spPr>
          <a:xfrm>
            <a:off x="5705856" y="2871216"/>
            <a:ext cx="804672" cy="530352"/>
          </a:xfrm>
          <a:prstGeom prst="rightArrow">
            <a:avLst/>
          </a:prstGeom>
          <a:solidFill>
            <a:srgbClr val="E97132"/>
          </a:solidFill>
          <a:ln w="12700">
            <a:solidFill>
              <a:srgbClr val="333333"/>
            </a:solidFill>
            <a:prstDash val="solid"/>
          </a:ln>
        </p:spPr>
        <p:txBody>
          <a:bodyPr/>
          <a:lstStyle/>
          <a:p>
            <a:endParaRPr lang="ja-JP" altLang="en-US"/>
          </a:p>
        </p:txBody>
      </p:sp>
      <p:sp>
        <p:nvSpPr>
          <p:cNvPr id="14" name="Shape 12"/>
          <p:cNvSpPr/>
          <p:nvPr/>
        </p:nvSpPr>
        <p:spPr>
          <a:xfrm>
            <a:off x="658368" y="5138928"/>
            <a:ext cx="10872216" cy="969264"/>
          </a:xfrm>
          <a:prstGeom prst="roundRect">
            <a:avLst>
              <a:gd name="adj" fmla="val 5660"/>
            </a:avLst>
          </a:prstGeom>
          <a:solidFill>
            <a:srgbClr val="0E2841"/>
          </a:solidFill>
          <a:ln w="12700">
            <a:solidFill>
              <a:srgbClr val="333333"/>
            </a:solidFill>
            <a:prstDash val="solid"/>
          </a:ln>
        </p:spPr>
        <p:txBody>
          <a:bodyPr/>
          <a:lstStyle/>
          <a:p>
            <a:endParaRPr lang="ja-JP" altLang="en-US"/>
          </a:p>
        </p:txBody>
      </p:sp>
      <p:sp>
        <p:nvSpPr>
          <p:cNvPr id="15" name="Text 13"/>
          <p:cNvSpPr txBox="1"/>
          <p:nvPr/>
        </p:nvSpPr>
        <p:spPr>
          <a:xfrm>
            <a:off x="1042416" y="5321808"/>
            <a:ext cx="2926080" cy="274320"/>
          </a:xfrm>
          <a:prstGeom prst="rect">
            <a:avLst/>
          </a:prstGeom>
          <a:noFill/>
          <a:ln/>
        </p:spPr>
        <p:txBody>
          <a:bodyPr wrap="square" lIns="0" tIns="0" rIns="0" bIns="0" rtlCol="0" anchor="ctr"/>
          <a:lstStyle/>
          <a:p>
            <a:pPr marL="0" indent="0">
              <a:buNone/>
            </a:pPr>
            <a:r>
              <a:rPr lang="en-US" sz="1200" b="1" dirty="0">
                <a:solidFill>
                  <a:srgbClr val="CADCFC"/>
                </a:solidFill>
                <a:latin typeface="游ゴシック" pitchFamily="34" charset="0"/>
                <a:ea typeface="游ゴシック" pitchFamily="34" charset="-122"/>
                <a:cs typeface="游ゴシック" pitchFamily="34" charset="-120"/>
              </a:rPr>
              <a:t>本インターンでの取り組み</a:t>
            </a:r>
            <a:endParaRPr lang="en-US" sz="1200" dirty="0"/>
          </a:p>
        </p:txBody>
      </p:sp>
      <p:sp>
        <p:nvSpPr>
          <p:cNvPr id="16" name="Text 14"/>
          <p:cNvSpPr txBox="1"/>
          <p:nvPr/>
        </p:nvSpPr>
        <p:spPr>
          <a:xfrm>
            <a:off x="1042416" y="5614416"/>
            <a:ext cx="10058400" cy="329184"/>
          </a:xfrm>
          <a:prstGeom prst="rect">
            <a:avLst/>
          </a:prstGeom>
          <a:noFill/>
          <a:ln/>
        </p:spPr>
        <p:txBody>
          <a:bodyPr wrap="square" lIns="0" tIns="0" rIns="0" bIns="0" rtlCol="0" anchor="ctr"/>
          <a:lstStyle/>
          <a:p>
            <a:pPr marL="0" indent="0">
              <a:buNone/>
            </a:pPr>
            <a:r>
              <a:rPr lang="en-US" sz="1500" dirty="0">
                <a:solidFill>
                  <a:srgbClr val="FFFFFF"/>
                </a:solidFill>
                <a:latin typeface="游ゴシック" pitchFamily="34" charset="0"/>
                <a:ea typeface="游ゴシック" pitchFamily="34" charset="-122"/>
                <a:cs typeface="游ゴシック" pitchFamily="34" charset="-120"/>
              </a:rPr>
              <a:t>熟練者ノウハウを機械が比較できる形に整え、分野をまたいで繰り返し現れる構造を探す仕組みを検討</a:t>
            </a:r>
            <a:endParaRPr lang="en-US" sz="1500" dirty="0"/>
          </a:p>
        </p:txBody>
      </p:sp>
      <p:sp>
        <p:nvSpPr>
          <p:cNvPr id="17" name="Text 15"/>
          <p:cNvSpPr txBox="1"/>
          <p:nvPr/>
        </p:nvSpPr>
        <p:spPr>
          <a:xfrm>
            <a:off x="658368"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1. 目標</a:t>
            </a:r>
            <a:endParaRPr lang="en-US" sz="1050" dirty="0"/>
          </a:p>
        </p:txBody>
      </p:sp>
      <p:sp>
        <p:nvSpPr>
          <p:cNvPr id="18" name="Text 16"/>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1148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手法の概要：構造にそろえてから、機械で共通部分を探す</a:t>
            </a:r>
            <a:endParaRPr lang="en-US" sz="2700" dirty="0"/>
          </a:p>
        </p:txBody>
      </p:sp>
      <p:sp>
        <p:nvSpPr>
          <p:cNvPr id="3" name="Shape 1"/>
          <p:cNvSpPr/>
          <p:nvPr/>
        </p:nvSpPr>
        <p:spPr>
          <a:xfrm>
            <a:off x="658368" y="1371600"/>
            <a:ext cx="2459736" cy="2670048"/>
          </a:xfrm>
          <a:prstGeom prst="roundRect">
            <a:avLst>
              <a:gd name="adj" fmla="val 2974"/>
            </a:avLst>
          </a:prstGeom>
          <a:solidFill>
            <a:srgbClr val="F5F8FA"/>
          </a:solidFill>
          <a:ln w="12700">
            <a:solidFill>
              <a:srgbClr val="333333"/>
            </a:solidFill>
            <a:prstDash val="solid"/>
          </a:ln>
        </p:spPr>
        <p:txBody>
          <a:bodyPr/>
          <a:lstStyle/>
          <a:p>
            <a:endParaRPr lang="ja-JP" altLang="en-US"/>
          </a:p>
        </p:txBody>
      </p:sp>
      <p:sp>
        <p:nvSpPr>
          <p:cNvPr id="4" name="Shape 2"/>
          <p:cNvSpPr/>
          <p:nvPr/>
        </p:nvSpPr>
        <p:spPr>
          <a:xfrm>
            <a:off x="969264" y="1700784"/>
            <a:ext cx="402336" cy="402336"/>
          </a:xfrm>
          <a:prstGeom prst="ellipse">
            <a:avLst/>
          </a:prstGeom>
          <a:solidFill>
            <a:srgbClr val="0E2841"/>
          </a:solidFill>
          <a:ln w="12700">
            <a:solidFill>
              <a:srgbClr val="333333"/>
            </a:solidFill>
            <a:prstDash val="solid"/>
          </a:ln>
        </p:spPr>
        <p:txBody>
          <a:bodyPr/>
          <a:lstStyle/>
          <a:p>
            <a:endParaRPr lang="ja-JP" altLang="en-US"/>
          </a:p>
        </p:txBody>
      </p:sp>
      <p:sp>
        <p:nvSpPr>
          <p:cNvPr id="5" name="Text 3"/>
          <p:cNvSpPr txBox="1"/>
          <p:nvPr/>
        </p:nvSpPr>
        <p:spPr>
          <a:xfrm>
            <a:off x="969264"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969264"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構造化</a:t>
            </a:r>
            <a:endParaRPr lang="en-US" sz="1700" dirty="0"/>
          </a:p>
        </p:txBody>
      </p:sp>
      <p:sp>
        <p:nvSpPr>
          <p:cNvPr id="7" name="Text 5"/>
          <p:cNvSpPr txBox="1"/>
          <p:nvPr/>
        </p:nvSpPr>
        <p:spPr>
          <a:xfrm>
            <a:off x="969264"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ノウハウの原文を1件ずつLLMで、行動・量・変化・関係に分けた構造に変換する</a:t>
            </a:r>
            <a:endParaRPr lang="en-US" sz="1300" dirty="0"/>
          </a:p>
        </p:txBody>
      </p:sp>
      <p:sp>
        <p:nvSpPr>
          <p:cNvPr id="8" name="Shape 6"/>
          <p:cNvSpPr/>
          <p:nvPr/>
        </p:nvSpPr>
        <p:spPr>
          <a:xfrm>
            <a:off x="3182112" y="256946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9" name="Shape 7"/>
          <p:cNvSpPr/>
          <p:nvPr/>
        </p:nvSpPr>
        <p:spPr>
          <a:xfrm>
            <a:off x="3465576" y="1371600"/>
            <a:ext cx="2459736" cy="2670048"/>
          </a:xfrm>
          <a:prstGeom prst="roundRect">
            <a:avLst>
              <a:gd name="adj" fmla="val 2974"/>
            </a:avLst>
          </a:prstGeom>
          <a:solidFill>
            <a:srgbClr val="F5F8FA"/>
          </a:solidFill>
          <a:ln w="12700">
            <a:solidFill>
              <a:srgbClr val="333333"/>
            </a:solidFill>
            <a:prstDash val="solid"/>
          </a:ln>
        </p:spPr>
        <p:txBody>
          <a:bodyPr/>
          <a:lstStyle/>
          <a:p>
            <a:endParaRPr lang="ja-JP" altLang="en-US"/>
          </a:p>
        </p:txBody>
      </p:sp>
      <p:sp>
        <p:nvSpPr>
          <p:cNvPr id="10" name="Shape 8"/>
          <p:cNvSpPr/>
          <p:nvPr/>
        </p:nvSpPr>
        <p:spPr>
          <a:xfrm>
            <a:off x="3776472" y="1700784"/>
            <a:ext cx="402336" cy="402336"/>
          </a:xfrm>
          <a:prstGeom prst="ellipse">
            <a:avLst/>
          </a:prstGeom>
          <a:solidFill>
            <a:srgbClr val="0E2841"/>
          </a:solidFill>
          <a:ln w="12700">
            <a:solidFill>
              <a:srgbClr val="333333"/>
            </a:solidFill>
            <a:prstDash val="solid"/>
          </a:ln>
        </p:spPr>
        <p:txBody>
          <a:bodyPr/>
          <a:lstStyle/>
          <a:p>
            <a:endParaRPr lang="ja-JP" altLang="en-US"/>
          </a:p>
        </p:txBody>
      </p:sp>
      <p:sp>
        <p:nvSpPr>
          <p:cNvPr id="11" name="Text 9"/>
          <p:cNvSpPr txBox="1"/>
          <p:nvPr/>
        </p:nvSpPr>
        <p:spPr>
          <a:xfrm>
            <a:off x="3776472"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3776472"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正規化</a:t>
            </a:r>
            <a:endParaRPr lang="en-US" sz="1700" dirty="0"/>
          </a:p>
        </p:txBody>
      </p:sp>
      <p:sp>
        <p:nvSpPr>
          <p:cNvPr id="13" name="Text 11"/>
          <p:cNvSpPr txBox="1"/>
          <p:nvPr/>
        </p:nvSpPr>
        <p:spPr>
          <a:xfrm>
            <a:off x="3776472"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分野ごとに違う言葉づかいを、共通の語彙にそろえる</a:t>
            </a:r>
            <a:endParaRPr lang="en-US" sz="1300" dirty="0"/>
          </a:p>
        </p:txBody>
      </p:sp>
      <p:sp>
        <p:nvSpPr>
          <p:cNvPr id="14" name="Shape 12"/>
          <p:cNvSpPr/>
          <p:nvPr/>
        </p:nvSpPr>
        <p:spPr>
          <a:xfrm>
            <a:off x="5989320" y="256946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15" name="Shape 13"/>
          <p:cNvSpPr/>
          <p:nvPr/>
        </p:nvSpPr>
        <p:spPr>
          <a:xfrm>
            <a:off x="6272784" y="1371600"/>
            <a:ext cx="2459736" cy="2670048"/>
          </a:xfrm>
          <a:prstGeom prst="roundRect">
            <a:avLst>
              <a:gd name="adj" fmla="val 2974"/>
            </a:avLst>
          </a:prstGeom>
          <a:solidFill>
            <a:srgbClr val="F5F8FA"/>
          </a:solidFill>
          <a:ln w="12700">
            <a:solidFill>
              <a:srgbClr val="333333"/>
            </a:solidFill>
            <a:prstDash val="solid"/>
          </a:ln>
        </p:spPr>
        <p:txBody>
          <a:bodyPr/>
          <a:lstStyle/>
          <a:p>
            <a:endParaRPr lang="ja-JP" altLang="en-US"/>
          </a:p>
        </p:txBody>
      </p:sp>
      <p:sp>
        <p:nvSpPr>
          <p:cNvPr id="16" name="Shape 14"/>
          <p:cNvSpPr/>
          <p:nvPr/>
        </p:nvSpPr>
        <p:spPr>
          <a:xfrm>
            <a:off x="6583680" y="1700784"/>
            <a:ext cx="402336" cy="402336"/>
          </a:xfrm>
          <a:prstGeom prst="ellipse">
            <a:avLst/>
          </a:prstGeom>
          <a:solidFill>
            <a:srgbClr val="0E2841"/>
          </a:solidFill>
          <a:ln w="12700">
            <a:solidFill>
              <a:srgbClr val="333333"/>
            </a:solidFill>
            <a:prstDash val="solid"/>
          </a:ln>
        </p:spPr>
        <p:txBody>
          <a:bodyPr/>
          <a:lstStyle/>
          <a:p>
            <a:endParaRPr lang="ja-JP" altLang="en-US"/>
          </a:p>
        </p:txBody>
      </p:sp>
      <p:sp>
        <p:nvSpPr>
          <p:cNvPr id="17" name="Text 15"/>
          <p:cNvSpPr txBox="1"/>
          <p:nvPr/>
        </p:nvSpPr>
        <p:spPr>
          <a:xfrm>
            <a:off x="6583680"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6583680"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共通構造の探索</a:t>
            </a:r>
            <a:endParaRPr lang="en-US" sz="1700" dirty="0"/>
          </a:p>
        </p:txBody>
      </p:sp>
      <p:sp>
        <p:nvSpPr>
          <p:cNvPr id="19" name="Text 17"/>
          <p:cNvSpPr txBox="1"/>
          <p:nvPr/>
        </p:nvSpPr>
        <p:spPr>
          <a:xfrm>
            <a:off x="6583680"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複数の事例に繰り返し現れる部分構造を、プログラムで集める</a:t>
            </a:r>
            <a:endParaRPr lang="en-US" sz="1300" dirty="0"/>
          </a:p>
        </p:txBody>
      </p:sp>
      <p:sp>
        <p:nvSpPr>
          <p:cNvPr id="20" name="Shape 18"/>
          <p:cNvSpPr/>
          <p:nvPr/>
        </p:nvSpPr>
        <p:spPr>
          <a:xfrm>
            <a:off x="8796528" y="256946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21" name="Shape 19"/>
          <p:cNvSpPr/>
          <p:nvPr/>
        </p:nvSpPr>
        <p:spPr>
          <a:xfrm>
            <a:off x="9079992" y="1371600"/>
            <a:ext cx="2459736" cy="2670048"/>
          </a:xfrm>
          <a:prstGeom prst="roundRect">
            <a:avLst>
              <a:gd name="adj" fmla="val 2974"/>
            </a:avLst>
          </a:prstGeom>
          <a:solidFill>
            <a:srgbClr val="EEF5F8"/>
          </a:solidFill>
          <a:ln w="12700">
            <a:solidFill>
              <a:srgbClr val="333333"/>
            </a:solidFill>
            <a:prstDash val="solid"/>
          </a:ln>
        </p:spPr>
        <p:txBody>
          <a:bodyPr/>
          <a:lstStyle/>
          <a:p>
            <a:endParaRPr lang="ja-JP" altLang="en-US"/>
          </a:p>
        </p:txBody>
      </p:sp>
      <p:sp>
        <p:nvSpPr>
          <p:cNvPr id="22" name="Shape 20"/>
          <p:cNvSpPr/>
          <p:nvPr/>
        </p:nvSpPr>
        <p:spPr>
          <a:xfrm>
            <a:off x="9390888" y="1700784"/>
            <a:ext cx="402336" cy="402336"/>
          </a:xfrm>
          <a:prstGeom prst="ellipse">
            <a:avLst/>
          </a:prstGeom>
          <a:solidFill>
            <a:srgbClr val="156082"/>
          </a:solidFill>
          <a:ln w="12700">
            <a:solidFill>
              <a:srgbClr val="333333"/>
            </a:solidFill>
            <a:prstDash val="solid"/>
          </a:ln>
        </p:spPr>
        <p:txBody>
          <a:bodyPr/>
          <a:lstStyle/>
          <a:p>
            <a:endParaRPr lang="ja-JP" altLang="en-US"/>
          </a:p>
        </p:txBody>
      </p:sp>
      <p:sp>
        <p:nvSpPr>
          <p:cNvPr id="23" name="Text 21"/>
          <p:cNvSpPr txBox="1"/>
          <p:nvPr/>
        </p:nvSpPr>
        <p:spPr>
          <a:xfrm>
            <a:off x="9390888"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9390888"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質問への適用</a:t>
            </a:r>
            <a:endParaRPr lang="en-US" sz="1700" dirty="0"/>
          </a:p>
        </p:txBody>
      </p:sp>
      <p:sp>
        <p:nvSpPr>
          <p:cNvPr id="25" name="Text 23"/>
          <p:cNvSpPr txBox="1"/>
          <p:nvPr/>
        </p:nvSpPr>
        <p:spPr>
          <a:xfrm>
            <a:off x="9390888"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集めた構造を「考え方の候補」として、未登録の分野の質問に当てはめる</a:t>
            </a:r>
            <a:endParaRPr lang="en-US" sz="1300" dirty="0"/>
          </a:p>
        </p:txBody>
      </p:sp>
      <p:sp>
        <p:nvSpPr>
          <p:cNvPr id="26" name="Shape 24"/>
          <p:cNvSpPr/>
          <p:nvPr/>
        </p:nvSpPr>
        <p:spPr>
          <a:xfrm>
            <a:off x="658368" y="4407408"/>
            <a:ext cx="10872216" cy="1225296"/>
          </a:xfrm>
          <a:prstGeom prst="roundRect">
            <a:avLst>
              <a:gd name="adj" fmla="val 4478"/>
            </a:avLst>
          </a:prstGeom>
          <a:solidFill>
            <a:srgbClr val="0E2841"/>
          </a:solidFill>
          <a:ln w="12700">
            <a:solidFill>
              <a:srgbClr val="333333"/>
            </a:solidFill>
            <a:prstDash val="solid"/>
          </a:ln>
        </p:spPr>
        <p:txBody>
          <a:bodyPr/>
          <a:lstStyle/>
          <a:p>
            <a:endParaRPr lang="ja-JP" altLang="en-US"/>
          </a:p>
        </p:txBody>
      </p:sp>
      <p:sp>
        <p:nvSpPr>
          <p:cNvPr id="27" name="Text 25"/>
          <p:cNvSpPr txBox="1"/>
          <p:nvPr/>
        </p:nvSpPr>
        <p:spPr>
          <a:xfrm>
            <a:off x="1042416" y="4590288"/>
            <a:ext cx="2926080" cy="274320"/>
          </a:xfrm>
          <a:prstGeom prst="rect">
            <a:avLst/>
          </a:prstGeom>
          <a:noFill/>
          <a:ln/>
        </p:spPr>
        <p:txBody>
          <a:bodyPr wrap="square" lIns="0" tIns="0" rIns="0" bIns="0" rtlCol="0" anchor="ctr"/>
          <a:lstStyle/>
          <a:p>
            <a:pPr marL="0" indent="0">
              <a:buNone/>
            </a:pPr>
            <a:r>
              <a:rPr lang="en-US" sz="1200" b="1" dirty="0">
                <a:solidFill>
                  <a:srgbClr val="CADCFC"/>
                </a:solidFill>
                <a:latin typeface="游ゴシック" pitchFamily="34" charset="0"/>
                <a:ea typeface="游ゴシック" pitchFamily="34" charset="-122"/>
                <a:cs typeface="游ゴシック" pitchFamily="34" charset="-120"/>
              </a:rPr>
              <a:t>この形にする理由</a:t>
            </a:r>
            <a:endParaRPr lang="en-US" sz="1200" dirty="0"/>
          </a:p>
        </p:txBody>
      </p:sp>
      <p:sp>
        <p:nvSpPr>
          <p:cNvPr id="28" name="Text 26"/>
          <p:cNvSpPr txBox="1"/>
          <p:nvPr/>
        </p:nvSpPr>
        <p:spPr>
          <a:xfrm>
            <a:off x="1042416" y="4882896"/>
            <a:ext cx="10058400" cy="658368"/>
          </a:xfrm>
          <a:prstGeom prst="rect">
            <a:avLst/>
          </a:prstGeom>
          <a:noFill/>
          <a:ln/>
        </p:spPr>
        <p:txBody>
          <a:bodyPr wrap="square" lIns="0" tIns="0" rIns="0" bIns="0" rtlCol="0" anchor="ctr"/>
          <a:lstStyle/>
          <a:p>
            <a:pPr marL="0" indent="0">
              <a:lnSpc>
                <a:spcPct val="128000"/>
              </a:lnSpc>
              <a:buNone/>
            </a:pPr>
            <a:r>
              <a:rPr lang="en-US" sz="1400" dirty="0">
                <a:solidFill>
                  <a:srgbClr val="FFFFFF"/>
                </a:solidFill>
                <a:latin typeface="游ゴシック" pitchFamily="34" charset="0"/>
                <a:ea typeface="游ゴシック" pitchFamily="34" charset="-122"/>
                <a:cs typeface="游ゴシック" pitchFamily="34" charset="-120"/>
              </a:rPr>
              <a:t>事例どうしを総当たりで比較させるのではなく、1件ずつ構造にしておき、比較はプログラムで行う。</a:t>
            </a:r>
            <a:endParaRPr lang="en-US" sz="1400" dirty="0"/>
          </a:p>
          <a:p>
            <a:pPr marL="0" indent="0">
              <a:lnSpc>
                <a:spcPct val="128000"/>
              </a:lnSpc>
              <a:buNone/>
            </a:pPr>
            <a:r>
              <a:rPr lang="en-US" sz="1400" dirty="0">
                <a:solidFill>
                  <a:srgbClr val="FFFFFF"/>
                </a:solidFill>
                <a:latin typeface="游ゴシック" pitchFamily="34" charset="0"/>
                <a:ea typeface="游ゴシック" pitchFamily="34" charset="-122"/>
                <a:cs typeface="游ゴシック" pitchFamily="34" charset="-120"/>
              </a:rPr>
              <a:t>見つかった構造は、どの事例のどの記述から来たのかを必ず元の原文までたどれるようにする。</a:t>
            </a:r>
            <a:endParaRPr lang="en-US" sz="1400" dirty="0"/>
          </a:p>
        </p:txBody>
      </p:sp>
      <p:sp>
        <p:nvSpPr>
          <p:cNvPr id="29" name="Text 27"/>
          <p:cNvSpPr txBox="1"/>
          <p:nvPr/>
        </p:nvSpPr>
        <p:spPr>
          <a:xfrm>
            <a:off x="658368" y="5797296"/>
            <a:ext cx="10881360" cy="274320"/>
          </a:xfrm>
          <a:prstGeom prst="rect">
            <a:avLst/>
          </a:prstGeom>
          <a:noFill/>
          <a:ln/>
        </p:spPr>
        <p:txBody>
          <a:bodyPr wrap="square" lIns="0" tIns="0" rIns="0" bIns="0" rtlCol="0" anchor="ctr"/>
          <a:lstStyle/>
          <a:p>
            <a:pPr marL="0" indent="0">
              <a:buNone/>
            </a:pPr>
            <a:r>
              <a:rPr lang="en-US" sz="1100" dirty="0">
                <a:solidFill>
                  <a:srgbClr val="687684"/>
                </a:solidFill>
                <a:latin typeface="游ゴシック" pitchFamily="34" charset="0"/>
                <a:ea typeface="游ゴシック" pitchFamily="34" charset="-122"/>
                <a:cs typeface="游ゴシック" pitchFamily="34" charset="-120"/>
              </a:rPr>
              <a:t>※ 手法は検討中であり、今後変更する可能性がある</a:t>
            </a:r>
            <a:endParaRPr lang="en-US" sz="1100" dirty="0"/>
          </a:p>
        </p:txBody>
      </p:sp>
      <p:sp>
        <p:nvSpPr>
          <p:cNvPr id="30" name="Text 28"/>
          <p:cNvSpPr txBox="1"/>
          <p:nvPr/>
        </p:nvSpPr>
        <p:spPr>
          <a:xfrm>
            <a:off x="658368"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2. 手法　／　2.1 手法概要</a:t>
            </a:r>
            <a:endParaRPr lang="en-US" sz="1050" dirty="0"/>
          </a:p>
        </p:txBody>
      </p:sp>
      <p:sp>
        <p:nvSpPr>
          <p:cNvPr id="31" name="Text 29"/>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1148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CLAIM（関係そのもの）を中心に、構造化し、比較する</a:t>
            </a:r>
            <a:endParaRPr lang="en-US" sz="2700" dirty="0"/>
          </a:p>
        </p:txBody>
      </p:sp>
      <p:sp>
        <p:nvSpPr>
          <p:cNvPr id="3" name="Shape 1"/>
          <p:cNvSpPr/>
          <p:nvPr/>
        </p:nvSpPr>
        <p:spPr>
          <a:xfrm>
            <a:off x="658368" y="1298448"/>
            <a:ext cx="3127248" cy="3163824"/>
          </a:xfrm>
          <a:prstGeom prst="roundRect">
            <a:avLst>
              <a:gd name="adj" fmla="val 2339"/>
            </a:avLst>
          </a:prstGeom>
          <a:solidFill>
            <a:srgbClr val="F5F8FA"/>
          </a:solidFill>
          <a:ln w="12700">
            <a:solidFill>
              <a:srgbClr val="333333"/>
            </a:solidFill>
            <a:prstDash val="solid"/>
          </a:ln>
        </p:spPr>
        <p:txBody>
          <a:bodyPr/>
          <a:lstStyle/>
          <a:p>
            <a:endParaRPr lang="ja-JP" altLang="en-US"/>
          </a:p>
        </p:txBody>
      </p:sp>
      <p:sp>
        <p:nvSpPr>
          <p:cNvPr id="4" name="Text 2"/>
          <p:cNvSpPr txBox="1"/>
          <p:nvPr/>
        </p:nvSpPr>
        <p:spPr>
          <a:xfrm>
            <a:off x="969264" y="1517904"/>
            <a:ext cx="2505456" cy="292608"/>
          </a:xfrm>
          <a:prstGeom prst="rect">
            <a:avLst/>
          </a:prstGeom>
          <a:noFill/>
          <a:ln/>
        </p:spPr>
        <p:txBody>
          <a:bodyPr wrap="square" lIns="0" tIns="0" rIns="0" bIns="0" rtlCol="0" anchor="ctr"/>
          <a:lstStyle/>
          <a:p>
            <a:pPr marL="0" indent="0">
              <a:buNone/>
            </a:pPr>
            <a:r>
              <a:rPr lang="en-US" sz="1450" b="1" dirty="0">
                <a:solidFill>
                  <a:srgbClr val="156082"/>
                </a:solidFill>
                <a:latin typeface="游ゴシック" pitchFamily="34" charset="0"/>
                <a:ea typeface="游ゴシック" pitchFamily="34" charset="-122"/>
                <a:cs typeface="游ゴシック" pitchFamily="34" charset="-120"/>
              </a:rPr>
              <a:t>① 構造化・正規化</a:t>
            </a:r>
            <a:endParaRPr lang="en-US" sz="1450" dirty="0"/>
          </a:p>
        </p:txBody>
      </p:sp>
      <p:sp>
        <p:nvSpPr>
          <p:cNvPr id="5" name="Text 3"/>
          <p:cNvSpPr txBox="1"/>
          <p:nvPr/>
        </p:nvSpPr>
        <p:spPr>
          <a:xfrm>
            <a:off x="969264" y="1938528"/>
            <a:ext cx="2505456" cy="2286000"/>
          </a:xfrm>
          <a:prstGeom prst="rect">
            <a:avLst/>
          </a:prstGeom>
          <a:noFill/>
          <a:ln/>
        </p:spPr>
        <p:txBody>
          <a:bodyPr wrap="square" lIns="0" tIns="0" rIns="0" bIns="0" rtlCol="0" anchor="t"/>
          <a:lstStyle/>
          <a:p>
            <a:pPr marL="342900" indent="-342900">
              <a:lnSpc>
                <a:spcPct val="132000"/>
              </a:lnSpc>
              <a:spcAft>
                <a:spcPts val="14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原文を、対象・操作・量・変化・状態に分解する</a:t>
            </a:r>
            <a:endParaRPr lang="en-US" sz="1200" dirty="0"/>
          </a:p>
          <a:p>
            <a:pPr marL="342900" indent="-342900">
              <a:lnSpc>
                <a:spcPct val="132000"/>
              </a:lnSpc>
              <a:spcAft>
                <a:spcPts val="14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辞書で概念IDを固定する（「使える時間」と「必要な時間」は別）</a:t>
            </a:r>
            <a:endParaRPr lang="en-US" sz="1200" dirty="0"/>
          </a:p>
          <a:p>
            <a:pPr marL="342900" indent="-342900">
              <a:lnSpc>
                <a:spcPct val="132000"/>
              </a:lnSpc>
              <a:spcAft>
                <a:spcPts val="14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原文にない因果・主体・目的は足さない</a:t>
            </a:r>
            <a:endParaRPr lang="en-US" sz="1200" dirty="0"/>
          </a:p>
        </p:txBody>
      </p:sp>
      <p:sp>
        <p:nvSpPr>
          <p:cNvPr id="6" name="Shape 4"/>
          <p:cNvSpPr/>
          <p:nvPr/>
        </p:nvSpPr>
        <p:spPr>
          <a:xfrm>
            <a:off x="8403336" y="1298448"/>
            <a:ext cx="3127248" cy="3163824"/>
          </a:xfrm>
          <a:prstGeom prst="roundRect">
            <a:avLst>
              <a:gd name="adj" fmla="val 2339"/>
            </a:avLst>
          </a:prstGeom>
          <a:solidFill>
            <a:srgbClr val="F5F8FA"/>
          </a:solidFill>
          <a:ln w="12700">
            <a:solidFill>
              <a:srgbClr val="333333"/>
            </a:solidFill>
            <a:prstDash val="solid"/>
          </a:ln>
        </p:spPr>
        <p:txBody>
          <a:bodyPr/>
          <a:lstStyle/>
          <a:p>
            <a:endParaRPr lang="ja-JP" altLang="en-US"/>
          </a:p>
        </p:txBody>
      </p:sp>
      <p:sp>
        <p:nvSpPr>
          <p:cNvPr id="7" name="Text 5"/>
          <p:cNvSpPr txBox="1"/>
          <p:nvPr/>
        </p:nvSpPr>
        <p:spPr>
          <a:xfrm>
            <a:off x="8714232" y="1517904"/>
            <a:ext cx="2505456" cy="292608"/>
          </a:xfrm>
          <a:prstGeom prst="rect">
            <a:avLst/>
          </a:prstGeom>
          <a:noFill/>
          <a:ln/>
        </p:spPr>
        <p:txBody>
          <a:bodyPr wrap="square" lIns="0" tIns="0" rIns="0" bIns="0" rtlCol="0" anchor="ctr"/>
          <a:lstStyle/>
          <a:p>
            <a:pPr marL="0" indent="0">
              <a:buNone/>
            </a:pPr>
            <a:r>
              <a:rPr lang="en-US" sz="1450" b="1" dirty="0">
                <a:solidFill>
                  <a:srgbClr val="156082"/>
                </a:solidFill>
                <a:latin typeface="游ゴシック" pitchFamily="34" charset="0"/>
                <a:ea typeface="游ゴシック" pitchFamily="34" charset="-122"/>
                <a:cs typeface="游ゴシック" pitchFamily="34" charset="-120"/>
              </a:rPr>
              <a:t>③ 構造比較</a:t>
            </a:r>
            <a:endParaRPr lang="en-US" sz="1450" dirty="0"/>
          </a:p>
        </p:txBody>
      </p:sp>
      <p:sp>
        <p:nvSpPr>
          <p:cNvPr id="8" name="Text 6"/>
          <p:cNvSpPr txBox="1"/>
          <p:nvPr/>
        </p:nvSpPr>
        <p:spPr>
          <a:xfrm>
            <a:off x="8714232" y="1938528"/>
            <a:ext cx="2505456" cy="2286000"/>
          </a:xfrm>
          <a:prstGeom prst="rect">
            <a:avLst/>
          </a:prstGeom>
          <a:noFill/>
          <a:ln/>
        </p:spPr>
        <p:txBody>
          <a:bodyPr wrap="square" lIns="0" tIns="0" rIns="0" bIns="0" rtlCol="0" anchor="t"/>
          <a:lstStyle/>
          <a:p>
            <a:pPr marL="342900" indent="-342900">
              <a:lnSpc>
                <a:spcPct val="132000"/>
              </a:lnSpc>
              <a:spcAft>
                <a:spcPts val="14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CLAIM を起点に、意味が欠けない範囲を切り出す</a:t>
            </a:r>
            <a:endParaRPr lang="en-US" sz="1200" dirty="0"/>
          </a:p>
          <a:p>
            <a:pPr marL="342900" indent="-342900">
              <a:lnSpc>
                <a:spcPct val="132000"/>
              </a:lnSpc>
              <a:spcAft>
                <a:spcPts val="14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対象の名前は変数として対応づけ、元の名前は残す</a:t>
            </a:r>
            <a:endParaRPr lang="en-US" sz="1200" dirty="0"/>
          </a:p>
          <a:p>
            <a:pPr marL="342900" indent="-342900">
              <a:lnSpc>
                <a:spcPct val="132000"/>
              </a:lnSpc>
              <a:spcAft>
                <a:spcPts val="14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概念ID・向き・否定・確からしさ・条件は一致条件にする</a:t>
            </a:r>
            <a:endParaRPr lang="en-US" sz="1200" dirty="0"/>
          </a:p>
        </p:txBody>
      </p:sp>
      <p:sp>
        <p:nvSpPr>
          <p:cNvPr id="9" name="Shape 7"/>
          <p:cNvSpPr/>
          <p:nvPr/>
        </p:nvSpPr>
        <p:spPr>
          <a:xfrm>
            <a:off x="4133088" y="1170432"/>
            <a:ext cx="3922776" cy="3419856"/>
          </a:xfrm>
          <a:prstGeom prst="roundRect">
            <a:avLst>
              <a:gd name="adj" fmla="val 2139"/>
            </a:avLst>
          </a:prstGeom>
          <a:solidFill>
            <a:srgbClr val="0E2841"/>
          </a:solidFill>
          <a:ln w="12700">
            <a:solidFill>
              <a:srgbClr val="333333"/>
            </a:solidFill>
            <a:prstDash val="solid"/>
          </a:ln>
        </p:spPr>
        <p:txBody>
          <a:bodyPr/>
          <a:lstStyle/>
          <a:p>
            <a:endParaRPr lang="ja-JP" altLang="en-US"/>
          </a:p>
        </p:txBody>
      </p:sp>
      <p:sp>
        <p:nvSpPr>
          <p:cNvPr id="10" name="Shape 8"/>
          <p:cNvSpPr/>
          <p:nvPr/>
        </p:nvSpPr>
        <p:spPr>
          <a:xfrm>
            <a:off x="4443984" y="1389888"/>
            <a:ext cx="841248" cy="292608"/>
          </a:xfrm>
          <a:prstGeom prst="roundRect">
            <a:avLst>
              <a:gd name="adj" fmla="val 156250"/>
            </a:avLst>
          </a:prstGeom>
          <a:solidFill>
            <a:srgbClr val="E97132"/>
          </a:solidFill>
          <a:ln w="12700">
            <a:solidFill>
              <a:srgbClr val="333333"/>
            </a:solidFill>
            <a:prstDash val="solid"/>
          </a:ln>
        </p:spPr>
        <p:txBody>
          <a:bodyPr/>
          <a:lstStyle/>
          <a:p>
            <a:endParaRPr lang="ja-JP" altLang="en-US"/>
          </a:p>
        </p:txBody>
      </p:sp>
      <p:sp>
        <p:nvSpPr>
          <p:cNvPr id="11" name="Text 9"/>
          <p:cNvSpPr txBox="1"/>
          <p:nvPr/>
        </p:nvSpPr>
        <p:spPr>
          <a:xfrm>
            <a:off x="4443984" y="1389888"/>
            <a:ext cx="841248" cy="292608"/>
          </a:xfrm>
          <a:prstGeom prst="rect">
            <a:avLst/>
          </a:prstGeom>
          <a:noFill/>
          <a:ln/>
        </p:spPr>
        <p:txBody>
          <a:bodyPr wrap="square" lIns="0" tIns="0" rIns="0" bIns="0" rtlCol="0" anchor="ctr"/>
          <a:lstStyle/>
          <a:p>
            <a:pPr marL="0" indent="0" algn="ctr">
              <a:buNone/>
            </a:pPr>
            <a:r>
              <a:rPr lang="en-US" sz="1150" b="1" dirty="0">
                <a:solidFill>
                  <a:srgbClr val="FFFFFF"/>
                </a:solidFill>
                <a:latin typeface="游ゴシック" pitchFamily="34" charset="0"/>
                <a:ea typeface="游ゴシック" pitchFamily="34" charset="-122"/>
                <a:cs typeface="游ゴシック" pitchFamily="34" charset="-120"/>
              </a:rPr>
              <a:t>② 要</a:t>
            </a:r>
            <a:endParaRPr lang="en-US" sz="1150" dirty="0"/>
          </a:p>
        </p:txBody>
      </p:sp>
      <p:sp>
        <p:nvSpPr>
          <p:cNvPr id="12" name="Text 10"/>
          <p:cNvSpPr txBox="1"/>
          <p:nvPr/>
        </p:nvSpPr>
        <p:spPr>
          <a:xfrm>
            <a:off x="4443984" y="1810512"/>
            <a:ext cx="3300984" cy="384048"/>
          </a:xfrm>
          <a:prstGeom prst="rect">
            <a:avLst/>
          </a:prstGeom>
          <a:noFill/>
          <a:ln/>
        </p:spPr>
        <p:txBody>
          <a:bodyPr wrap="square" lIns="0" tIns="0" rIns="0" bIns="0" rtlCol="0" anchor="ct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CLAIM ＝ 関係そのものを点にする</a:t>
            </a:r>
            <a:endParaRPr lang="en-US" sz="1500" dirty="0"/>
          </a:p>
        </p:txBody>
      </p:sp>
      <p:sp>
        <p:nvSpPr>
          <p:cNvPr id="13" name="Text 11"/>
          <p:cNvSpPr txBox="1"/>
          <p:nvPr/>
        </p:nvSpPr>
        <p:spPr>
          <a:xfrm>
            <a:off x="4443984" y="2267712"/>
            <a:ext cx="3300984" cy="475488"/>
          </a:xfrm>
          <a:prstGeom prst="rect">
            <a:avLst/>
          </a:prstGeom>
          <a:noFill/>
          <a:ln/>
        </p:spPr>
        <p:txBody>
          <a:bodyPr wrap="square" lIns="0" tIns="0" rIns="0" bIns="0" rtlCol="0" anchor="ctr"/>
          <a:lstStyle/>
          <a:p>
            <a:pPr marL="0" indent="0">
              <a:lnSpc>
                <a:spcPct val="130000"/>
              </a:lnSpc>
              <a:buNone/>
            </a:pPr>
            <a:r>
              <a:rPr lang="en-US" sz="1150" b="1" dirty="0">
                <a:solidFill>
                  <a:srgbClr val="CADCFC"/>
                </a:solidFill>
                <a:latin typeface="Calibri" pitchFamily="34" charset="0"/>
                <a:ea typeface="Calibri" pitchFamily="34" charset="-122"/>
                <a:cs typeface="Calibri" pitchFamily="34" charset="-120"/>
              </a:rPr>
              <a:t>CAUSES ／ SIGNALS ／ REQUIRES</a:t>
            </a:r>
            <a:endParaRPr lang="en-US" sz="1150" dirty="0"/>
          </a:p>
          <a:p>
            <a:pPr marL="0" indent="0">
              <a:lnSpc>
                <a:spcPct val="130000"/>
              </a:lnSpc>
              <a:buNone/>
            </a:pPr>
            <a:r>
              <a:rPr lang="en-US" sz="1150" b="1" dirty="0">
                <a:solidFill>
                  <a:srgbClr val="CADCFC"/>
                </a:solidFill>
                <a:latin typeface="Calibri" pitchFamily="34" charset="0"/>
                <a:ea typeface="Calibri" pitchFamily="34" charset="-122"/>
                <a:cs typeface="Calibri" pitchFamily="34" charset="-120"/>
              </a:rPr>
              <a:t>PREVENTS ／ PRECEDES</a:t>
            </a:r>
            <a:endParaRPr lang="en-US" sz="1150" dirty="0"/>
          </a:p>
        </p:txBody>
      </p:sp>
      <p:sp>
        <p:nvSpPr>
          <p:cNvPr id="14" name="Text 12"/>
          <p:cNvSpPr txBox="1"/>
          <p:nvPr/>
        </p:nvSpPr>
        <p:spPr>
          <a:xfrm>
            <a:off x="4443984" y="2926080"/>
            <a:ext cx="3300984" cy="841248"/>
          </a:xfrm>
          <a:prstGeom prst="rect">
            <a:avLst/>
          </a:prstGeom>
          <a:noFill/>
          <a:ln/>
        </p:spPr>
        <p:txBody>
          <a:bodyPr wrap="square" lIns="0" tIns="0" rIns="0" bIns="0" rtlCol="0" anchor="ctr"/>
          <a:lstStyle/>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 FROM　　　→　原因・手がかり側</a:t>
            </a:r>
            <a:endParaRPr lang="en-US" sz="1250" dirty="0"/>
          </a:p>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 TO　　　　→　結果・示される側</a:t>
            </a:r>
            <a:endParaRPr lang="en-US" sz="1250" dirty="0"/>
          </a:p>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 CONDITION →　成立条件</a:t>
            </a:r>
            <a:endParaRPr lang="en-US" sz="1250" dirty="0"/>
          </a:p>
        </p:txBody>
      </p:sp>
      <p:sp>
        <p:nvSpPr>
          <p:cNvPr id="15" name="Text 13"/>
          <p:cNvSpPr txBox="1"/>
          <p:nvPr/>
        </p:nvSpPr>
        <p:spPr>
          <a:xfrm>
            <a:off x="4443984" y="4005072"/>
            <a:ext cx="3300984" cy="310896"/>
          </a:xfrm>
          <a:prstGeom prst="rect">
            <a:avLst/>
          </a:prstGeom>
          <a:noFill/>
          <a:ln/>
        </p:spPr>
        <p:txBody>
          <a:bodyPr wrap="square" lIns="0" tIns="0" rIns="0" bIns="0" rtlCol="0" anchor="ctr"/>
          <a:lstStyle/>
          <a:p>
            <a:pPr marL="0" indent="0">
              <a:buNone/>
            </a:pPr>
            <a:r>
              <a:rPr lang="en-US" sz="1150" dirty="0">
                <a:solidFill>
                  <a:srgbClr val="BDD0E0"/>
                </a:solidFill>
                <a:latin typeface="游ゴシック" pitchFamily="34" charset="0"/>
                <a:ea typeface="游ゴシック" pitchFamily="34" charset="-122"/>
                <a:cs typeface="游ゴシック" pitchFamily="34" charset="-120"/>
              </a:rPr>
              <a:t>否定・確からしさ・立場も、この点に付ける</a:t>
            </a:r>
            <a:endParaRPr lang="en-US" sz="1150" dirty="0"/>
          </a:p>
        </p:txBody>
      </p:sp>
      <p:sp>
        <p:nvSpPr>
          <p:cNvPr id="16" name="Shape 14"/>
          <p:cNvSpPr/>
          <p:nvPr/>
        </p:nvSpPr>
        <p:spPr>
          <a:xfrm>
            <a:off x="3840480" y="2743200"/>
            <a:ext cx="237744" cy="292608"/>
          </a:xfrm>
          <a:prstGeom prst="rightArrow">
            <a:avLst/>
          </a:prstGeom>
          <a:solidFill>
            <a:srgbClr val="E97132"/>
          </a:solidFill>
          <a:ln w="12700">
            <a:solidFill>
              <a:srgbClr val="333333"/>
            </a:solidFill>
            <a:prstDash val="solid"/>
          </a:ln>
        </p:spPr>
        <p:txBody>
          <a:bodyPr/>
          <a:lstStyle/>
          <a:p>
            <a:endParaRPr lang="ja-JP" altLang="en-US"/>
          </a:p>
        </p:txBody>
      </p:sp>
      <p:sp>
        <p:nvSpPr>
          <p:cNvPr id="17" name="Shape 15"/>
          <p:cNvSpPr/>
          <p:nvPr/>
        </p:nvSpPr>
        <p:spPr>
          <a:xfrm>
            <a:off x="8110728" y="2743200"/>
            <a:ext cx="237744" cy="292608"/>
          </a:xfrm>
          <a:prstGeom prst="rightArrow">
            <a:avLst/>
          </a:prstGeom>
          <a:solidFill>
            <a:srgbClr val="E97132"/>
          </a:solidFill>
          <a:ln w="12700">
            <a:solidFill>
              <a:srgbClr val="333333"/>
            </a:solidFill>
            <a:prstDash val="solid"/>
          </a:ln>
        </p:spPr>
        <p:txBody>
          <a:bodyPr/>
          <a:lstStyle/>
          <a:p>
            <a:endParaRPr lang="ja-JP" altLang="en-US"/>
          </a:p>
        </p:txBody>
      </p:sp>
      <p:sp>
        <p:nvSpPr>
          <p:cNvPr id="18" name="Shape 16"/>
          <p:cNvSpPr/>
          <p:nvPr/>
        </p:nvSpPr>
        <p:spPr>
          <a:xfrm>
            <a:off x="658368" y="4754880"/>
            <a:ext cx="10872216" cy="969264"/>
          </a:xfrm>
          <a:prstGeom prst="roundRect">
            <a:avLst>
              <a:gd name="adj" fmla="val 5660"/>
            </a:avLst>
          </a:prstGeom>
          <a:solidFill>
            <a:srgbClr val="EEF5F8"/>
          </a:solidFill>
          <a:ln w="12700">
            <a:solidFill>
              <a:srgbClr val="333333"/>
            </a:solidFill>
            <a:prstDash val="solid"/>
          </a:ln>
        </p:spPr>
        <p:txBody>
          <a:bodyPr/>
          <a:lstStyle/>
          <a:p>
            <a:endParaRPr lang="ja-JP" altLang="en-US"/>
          </a:p>
        </p:txBody>
      </p:sp>
      <p:sp>
        <p:nvSpPr>
          <p:cNvPr id="19" name="Text 17"/>
          <p:cNvSpPr txBox="1"/>
          <p:nvPr/>
        </p:nvSpPr>
        <p:spPr>
          <a:xfrm>
            <a:off x="969264" y="4882896"/>
            <a:ext cx="8229600" cy="256032"/>
          </a:xfrm>
          <a:prstGeom prst="rect">
            <a:avLst/>
          </a:prstGeom>
          <a:noFill/>
          <a:ln/>
        </p:spPr>
        <p:txBody>
          <a:bodyPr wrap="square" lIns="0" tIns="0" rIns="0" bIns="0" rtlCol="0" anchor="ctr"/>
          <a:lstStyle/>
          <a:p>
            <a:pPr marL="0" indent="0">
              <a:buNone/>
            </a:pPr>
            <a:r>
              <a:rPr lang="en-US" sz="1350" b="1" dirty="0">
                <a:solidFill>
                  <a:srgbClr val="156082"/>
                </a:solidFill>
                <a:latin typeface="游ゴシック" pitchFamily="34" charset="0"/>
                <a:ea typeface="游ゴシック" pitchFamily="34" charset="-122"/>
                <a:cs typeface="游ゴシック" pitchFamily="34" charset="-120"/>
              </a:rPr>
              <a:t>CLAIM を点として置くことが、この手法の要になる</a:t>
            </a:r>
            <a:endParaRPr lang="en-US" sz="1350" dirty="0"/>
          </a:p>
        </p:txBody>
      </p:sp>
      <p:sp>
        <p:nvSpPr>
          <p:cNvPr id="20" name="Text 18"/>
          <p:cNvSpPr txBox="1"/>
          <p:nvPr/>
        </p:nvSpPr>
        <p:spPr>
          <a:xfrm>
            <a:off x="969264" y="5138928"/>
            <a:ext cx="3310128" cy="237744"/>
          </a:xfrm>
          <a:prstGeom prst="rect">
            <a:avLst/>
          </a:prstGeom>
          <a:noFill/>
          <a:ln/>
        </p:spPr>
        <p:txBody>
          <a:bodyPr wrap="square" lIns="0" tIns="0" rIns="0" bIns="0" rtlCol="0" anchor="ctr"/>
          <a:lstStyle/>
          <a:p>
            <a:pPr marL="0" indent="0">
              <a:buNone/>
            </a:pPr>
            <a:r>
              <a:rPr lang="en-US" sz="1200" b="1" dirty="0">
                <a:solidFill>
                  <a:srgbClr val="1B2733"/>
                </a:solidFill>
                <a:latin typeface="游ゴシック" pitchFamily="34" charset="0"/>
                <a:ea typeface="游ゴシック" pitchFamily="34" charset="-122"/>
                <a:cs typeface="游ゴシック" pitchFamily="34" charset="-120"/>
              </a:rPr>
              <a:t>関係の種類を混ぜない</a:t>
            </a:r>
            <a:endParaRPr lang="en-US" sz="1200" dirty="0"/>
          </a:p>
        </p:txBody>
      </p:sp>
      <p:sp>
        <p:nvSpPr>
          <p:cNvPr id="21" name="Text 19"/>
          <p:cNvSpPr txBox="1"/>
          <p:nvPr/>
        </p:nvSpPr>
        <p:spPr>
          <a:xfrm>
            <a:off x="969264" y="5376672"/>
            <a:ext cx="3310128" cy="274320"/>
          </a:xfrm>
          <a:prstGeom prst="rect">
            <a:avLst/>
          </a:prstGeom>
          <a:noFill/>
          <a:ln/>
        </p:spPr>
        <p:txBody>
          <a:bodyPr wrap="square" lIns="0" tIns="0" rIns="0" bIns="0" rtlCol="0" anchor="ctr"/>
          <a:lstStyle/>
          <a:p>
            <a:pPr marL="0" indent="0">
              <a:buNone/>
            </a:pPr>
            <a:r>
              <a:rPr lang="en-US" sz="1150" dirty="0">
                <a:solidFill>
                  <a:srgbClr val="32414E"/>
                </a:solidFill>
                <a:latin typeface="游ゴシック" pitchFamily="34" charset="0"/>
                <a:ea typeface="游ゴシック" pitchFamily="34" charset="-122"/>
                <a:cs typeface="游ゴシック" pitchFamily="34" charset="-120"/>
              </a:rPr>
              <a:t>「Aの後にB」と「AがBを起こす」が別物になる</a:t>
            </a:r>
            <a:endParaRPr lang="en-US" sz="1150" dirty="0"/>
          </a:p>
        </p:txBody>
      </p:sp>
      <p:sp>
        <p:nvSpPr>
          <p:cNvPr id="22" name="Text 20"/>
          <p:cNvSpPr txBox="1"/>
          <p:nvPr/>
        </p:nvSpPr>
        <p:spPr>
          <a:xfrm>
            <a:off x="4489704" y="5138928"/>
            <a:ext cx="3310128" cy="237744"/>
          </a:xfrm>
          <a:prstGeom prst="rect">
            <a:avLst/>
          </a:prstGeom>
          <a:noFill/>
          <a:ln/>
        </p:spPr>
        <p:txBody>
          <a:bodyPr wrap="square" lIns="0" tIns="0" rIns="0" bIns="0" rtlCol="0" anchor="ctr"/>
          <a:lstStyle/>
          <a:p>
            <a:pPr marL="0" indent="0">
              <a:buNone/>
            </a:pPr>
            <a:r>
              <a:rPr lang="en-US" sz="1200" b="1" dirty="0">
                <a:solidFill>
                  <a:srgbClr val="1B2733"/>
                </a:solidFill>
                <a:latin typeface="游ゴシック" pitchFamily="34" charset="0"/>
                <a:ea typeface="游ゴシック" pitchFamily="34" charset="-122"/>
                <a:cs typeface="游ゴシック" pitchFamily="34" charset="-120"/>
              </a:rPr>
              <a:t>条件・否定・確からしさを関係に付ける</a:t>
            </a:r>
            <a:endParaRPr lang="en-US" sz="1200" dirty="0"/>
          </a:p>
        </p:txBody>
      </p:sp>
      <p:sp>
        <p:nvSpPr>
          <p:cNvPr id="23" name="Text 21"/>
          <p:cNvSpPr txBox="1"/>
          <p:nvPr/>
        </p:nvSpPr>
        <p:spPr>
          <a:xfrm>
            <a:off x="4489704" y="5376672"/>
            <a:ext cx="3310128" cy="274320"/>
          </a:xfrm>
          <a:prstGeom prst="rect">
            <a:avLst/>
          </a:prstGeom>
          <a:noFill/>
          <a:ln/>
        </p:spPr>
        <p:txBody>
          <a:bodyPr wrap="square" lIns="0" tIns="0" rIns="0" bIns="0" rtlCol="0" anchor="ctr"/>
          <a:lstStyle/>
          <a:p>
            <a:pPr marL="0" indent="0">
              <a:buNone/>
            </a:pPr>
            <a:r>
              <a:rPr lang="en-US" sz="1150" dirty="0">
                <a:solidFill>
                  <a:srgbClr val="32414E"/>
                </a:solidFill>
                <a:latin typeface="游ゴシック" pitchFamily="34" charset="0"/>
                <a:ea typeface="游ゴシック" pitchFamily="34" charset="-122"/>
                <a:cs typeface="游ゴシック" pitchFamily="34" charset="-120"/>
              </a:rPr>
              <a:t>「〜のことがある」を落とさずに比較できる</a:t>
            </a:r>
            <a:endParaRPr lang="en-US" sz="1150" dirty="0"/>
          </a:p>
        </p:txBody>
      </p:sp>
      <p:sp>
        <p:nvSpPr>
          <p:cNvPr id="24" name="Text 22"/>
          <p:cNvSpPr txBox="1"/>
          <p:nvPr/>
        </p:nvSpPr>
        <p:spPr>
          <a:xfrm>
            <a:off x="8010144" y="5138928"/>
            <a:ext cx="3310128" cy="237744"/>
          </a:xfrm>
          <a:prstGeom prst="rect">
            <a:avLst/>
          </a:prstGeom>
          <a:noFill/>
          <a:ln/>
        </p:spPr>
        <p:txBody>
          <a:bodyPr wrap="square" lIns="0" tIns="0" rIns="0" bIns="0" rtlCol="0" anchor="ctr"/>
          <a:lstStyle/>
          <a:p>
            <a:pPr marL="0" indent="0">
              <a:buNone/>
            </a:pPr>
            <a:r>
              <a:rPr lang="en-US" sz="1200" b="1" dirty="0">
                <a:solidFill>
                  <a:srgbClr val="1B2733"/>
                </a:solidFill>
                <a:latin typeface="游ゴシック" pitchFamily="34" charset="0"/>
                <a:ea typeface="游ゴシック" pitchFamily="34" charset="-122"/>
                <a:cs typeface="游ゴシック" pitchFamily="34" charset="-120"/>
              </a:rPr>
              <a:t>比較の起点と単位になる</a:t>
            </a:r>
            <a:endParaRPr lang="en-US" sz="1200" dirty="0"/>
          </a:p>
        </p:txBody>
      </p:sp>
      <p:sp>
        <p:nvSpPr>
          <p:cNvPr id="25" name="Text 23"/>
          <p:cNvSpPr txBox="1"/>
          <p:nvPr/>
        </p:nvSpPr>
        <p:spPr>
          <a:xfrm>
            <a:off x="8010144" y="5376672"/>
            <a:ext cx="3310128" cy="274320"/>
          </a:xfrm>
          <a:prstGeom prst="rect">
            <a:avLst/>
          </a:prstGeom>
          <a:noFill/>
          <a:ln/>
        </p:spPr>
        <p:txBody>
          <a:bodyPr wrap="square" lIns="0" tIns="0" rIns="0" bIns="0" rtlCol="0" anchor="ctr"/>
          <a:lstStyle/>
          <a:p>
            <a:pPr marL="0" indent="0">
              <a:buNone/>
            </a:pPr>
            <a:r>
              <a:rPr lang="en-US" sz="1150" dirty="0">
                <a:solidFill>
                  <a:srgbClr val="32414E"/>
                </a:solidFill>
                <a:latin typeface="游ゴシック" pitchFamily="34" charset="0"/>
                <a:ea typeface="游ゴシック" pitchFamily="34" charset="-122"/>
                <a:cs typeface="游ゴシック" pitchFamily="34" charset="-120"/>
              </a:rPr>
              <a:t>意味の欠けた断片どうしが一致しない</a:t>
            </a:r>
            <a:endParaRPr lang="en-US" sz="1150" dirty="0"/>
          </a:p>
        </p:txBody>
      </p:sp>
      <p:sp>
        <p:nvSpPr>
          <p:cNvPr id="26" name="Text 24"/>
          <p:cNvSpPr txBox="1"/>
          <p:nvPr/>
        </p:nvSpPr>
        <p:spPr>
          <a:xfrm>
            <a:off x="658368" y="5852160"/>
            <a:ext cx="10881360" cy="256032"/>
          </a:xfrm>
          <a:prstGeom prst="rect">
            <a:avLst/>
          </a:prstGeom>
          <a:noFill/>
          <a:ln/>
        </p:spPr>
        <p:txBody>
          <a:bodyPr wrap="square" lIns="0" tIns="0" rIns="0" bIns="0" rtlCol="0" anchor="ctr"/>
          <a:lstStyle/>
          <a:p>
            <a:pPr marL="0" indent="0">
              <a:buNone/>
            </a:pPr>
            <a:r>
              <a:rPr lang="en-US" sz="1100" dirty="0">
                <a:solidFill>
                  <a:srgbClr val="687684"/>
                </a:solidFill>
                <a:latin typeface="游ゴシック" pitchFamily="34" charset="0"/>
                <a:ea typeface="游ゴシック" pitchFamily="34" charset="-122"/>
                <a:cs typeface="游ゴシック" pitchFamily="34" charset="-120"/>
              </a:rPr>
              <a:t>※ 手法は検討中であり、今後変更する可能性がある</a:t>
            </a:r>
            <a:endParaRPr lang="en-US" sz="1100" dirty="0"/>
          </a:p>
        </p:txBody>
      </p:sp>
      <p:sp>
        <p:nvSpPr>
          <p:cNvPr id="27" name="Text 25"/>
          <p:cNvSpPr txBox="1"/>
          <p:nvPr/>
        </p:nvSpPr>
        <p:spPr>
          <a:xfrm>
            <a:off x="658368"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2. 手法　／　2.2 手法詳細</a:t>
            </a:r>
            <a:endParaRPr lang="en-US" sz="1050" dirty="0"/>
          </a:p>
        </p:txBody>
      </p:sp>
      <p:sp>
        <p:nvSpPr>
          <p:cNvPr id="28" name="Text 26"/>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804672" y="54864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結果</a:t>
            </a:r>
            <a:endParaRPr lang="en-US" sz="2700" dirty="0"/>
          </a:p>
        </p:txBody>
      </p:sp>
      <p:sp>
        <p:nvSpPr>
          <p:cNvPr id="3" name="Text 1"/>
          <p:cNvSpPr txBox="1"/>
          <p:nvPr/>
        </p:nvSpPr>
        <p:spPr>
          <a:xfrm>
            <a:off x="658368"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3. 結果・考察</a:t>
            </a:r>
            <a:endParaRPr lang="en-US" sz="1050" dirty="0"/>
          </a:p>
        </p:txBody>
      </p:sp>
      <p:sp>
        <p:nvSpPr>
          <p:cNvPr id="4" name="Text 2"/>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804672" y="54864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考察</a:t>
            </a:r>
            <a:endParaRPr lang="en-US" sz="2700" dirty="0"/>
          </a:p>
        </p:txBody>
      </p:sp>
      <p:sp>
        <p:nvSpPr>
          <p:cNvPr id="3" name="Text 1"/>
          <p:cNvSpPr txBox="1"/>
          <p:nvPr/>
        </p:nvSpPr>
        <p:spPr>
          <a:xfrm>
            <a:off x="658368"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3. 結果・考察</a:t>
            </a:r>
            <a:endParaRPr lang="en-US" sz="1050" dirty="0"/>
          </a:p>
        </p:txBody>
      </p:sp>
      <p:sp>
        <p:nvSpPr>
          <p:cNvPr id="4" name="Text 2"/>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75488"/>
            <a:ext cx="10881360" cy="658368"/>
          </a:xfrm>
          <a:prstGeom prst="rect">
            <a:avLst/>
          </a:prstGeom>
          <a:noFill/>
          <a:ln/>
        </p:spPr>
        <p:txBody>
          <a:bodyPr wrap="square" lIns="0" tIns="0" rIns="0" bIns="0" rtlCol="0" anchor="ctr"/>
          <a:lstStyle/>
          <a:p>
            <a:pPr marL="0" indent="0">
              <a:buNone/>
            </a:pPr>
            <a:r>
              <a:rPr lang="ja-JP" altLang="en-US" sz="2700" b="1" dirty="0">
                <a:solidFill>
                  <a:srgbClr val="0E2841"/>
                </a:solidFill>
                <a:latin typeface="游ゴシック" pitchFamily="34" charset="0"/>
                <a:ea typeface="游ゴシック" pitchFamily="34" charset="-122"/>
                <a:cs typeface="游ゴシック" pitchFamily="34" charset="-120"/>
              </a:rPr>
              <a:t>インターンを通して学んだこと・感じたこと</a:t>
            </a:r>
            <a:endParaRPr lang="en-US" sz="2700" dirty="0"/>
          </a:p>
        </p:txBody>
      </p:sp>
      <p:sp>
        <p:nvSpPr>
          <p:cNvPr id="3" name="Shape 1"/>
          <p:cNvSpPr/>
          <p:nvPr/>
        </p:nvSpPr>
        <p:spPr>
          <a:xfrm>
            <a:off x="658368" y="1298448"/>
            <a:ext cx="3429000" cy="3840480"/>
          </a:xfrm>
          <a:prstGeom prst="roundRect">
            <a:avLst>
              <a:gd name="adj" fmla="val 2133"/>
            </a:avLst>
          </a:prstGeom>
          <a:solidFill>
            <a:srgbClr val="F5F8FA"/>
          </a:solidFill>
          <a:ln w="12700">
            <a:solidFill>
              <a:srgbClr val="333333"/>
            </a:solidFill>
            <a:prstDash val="solid"/>
          </a:ln>
          <a:effectLst>
            <a:outerShdw blurRad="127000" dist="25400" dir="5400000" algn="bl" rotWithShape="0">
              <a:srgbClr val="9AA8B4">
                <a:alpha val="20000"/>
              </a:srgbClr>
            </a:outerShdw>
          </a:effectLst>
        </p:spPr>
        <p:txBody>
          <a:bodyPr/>
          <a:lstStyle/>
          <a:p>
            <a:endParaRPr lang="ja-JP" altLang="en-US"/>
          </a:p>
        </p:txBody>
      </p:sp>
      <p:sp>
        <p:nvSpPr>
          <p:cNvPr id="4" name="Shape 2"/>
          <p:cNvSpPr/>
          <p:nvPr/>
        </p:nvSpPr>
        <p:spPr>
          <a:xfrm>
            <a:off x="969264" y="1609344"/>
            <a:ext cx="1783080" cy="310896"/>
          </a:xfrm>
          <a:prstGeom prst="roundRect">
            <a:avLst>
              <a:gd name="adj" fmla="val 147059"/>
            </a:avLst>
          </a:prstGeom>
          <a:solidFill>
            <a:srgbClr val="0E2841"/>
          </a:solidFill>
          <a:ln w="12700">
            <a:solidFill>
              <a:srgbClr val="333333"/>
            </a:solidFill>
            <a:prstDash val="solid"/>
          </a:ln>
        </p:spPr>
        <p:txBody>
          <a:bodyPr/>
          <a:lstStyle/>
          <a:p>
            <a:endParaRPr lang="ja-JP" altLang="en-US"/>
          </a:p>
        </p:txBody>
      </p:sp>
      <p:sp>
        <p:nvSpPr>
          <p:cNvPr id="5" name="Text 3"/>
          <p:cNvSpPr txBox="1"/>
          <p:nvPr/>
        </p:nvSpPr>
        <p:spPr>
          <a:xfrm>
            <a:off x="969264" y="1609344"/>
            <a:ext cx="178308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游ゴシック" pitchFamily="34" charset="0"/>
                <a:ea typeface="游ゴシック" pitchFamily="34" charset="-122"/>
                <a:cs typeface="游ゴシック" pitchFamily="34" charset="-120"/>
              </a:rPr>
              <a:t>① 取り組みと技術</a:t>
            </a:r>
            <a:endParaRPr lang="en-US" sz="1150" dirty="0"/>
          </a:p>
        </p:txBody>
      </p:sp>
      <p:sp>
        <p:nvSpPr>
          <p:cNvPr id="6" name="Text 4"/>
          <p:cNvSpPr txBox="1"/>
          <p:nvPr/>
        </p:nvSpPr>
        <p:spPr>
          <a:xfrm>
            <a:off x="969264" y="2084832"/>
            <a:ext cx="2807208" cy="585216"/>
          </a:xfrm>
          <a:prstGeom prst="rect">
            <a:avLst/>
          </a:prstGeom>
          <a:noFill/>
          <a:ln/>
        </p:spPr>
        <p:txBody>
          <a:bodyPr wrap="square" lIns="0" tIns="0" rIns="0" bIns="0" rtlCol="0" anchor="ctr"/>
          <a:lstStyle/>
          <a:p>
            <a:pPr marL="0" indent="0">
              <a:lnSpc>
                <a:spcPct val="120000"/>
              </a:lnSpc>
              <a:buNone/>
            </a:pPr>
            <a:r>
              <a:rPr lang="en-US" sz="1600" b="1" dirty="0">
                <a:solidFill>
                  <a:srgbClr val="1B2733"/>
                </a:solidFill>
                <a:latin typeface="游ゴシック" pitchFamily="34" charset="0"/>
                <a:ea typeface="游ゴシック" pitchFamily="34" charset="-122"/>
                <a:cs typeface="游ゴシック" pitchFamily="34" charset="-120"/>
              </a:rPr>
              <a:t>AI活用推進のための</a:t>
            </a:r>
            <a:endParaRPr lang="en-US" sz="1600" dirty="0"/>
          </a:p>
          <a:p>
            <a:pPr marL="0" indent="0">
              <a:lnSpc>
                <a:spcPct val="120000"/>
              </a:lnSpc>
              <a:buNone/>
            </a:pPr>
            <a:r>
              <a:rPr lang="en-US" sz="1600" b="1" dirty="0">
                <a:solidFill>
                  <a:srgbClr val="1B2733"/>
                </a:solidFill>
                <a:latin typeface="游ゴシック" pitchFamily="34" charset="0"/>
                <a:ea typeface="游ゴシック" pitchFamily="34" charset="-122"/>
                <a:cs typeface="游ゴシック" pitchFamily="34" charset="-120"/>
              </a:rPr>
              <a:t>さまざまな取り組み</a:t>
            </a:r>
            <a:endParaRPr lang="en-US" sz="1600" dirty="0"/>
          </a:p>
        </p:txBody>
      </p:sp>
      <p:sp>
        <p:nvSpPr>
          <p:cNvPr id="7" name="Text 5"/>
          <p:cNvSpPr txBox="1"/>
          <p:nvPr/>
        </p:nvSpPr>
        <p:spPr>
          <a:xfrm>
            <a:off x="969264" y="2761488"/>
            <a:ext cx="2807208" cy="2240280"/>
          </a:xfrm>
          <a:prstGeom prst="rect">
            <a:avLst/>
          </a:prstGeom>
          <a:noFill/>
          <a:ln/>
        </p:spPr>
        <p:txBody>
          <a:bodyPr wrap="square" lIns="0" tIns="0" rIns="0" bIns="0" rtlCol="0" anchor="t"/>
          <a:lstStyle/>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トヨタ全体でAI活用を推進するなかで、さまざまな取り組みが進んでいることを知った</a:t>
            </a:r>
            <a:endParaRPr lang="en-US" sz="1150" dirty="0"/>
          </a:p>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同時に、まだ解決すべき課題が多く残っていることも知った</a:t>
            </a:r>
            <a:endParaRPr lang="en-US" sz="1150" dirty="0"/>
          </a:p>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定例で最新のAI活用事例が共有され、AI CoEグループの皆さんの技術への感度の高さを感じた</a:t>
            </a:r>
            <a:endParaRPr lang="en-US" sz="1150" dirty="0"/>
          </a:p>
        </p:txBody>
      </p:sp>
      <p:sp>
        <p:nvSpPr>
          <p:cNvPr id="8" name="Shape 6"/>
          <p:cNvSpPr/>
          <p:nvPr/>
        </p:nvSpPr>
        <p:spPr>
          <a:xfrm>
            <a:off x="4379976" y="1298448"/>
            <a:ext cx="3429000" cy="3840480"/>
          </a:xfrm>
          <a:prstGeom prst="roundRect">
            <a:avLst>
              <a:gd name="adj" fmla="val 2133"/>
            </a:avLst>
          </a:prstGeom>
          <a:solidFill>
            <a:srgbClr val="EEF5F8"/>
          </a:solidFill>
          <a:ln w="12700">
            <a:solidFill>
              <a:srgbClr val="333333"/>
            </a:solidFill>
            <a:prstDash val="solid"/>
          </a:ln>
          <a:effectLst>
            <a:outerShdw blurRad="127000" dist="25400" dir="5400000" algn="bl" rotWithShape="0">
              <a:srgbClr val="9AA8B4">
                <a:alpha val="20000"/>
              </a:srgbClr>
            </a:outerShdw>
          </a:effectLst>
        </p:spPr>
        <p:txBody>
          <a:bodyPr/>
          <a:lstStyle/>
          <a:p>
            <a:endParaRPr lang="ja-JP" altLang="en-US"/>
          </a:p>
        </p:txBody>
      </p:sp>
      <p:sp>
        <p:nvSpPr>
          <p:cNvPr id="9" name="Shape 7"/>
          <p:cNvSpPr/>
          <p:nvPr/>
        </p:nvSpPr>
        <p:spPr>
          <a:xfrm>
            <a:off x="4690872" y="1609344"/>
            <a:ext cx="1783080" cy="310896"/>
          </a:xfrm>
          <a:prstGeom prst="roundRect">
            <a:avLst>
              <a:gd name="adj" fmla="val 147059"/>
            </a:avLst>
          </a:prstGeom>
          <a:solidFill>
            <a:srgbClr val="156082"/>
          </a:solidFill>
          <a:ln w="12700">
            <a:solidFill>
              <a:srgbClr val="333333"/>
            </a:solidFill>
            <a:prstDash val="solid"/>
          </a:ln>
        </p:spPr>
        <p:txBody>
          <a:bodyPr/>
          <a:lstStyle/>
          <a:p>
            <a:endParaRPr lang="ja-JP" altLang="en-US"/>
          </a:p>
        </p:txBody>
      </p:sp>
      <p:sp>
        <p:nvSpPr>
          <p:cNvPr id="10" name="Text 8"/>
          <p:cNvSpPr txBox="1"/>
          <p:nvPr/>
        </p:nvSpPr>
        <p:spPr>
          <a:xfrm>
            <a:off x="4690872" y="1609344"/>
            <a:ext cx="178308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游ゴシック" pitchFamily="34" charset="0"/>
                <a:ea typeface="游ゴシック" pitchFamily="34" charset="-122"/>
                <a:cs typeface="游ゴシック" pitchFamily="34" charset="-120"/>
              </a:rPr>
              <a:t>② 働く環境</a:t>
            </a:r>
            <a:endParaRPr lang="en-US" sz="1150" dirty="0"/>
          </a:p>
        </p:txBody>
      </p:sp>
      <p:sp>
        <p:nvSpPr>
          <p:cNvPr id="11" name="Text 9"/>
          <p:cNvSpPr txBox="1"/>
          <p:nvPr/>
        </p:nvSpPr>
        <p:spPr>
          <a:xfrm>
            <a:off x="4690872" y="2084832"/>
            <a:ext cx="2807208" cy="585216"/>
          </a:xfrm>
          <a:prstGeom prst="rect">
            <a:avLst/>
          </a:prstGeom>
          <a:noFill/>
          <a:ln/>
        </p:spPr>
        <p:txBody>
          <a:bodyPr wrap="square" lIns="0" tIns="0" rIns="0" bIns="0" rtlCol="0" anchor="ctr"/>
          <a:lstStyle/>
          <a:p>
            <a:pPr marL="0" indent="0">
              <a:lnSpc>
                <a:spcPct val="120000"/>
              </a:lnSpc>
              <a:buNone/>
            </a:pPr>
            <a:r>
              <a:rPr lang="en-US" sz="1600" b="1" dirty="0">
                <a:solidFill>
                  <a:srgbClr val="1B2733"/>
                </a:solidFill>
                <a:latin typeface="游ゴシック" pitchFamily="34" charset="0"/>
                <a:ea typeface="游ゴシック" pitchFamily="34" charset="-122"/>
                <a:cs typeface="游ゴシック" pitchFamily="34" charset="-120"/>
              </a:rPr>
              <a:t>いつでも議論できる環境</a:t>
            </a:r>
            <a:endParaRPr lang="en-US" sz="1600" dirty="0"/>
          </a:p>
        </p:txBody>
      </p:sp>
      <p:sp>
        <p:nvSpPr>
          <p:cNvPr id="12" name="Text 10"/>
          <p:cNvSpPr txBox="1"/>
          <p:nvPr/>
        </p:nvSpPr>
        <p:spPr>
          <a:xfrm>
            <a:off x="4690872" y="2761488"/>
            <a:ext cx="2807208" cy="2240280"/>
          </a:xfrm>
          <a:prstGeom prst="rect">
            <a:avLst/>
          </a:prstGeom>
          <a:noFill/>
          <a:ln/>
        </p:spPr>
        <p:txBody>
          <a:bodyPr wrap="square" lIns="0" tIns="0" rIns="0" bIns="0" rtlCol="0" anchor="t"/>
          <a:lstStyle/>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疑問があれば、メンターの方がホワイトボードでその場で説明してくださった</a:t>
            </a:r>
            <a:endParaRPr lang="en-US" sz="1150" dirty="0"/>
          </a:p>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誰かが議論を始めると、近くの人が自然に加わって一緒に考えてくれる</a:t>
            </a:r>
            <a:endParaRPr lang="en-US" sz="1150" dirty="0"/>
          </a:p>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新たな視点の意見をその場で聞ける、コミュニケーションが盛んな環境</a:t>
            </a:r>
            <a:endParaRPr lang="en-US" sz="1150" dirty="0"/>
          </a:p>
        </p:txBody>
      </p:sp>
      <p:sp>
        <p:nvSpPr>
          <p:cNvPr id="13" name="Shape 11"/>
          <p:cNvSpPr/>
          <p:nvPr/>
        </p:nvSpPr>
        <p:spPr>
          <a:xfrm>
            <a:off x="8101584" y="1298448"/>
            <a:ext cx="3429000" cy="3840480"/>
          </a:xfrm>
          <a:prstGeom prst="roundRect">
            <a:avLst>
              <a:gd name="adj" fmla="val 2133"/>
            </a:avLst>
          </a:prstGeom>
          <a:solidFill>
            <a:srgbClr val="F5F8FA"/>
          </a:solidFill>
          <a:ln w="12700">
            <a:solidFill>
              <a:srgbClr val="333333"/>
            </a:solidFill>
            <a:prstDash val="solid"/>
          </a:ln>
          <a:effectLst>
            <a:outerShdw blurRad="127000" dist="25400" dir="5400000" algn="bl" rotWithShape="0">
              <a:srgbClr val="9AA8B4">
                <a:alpha val="20000"/>
              </a:srgbClr>
            </a:outerShdw>
          </a:effectLst>
        </p:spPr>
        <p:txBody>
          <a:bodyPr/>
          <a:lstStyle/>
          <a:p>
            <a:endParaRPr lang="ja-JP" altLang="en-US"/>
          </a:p>
        </p:txBody>
      </p:sp>
      <p:sp>
        <p:nvSpPr>
          <p:cNvPr id="14" name="Shape 12"/>
          <p:cNvSpPr/>
          <p:nvPr/>
        </p:nvSpPr>
        <p:spPr>
          <a:xfrm>
            <a:off x="8412480" y="1609344"/>
            <a:ext cx="1783080" cy="310896"/>
          </a:xfrm>
          <a:prstGeom prst="roundRect">
            <a:avLst>
              <a:gd name="adj" fmla="val 147059"/>
            </a:avLst>
          </a:prstGeom>
          <a:solidFill>
            <a:srgbClr val="0E2841"/>
          </a:solidFill>
          <a:ln w="12700">
            <a:solidFill>
              <a:srgbClr val="333333"/>
            </a:solidFill>
            <a:prstDash val="solid"/>
          </a:ln>
        </p:spPr>
        <p:txBody>
          <a:bodyPr/>
          <a:lstStyle/>
          <a:p>
            <a:endParaRPr lang="ja-JP" altLang="en-US"/>
          </a:p>
        </p:txBody>
      </p:sp>
      <p:sp>
        <p:nvSpPr>
          <p:cNvPr id="15" name="Text 13"/>
          <p:cNvSpPr txBox="1"/>
          <p:nvPr/>
        </p:nvSpPr>
        <p:spPr>
          <a:xfrm>
            <a:off x="8412480" y="1609344"/>
            <a:ext cx="178308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游ゴシック" pitchFamily="34" charset="0"/>
                <a:ea typeface="游ゴシック" pitchFamily="34" charset="-122"/>
                <a:cs typeface="游ゴシック" pitchFamily="34" charset="-120"/>
              </a:rPr>
              <a:t>③ </a:t>
            </a:r>
            <a:r>
              <a:rPr lang="ja-JP" altLang="en-US" sz="1150" b="1" dirty="0">
                <a:solidFill>
                  <a:srgbClr val="FFFFFF"/>
                </a:solidFill>
                <a:latin typeface="游ゴシック" pitchFamily="34" charset="0"/>
                <a:ea typeface="游ゴシック" pitchFamily="34" charset="-122"/>
                <a:cs typeface="游ゴシック" pitchFamily="34" charset="-120"/>
              </a:rPr>
              <a:t>トヨタの</a:t>
            </a:r>
            <a:r>
              <a:rPr lang="en-US" sz="1150" b="1" dirty="0" err="1">
                <a:solidFill>
                  <a:srgbClr val="FFFFFF"/>
                </a:solidFill>
                <a:latin typeface="游ゴシック" pitchFamily="34" charset="0"/>
                <a:ea typeface="游ゴシック" pitchFamily="34" charset="-122"/>
                <a:cs typeface="游ゴシック" pitchFamily="34" charset="-120"/>
              </a:rPr>
              <a:t>熟練者</a:t>
            </a:r>
            <a:endParaRPr lang="en-US" sz="1150" dirty="0"/>
          </a:p>
        </p:txBody>
      </p:sp>
      <p:sp>
        <p:nvSpPr>
          <p:cNvPr id="16" name="Text 14"/>
          <p:cNvSpPr txBox="1"/>
          <p:nvPr/>
        </p:nvSpPr>
        <p:spPr>
          <a:xfrm>
            <a:off x="8412480" y="2084832"/>
            <a:ext cx="2807208" cy="585216"/>
          </a:xfrm>
          <a:prstGeom prst="rect">
            <a:avLst/>
          </a:prstGeom>
          <a:noFill/>
          <a:ln/>
        </p:spPr>
        <p:txBody>
          <a:bodyPr wrap="square" lIns="0" tIns="0" rIns="0" bIns="0" rtlCol="0" anchor="ctr"/>
          <a:lstStyle/>
          <a:p>
            <a:pPr marL="0" indent="0">
              <a:lnSpc>
                <a:spcPct val="120000"/>
              </a:lnSpc>
              <a:buNone/>
            </a:pPr>
            <a:r>
              <a:rPr lang="en-US" sz="1600" b="1" dirty="0">
                <a:solidFill>
                  <a:srgbClr val="1B2733"/>
                </a:solidFill>
                <a:latin typeface="游ゴシック" pitchFamily="34" charset="0"/>
                <a:ea typeface="游ゴシック" pitchFamily="34" charset="-122"/>
                <a:cs typeface="游ゴシック" pitchFamily="34" charset="-120"/>
              </a:rPr>
              <a:t>専門知識の深さと、</a:t>
            </a:r>
            <a:endParaRPr lang="en-US" sz="1600" dirty="0"/>
          </a:p>
          <a:p>
            <a:pPr marL="0" indent="0">
              <a:lnSpc>
                <a:spcPct val="120000"/>
              </a:lnSpc>
              <a:buNone/>
            </a:pPr>
            <a:r>
              <a:rPr lang="en-US" sz="1600" b="1" dirty="0">
                <a:solidFill>
                  <a:srgbClr val="1B2733"/>
                </a:solidFill>
                <a:latin typeface="游ゴシック" pitchFamily="34" charset="0"/>
                <a:ea typeface="游ゴシック" pitchFamily="34" charset="-122"/>
                <a:cs typeface="游ゴシック" pitchFamily="34" charset="-120"/>
              </a:rPr>
              <a:t>仕事への誇り</a:t>
            </a:r>
            <a:endParaRPr lang="en-US" sz="1600" dirty="0"/>
          </a:p>
        </p:txBody>
      </p:sp>
      <p:sp>
        <p:nvSpPr>
          <p:cNvPr id="17" name="Text 15"/>
          <p:cNvSpPr txBox="1"/>
          <p:nvPr/>
        </p:nvSpPr>
        <p:spPr>
          <a:xfrm>
            <a:off x="8412480" y="2761488"/>
            <a:ext cx="2807208" cy="2240280"/>
          </a:xfrm>
          <a:prstGeom prst="rect">
            <a:avLst/>
          </a:prstGeom>
          <a:noFill/>
          <a:ln/>
        </p:spPr>
        <p:txBody>
          <a:bodyPr wrap="square" lIns="0" tIns="0" rIns="0" bIns="0" rtlCol="0" anchor="t"/>
          <a:lstStyle/>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熟練者の方がAIと対話してノウハウを集める会に参加させていただいた</a:t>
            </a:r>
            <a:endParaRPr lang="en-US" sz="1150" dirty="0"/>
          </a:p>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仕事に対する誇りと情熱、そして専門分野の知識の深さに感激した</a:t>
            </a:r>
            <a:endParaRPr lang="en-US" sz="1150" dirty="0"/>
          </a:p>
          <a:p>
            <a:pPr marL="342900" indent="-342900">
              <a:lnSpc>
                <a:spcPct val="132000"/>
              </a:lnSpc>
              <a:spcAft>
                <a:spcPts val="1100"/>
              </a:spcAft>
              <a:buSzPct val="100000"/>
              <a:buChar char="–"/>
            </a:pPr>
            <a:r>
              <a:rPr lang="en-US" sz="1150" dirty="0">
                <a:solidFill>
                  <a:srgbClr val="32414E"/>
                </a:solidFill>
                <a:latin typeface="游ゴシック" pitchFamily="34" charset="0"/>
                <a:ea typeface="游ゴシック" pitchFamily="34" charset="-122"/>
                <a:cs typeface="游ゴシック" pitchFamily="34" charset="-120"/>
              </a:rPr>
              <a:t>ノウハウを集めて活用できるようにすることの重要性を、あらためて実感した</a:t>
            </a:r>
            <a:endParaRPr lang="en-US" sz="1150" dirty="0"/>
          </a:p>
        </p:txBody>
      </p:sp>
      <p:sp>
        <p:nvSpPr>
          <p:cNvPr id="18" name="Shape 16"/>
          <p:cNvSpPr/>
          <p:nvPr/>
        </p:nvSpPr>
        <p:spPr>
          <a:xfrm>
            <a:off x="658368" y="5321808"/>
            <a:ext cx="10872216" cy="822960"/>
          </a:xfrm>
          <a:prstGeom prst="roundRect">
            <a:avLst>
              <a:gd name="adj" fmla="val 6667"/>
            </a:avLst>
          </a:prstGeom>
          <a:solidFill>
            <a:srgbClr val="0E2841"/>
          </a:solidFill>
          <a:ln w="12700">
            <a:solidFill>
              <a:srgbClr val="333333"/>
            </a:solidFill>
            <a:prstDash val="solid"/>
          </a:ln>
        </p:spPr>
        <p:txBody>
          <a:bodyPr/>
          <a:lstStyle/>
          <a:p>
            <a:endParaRPr lang="ja-JP" altLang="en-US"/>
          </a:p>
        </p:txBody>
      </p:sp>
      <p:sp>
        <p:nvSpPr>
          <p:cNvPr id="19" name="Text 17"/>
          <p:cNvSpPr txBox="1"/>
          <p:nvPr/>
        </p:nvSpPr>
        <p:spPr>
          <a:xfrm>
            <a:off x="1042416" y="5449824"/>
            <a:ext cx="2926080" cy="237744"/>
          </a:xfrm>
          <a:prstGeom prst="rect">
            <a:avLst/>
          </a:prstGeom>
          <a:noFill/>
          <a:ln/>
        </p:spPr>
        <p:txBody>
          <a:bodyPr wrap="square" lIns="0" tIns="0" rIns="0" bIns="0" rtlCol="0" anchor="ctr"/>
          <a:lstStyle/>
          <a:p>
            <a:pPr marL="0" indent="0">
              <a:buNone/>
            </a:pPr>
            <a:r>
              <a:rPr lang="en-US" sz="1150" b="1" dirty="0">
                <a:solidFill>
                  <a:srgbClr val="CADCFC"/>
                </a:solidFill>
                <a:latin typeface="游ゴシック" pitchFamily="34" charset="0"/>
                <a:ea typeface="游ゴシック" pitchFamily="34" charset="-122"/>
                <a:cs typeface="游ゴシック" pitchFamily="34" charset="-120"/>
              </a:rPr>
              <a:t>2週間を通して</a:t>
            </a:r>
            <a:endParaRPr lang="en-US" sz="1150" dirty="0"/>
          </a:p>
        </p:txBody>
      </p:sp>
      <p:sp>
        <p:nvSpPr>
          <p:cNvPr id="20" name="Text 18"/>
          <p:cNvSpPr txBox="1"/>
          <p:nvPr/>
        </p:nvSpPr>
        <p:spPr>
          <a:xfrm>
            <a:off x="1042416" y="5705856"/>
            <a:ext cx="10058400" cy="292608"/>
          </a:xfrm>
          <a:prstGeom prst="rect">
            <a:avLst/>
          </a:prstGeom>
          <a:noFill/>
          <a:ln/>
        </p:spPr>
        <p:txBody>
          <a:bodyPr wrap="square" lIns="0" tIns="0" rIns="0" bIns="0" rtlCol="0" anchor="ctr"/>
          <a:lstStyle/>
          <a:p>
            <a:pPr marL="0" indent="0">
              <a:buNone/>
            </a:pPr>
            <a:r>
              <a:rPr lang="en-US" sz="1400" dirty="0">
                <a:solidFill>
                  <a:srgbClr val="FFFFFF"/>
                </a:solidFill>
                <a:latin typeface="游ゴシック" pitchFamily="34" charset="0"/>
                <a:ea typeface="游ゴシック" pitchFamily="34" charset="-122"/>
                <a:cs typeface="游ゴシック" pitchFamily="34" charset="-120"/>
              </a:rPr>
              <a:t>AI活用の現在地と、それを前に進める議論のしかた、そして熟練者のノウハウを残すことの意義に触れられた</a:t>
            </a:r>
            <a:endParaRPr lang="en-US" sz="1400" dirty="0"/>
          </a:p>
        </p:txBody>
      </p:sp>
      <p:sp>
        <p:nvSpPr>
          <p:cNvPr id="21" name="Text 19"/>
          <p:cNvSpPr txBox="1"/>
          <p:nvPr/>
        </p:nvSpPr>
        <p:spPr>
          <a:xfrm>
            <a:off x="658368"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4. インターン振り返り</a:t>
            </a:r>
            <a:endParaRPr lang="en-US" sz="1050" dirty="0"/>
          </a:p>
        </p:txBody>
      </p:sp>
      <p:sp>
        <p:nvSpPr>
          <p:cNvPr id="22" name="Text 20"/>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2841"/>
        </a:solidFill>
        <a:effectLst/>
      </p:bgPr>
    </p:bg>
    <p:spTree>
      <p:nvGrpSpPr>
        <p:cNvPr id="1" name=""/>
        <p:cNvGrpSpPr/>
        <p:nvPr/>
      </p:nvGrpSpPr>
      <p:grpSpPr>
        <a:xfrm>
          <a:off x="0" y="0"/>
          <a:ext cx="0" cy="0"/>
          <a:chOff x="0" y="0"/>
          <a:chExt cx="0" cy="0"/>
        </a:xfrm>
      </p:grpSpPr>
      <p:sp>
        <p:nvSpPr>
          <p:cNvPr id="2" name="Shape 0"/>
          <p:cNvSpPr/>
          <p:nvPr/>
        </p:nvSpPr>
        <p:spPr>
          <a:xfrm>
            <a:off x="9235440" y="3566160"/>
            <a:ext cx="4206240" cy="4206240"/>
          </a:xfrm>
          <a:prstGeom prst="ellipse">
            <a:avLst/>
          </a:prstGeom>
          <a:solidFill>
            <a:srgbClr val="0E2841"/>
          </a:solidFill>
          <a:ln w="15875">
            <a:solidFill>
              <a:srgbClr val="156082"/>
            </a:solidFill>
            <a:prstDash val="solid"/>
          </a:ln>
        </p:spPr>
        <p:txBody>
          <a:bodyPr/>
          <a:lstStyle/>
          <a:p>
            <a:endParaRPr lang="ja-JP" altLang="en-US"/>
          </a:p>
        </p:txBody>
      </p:sp>
      <p:sp>
        <p:nvSpPr>
          <p:cNvPr id="3" name="Text 1"/>
          <p:cNvSpPr txBox="1"/>
          <p:nvPr/>
        </p:nvSpPr>
        <p:spPr>
          <a:xfrm>
            <a:off x="1005840" y="2724912"/>
            <a:ext cx="7315200" cy="804672"/>
          </a:xfrm>
          <a:prstGeom prst="rect">
            <a:avLst/>
          </a:prstGeom>
          <a:noFill/>
          <a:ln/>
        </p:spPr>
        <p:txBody>
          <a:bodyPr wrap="square" lIns="0" tIns="0" rIns="0" bIns="0" rtlCol="0" anchor="ctr"/>
          <a:lstStyle/>
          <a:p>
            <a:pPr marL="0" indent="0">
              <a:buNone/>
            </a:pPr>
            <a:r>
              <a:rPr lang="en-US" sz="3800" b="1" dirty="0">
                <a:solidFill>
                  <a:srgbClr val="FFFFFF"/>
                </a:solidFill>
                <a:latin typeface="游ゴシック" pitchFamily="34" charset="0"/>
                <a:ea typeface="游ゴシック" pitchFamily="34" charset="-122"/>
                <a:cs typeface="游ゴシック" pitchFamily="34" charset="-120"/>
              </a:rPr>
              <a:t>２週間ありがとうございました！</a:t>
            </a:r>
            <a:endParaRPr lang="en-US" sz="3800" dirty="0"/>
          </a:p>
        </p:txBody>
      </p:sp>
      <p:sp>
        <p:nvSpPr>
          <p:cNvPr id="4" name="Text 2"/>
          <p:cNvSpPr txBox="1"/>
          <p:nvPr/>
        </p:nvSpPr>
        <p:spPr>
          <a:xfrm>
            <a:off x="1005840" y="4334256"/>
            <a:ext cx="731520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以上です。ご清聴ありがとうございました。</a:t>
            </a:r>
            <a:endParaRPr lang="en-US" sz="1300" dirty="0"/>
          </a:p>
        </p:txBody>
      </p:sp>
      <p:sp>
        <p:nvSpPr>
          <p:cNvPr id="5" name="Text 3"/>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CADCF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2841"/>
        </a:solidFill>
        <a:effectLst/>
      </p:bgPr>
    </p:bg>
    <p:spTree>
      <p:nvGrpSpPr>
        <p:cNvPr id="1" name=""/>
        <p:cNvGrpSpPr/>
        <p:nvPr/>
      </p:nvGrpSpPr>
      <p:grpSpPr>
        <a:xfrm>
          <a:off x="0" y="0"/>
          <a:ext cx="0" cy="0"/>
          <a:chOff x="0" y="0"/>
          <a:chExt cx="0" cy="0"/>
        </a:xfrm>
      </p:grpSpPr>
      <p:sp>
        <p:nvSpPr>
          <p:cNvPr id="2" name="Shape 0"/>
          <p:cNvSpPr/>
          <p:nvPr/>
        </p:nvSpPr>
        <p:spPr>
          <a:xfrm>
            <a:off x="9235440" y="3566160"/>
            <a:ext cx="4206240" cy="4206240"/>
          </a:xfrm>
          <a:prstGeom prst="ellipse">
            <a:avLst/>
          </a:prstGeom>
          <a:solidFill>
            <a:srgbClr val="0E2841"/>
          </a:solidFill>
          <a:ln w="15875">
            <a:solidFill>
              <a:srgbClr val="156082"/>
            </a:solidFill>
            <a:prstDash val="solid"/>
          </a:ln>
        </p:spPr>
        <p:txBody>
          <a:bodyPr/>
          <a:lstStyle/>
          <a:p>
            <a:endParaRPr lang="ja-JP" altLang="en-US"/>
          </a:p>
        </p:txBody>
      </p:sp>
      <p:sp>
        <p:nvSpPr>
          <p:cNvPr id="3" name="Text 1"/>
          <p:cNvSpPr txBox="1"/>
          <p:nvPr/>
        </p:nvSpPr>
        <p:spPr>
          <a:xfrm>
            <a:off x="1005840" y="2331720"/>
            <a:ext cx="7315200" cy="292608"/>
          </a:xfrm>
          <a:prstGeom prst="rect">
            <a:avLst/>
          </a:prstGeom>
          <a:noFill/>
          <a:ln/>
        </p:spPr>
        <p:txBody>
          <a:bodyPr wrap="square" lIns="0" tIns="0" rIns="0" bIns="0" rtlCol="0" anchor="ctr"/>
          <a:lstStyle/>
          <a:p>
            <a:pPr marL="0" indent="0">
              <a:buNone/>
            </a:pPr>
            <a:r>
              <a:rPr lang="en-US" sz="1300" b="1" kern="0" spc="300" dirty="0">
                <a:solidFill>
                  <a:srgbClr val="CADCFC"/>
                </a:solidFill>
                <a:latin typeface="Calibri" pitchFamily="34" charset="0"/>
                <a:ea typeface="Calibri" pitchFamily="34" charset="-122"/>
                <a:cs typeface="Calibri" pitchFamily="34" charset="-120"/>
              </a:rPr>
              <a:t>APPENDIX</a:t>
            </a:r>
            <a:endParaRPr lang="en-US" sz="1300" dirty="0"/>
          </a:p>
        </p:txBody>
      </p:sp>
      <p:sp>
        <p:nvSpPr>
          <p:cNvPr id="4" name="Text 2"/>
          <p:cNvSpPr txBox="1"/>
          <p:nvPr/>
        </p:nvSpPr>
        <p:spPr>
          <a:xfrm>
            <a:off x="1005840" y="2724912"/>
            <a:ext cx="7315200" cy="804672"/>
          </a:xfrm>
          <a:prstGeom prst="rect">
            <a:avLst/>
          </a:prstGeom>
          <a:noFill/>
          <a:ln/>
        </p:spPr>
        <p:txBody>
          <a:bodyPr wrap="square" lIns="0" tIns="0" rIns="0" bIns="0" rtlCol="0" anchor="ctr"/>
          <a:lstStyle/>
          <a:p>
            <a:pPr marL="0" indent="0">
              <a:buNone/>
            </a:pPr>
            <a:r>
              <a:rPr lang="en-US" sz="3800" b="1" dirty="0">
                <a:solidFill>
                  <a:srgbClr val="FFFFFF"/>
                </a:solidFill>
                <a:latin typeface="游ゴシック" pitchFamily="34" charset="0"/>
                <a:ea typeface="游ゴシック" pitchFamily="34" charset="-122"/>
                <a:cs typeface="游ゴシック" pitchFamily="34" charset="-120"/>
              </a:rPr>
              <a:t>付録</a:t>
            </a:r>
            <a:endParaRPr lang="en-US" sz="3800" dirty="0"/>
          </a:p>
        </p:txBody>
      </p:sp>
      <p:sp>
        <p:nvSpPr>
          <p:cNvPr id="5" name="Text 3"/>
          <p:cNvSpPr txBox="1"/>
          <p:nvPr/>
        </p:nvSpPr>
        <p:spPr>
          <a:xfrm>
            <a:off x="1005840" y="3712464"/>
            <a:ext cx="7315200" cy="822960"/>
          </a:xfrm>
          <a:prstGeom prst="rect">
            <a:avLst/>
          </a:prstGeom>
          <a:noFill/>
          <a:ln/>
        </p:spPr>
        <p:txBody>
          <a:bodyPr wrap="square" lIns="0" tIns="0" rIns="0" bIns="0" rtlCol="0" anchor="ctr"/>
          <a:lstStyle/>
          <a:p>
            <a:pPr marL="0" indent="0">
              <a:lnSpc>
                <a:spcPct val="140000"/>
              </a:lnSpc>
              <a:buNone/>
            </a:pPr>
            <a:r>
              <a:rPr lang="en-US" sz="1700" dirty="0">
                <a:solidFill>
                  <a:srgbClr val="CADCFC"/>
                </a:solidFill>
                <a:latin typeface="游ゴシック" pitchFamily="34" charset="0"/>
                <a:ea typeface="游ゴシック" pitchFamily="34" charset="-122"/>
                <a:cs typeface="游ゴシック" pitchFamily="34" charset="-120"/>
              </a:rPr>
              <a:t>A-1 〜 A-3　構造化の詳細</a:t>
            </a:r>
            <a:endParaRPr lang="en-US" sz="1700" dirty="0"/>
          </a:p>
          <a:p>
            <a:pPr marL="0" indent="0">
              <a:lnSpc>
                <a:spcPct val="140000"/>
              </a:lnSpc>
              <a:buNone/>
            </a:pPr>
            <a:r>
              <a:rPr lang="en-US" sz="1700" dirty="0">
                <a:solidFill>
                  <a:srgbClr val="CADCFC"/>
                </a:solidFill>
                <a:latin typeface="游ゴシック" pitchFamily="34" charset="0"/>
                <a:ea typeface="游ゴシック" pitchFamily="34" charset="-122"/>
                <a:cs typeface="游ゴシック" pitchFamily="34" charset="-120"/>
              </a:rPr>
              <a:t>A-4 〜 A-6　構造比較の詳細</a:t>
            </a:r>
            <a:endParaRPr lang="en-US" sz="1700" dirty="0"/>
          </a:p>
        </p:txBody>
      </p:sp>
      <p:sp>
        <p:nvSpPr>
          <p:cNvPr id="6" name="Text 4"/>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CADCF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A-1 ／ 構造化の詳細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ノウハウを、7種類の点と、その間の接続で表す</a:t>
            </a:r>
            <a:endParaRPr lang="en-US" sz="2500" dirty="0"/>
          </a:p>
        </p:txBody>
      </p:sp>
      <p:sp>
        <p:nvSpPr>
          <p:cNvPr id="4" name="Text 2"/>
          <p:cNvSpPr txBox="1"/>
          <p:nvPr/>
        </p:nvSpPr>
        <p:spPr>
          <a:xfrm>
            <a:off x="658368" y="1170432"/>
            <a:ext cx="5989320"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ノードの7種類</a:t>
            </a:r>
            <a:endParaRPr lang="en-US" sz="1400" dirty="0"/>
          </a:p>
        </p:txBody>
      </p:sp>
      <p:sp>
        <p:nvSpPr>
          <p:cNvPr id="5" name="Shape 3"/>
          <p:cNvSpPr/>
          <p:nvPr/>
        </p:nvSpPr>
        <p:spPr>
          <a:xfrm>
            <a:off x="658368" y="1536192"/>
            <a:ext cx="5989320" cy="4069080"/>
          </a:xfrm>
          <a:prstGeom prst="roundRect">
            <a:avLst>
              <a:gd name="adj" fmla="val 1798"/>
            </a:avLst>
          </a:prstGeom>
          <a:solidFill>
            <a:srgbClr val="F5F8FA"/>
          </a:solidFill>
          <a:ln w="12700">
            <a:solidFill>
              <a:srgbClr val="333333"/>
            </a:solidFill>
            <a:prstDash val="solid"/>
          </a:ln>
        </p:spPr>
        <p:txBody>
          <a:bodyPr/>
          <a:lstStyle/>
          <a:p>
            <a:endParaRPr lang="ja-JP" altLang="en-US"/>
          </a:p>
        </p:txBody>
      </p:sp>
      <p:sp>
        <p:nvSpPr>
          <p:cNvPr id="6" name="Text 4"/>
          <p:cNvSpPr txBox="1"/>
          <p:nvPr/>
        </p:nvSpPr>
        <p:spPr>
          <a:xfrm>
            <a:off x="969264" y="1792224"/>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ENTITY</a:t>
            </a:r>
            <a:endParaRPr lang="en-US" sz="1250" dirty="0"/>
          </a:p>
        </p:txBody>
      </p:sp>
      <p:sp>
        <p:nvSpPr>
          <p:cNvPr id="7" name="Text 5"/>
          <p:cNvSpPr txBox="1"/>
          <p:nvPr/>
        </p:nvSpPr>
        <p:spPr>
          <a:xfrm>
            <a:off x="2395728" y="1792224"/>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対象。物・人・集団・活動・システムなど</a:t>
            </a:r>
            <a:endParaRPr lang="en-US" sz="1250" dirty="0"/>
          </a:p>
        </p:txBody>
      </p:sp>
      <p:sp>
        <p:nvSpPr>
          <p:cNvPr id="8" name="Text 6"/>
          <p:cNvSpPr txBox="1"/>
          <p:nvPr/>
        </p:nvSpPr>
        <p:spPr>
          <a:xfrm>
            <a:off x="969264" y="2304288"/>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ACTION</a:t>
            </a:r>
            <a:endParaRPr lang="en-US" sz="1250" dirty="0"/>
          </a:p>
        </p:txBody>
      </p:sp>
      <p:sp>
        <p:nvSpPr>
          <p:cNvPr id="9" name="Text 7"/>
          <p:cNvSpPr txBox="1"/>
          <p:nvPr/>
        </p:nvSpPr>
        <p:spPr>
          <a:xfrm>
            <a:off x="2395728" y="2304288"/>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行う操作・働きかけ</a:t>
            </a:r>
            <a:endParaRPr lang="en-US" sz="1250" dirty="0"/>
          </a:p>
        </p:txBody>
      </p:sp>
      <p:sp>
        <p:nvSpPr>
          <p:cNvPr id="10" name="Text 8"/>
          <p:cNvSpPr txBox="1"/>
          <p:nvPr/>
        </p:nvSpPr>
        <p:spPr>
          <a:xfrm>
            <a:off x="969264" y="2816352"/>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QUANTITY</a:t>
            </a:r>
            <a:endParaRPr lang="en-US" sz="1250" dirty="0"/>
          </a:p>
        </p:txBody>
      </p:sp>
      <p:sp>
        <p:nvSpPr>
          <p:cNvPr id="11" name="Text 9"/>
          <p:cNvSpPr txBox="1"/>
          <p:nvPr/>
        </p:nvSpPr>
        <p:spPr>
          <a:xfrm>
            <a:off x="2395728" y="2816352"/>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ある対象について測る量・属性</a:t>
            </a:r>
            <a:endParaRPr lang="en-US" sz="1250" dirty="0"/>
          </a:p>
        </p:txBody>
      </p:sp>
      <p:sp>
        <p:nvSpPr>
          <p:cNvPr id="12" name="Text 10"/>
          <p:cNvSpPr txBox="1"/>
          <p:nvPr/>
        </p:nvSpPr>
        <p:spPr>
          <a:xfrm>
            <a:off x="969264" y="3328416"/>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CHANGE</a:t>
            </a:r>
            <a:endParaRPr lang="en-US" sz="1250" dirty="0"/>
          </a:p>
        </p:txBody>
      </p:sp>
      <p:sp>
        <p:nvSpPr>
          <p:cNvPr id="13" name="Text 11"/>
          <p:cNvSpPr txBox="1"/>
          <p:nvPr/>
        </p:nvSpPr>
        <p:spPr>
          <a:xfrm>
            <a:off x="2395728" y="3328416"/>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量の変化（増加／減少）</a:t>
            </a:r>
            <a:endParaRPr lang="en-US" sz="1250" dirty="0"/>
          </a:p>
        </p:txBody>
      </p:sp>
      <p:sp>
        <p:nvSpPr>
          <p:cNvPr id="14" name="Text 12"/>
          <p:cNvSpPr txBox="1"/>
          <p:nvPr/>
        </p:nvSpPr>
        <p:spPr>
          <a:xfrm>
            <a:off x="969264" y="3840480"/>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STATE</a:t>
            </a:r>
            <a:endParaRPr lang="en-US" sz="1250" dirty="0"/>
          </a:p>
        </p:txBody>
      </p:sp>
      <p:sp>
        <p:nvSpPr>
          <p:cNvPr id="15" name="Text 13"/>
          <p:cNvSpPr txBox="1"/>
          <p:nvPr/>
        </p:nvSpPr>
        <p:spPr>
          <a:xfrm>
            <a:off x="2395728" y="3840480"/>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対象の状態、または量と値の比較</a:t>
            </a:r>
            <a:endParaRPr lang="en-US" sz="1250" dirty="0"/>
          </a:p>
        </p:txBody>
      </p:sp>
      <p:sp>
        <p:nvSpPr>
          <p:cNvPr id="16" name="Text 14"/>
          <p:cNvSpPr txBox="1"/>
          <p:nvPr/>
        </p:nvSpPr>
        <p:spPr>
          <a:xfrm>
            <a:off x="969264" y="4352544"/>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CLAIM</a:t>
            </a:r>
            <a:endParaRPr lang="en-US" sz="1250" dirty="0"/>
          </a:p>
        </p:txBody>
      </p:sp>
      <p:sp>
        <p:nvSpPr>
          <p:cNvPr id="17" name="Text 15"/>
          <p:cNvSpPr txBox="1"/>
          <p:nvPr/>
        </p:nvSpPr>
        <p:spPr>
          <a:xfrm>
            <a:off x="2395728" y="4352544"/>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因果などの意味関係そのもの</a:t>
            </a:r>
            <a:endParaRPr lang="en-US" sz="1250" dirty="0"/>
          </a:p>
        </p:txBody>
      </p:sp>
      <p:sp>
        <p:nvSpPr>
          <p:cNvPr id="18" name="Text 16"/>
          <p:cNvSpPr txBox="1"/>
          <p:nvPr/>
        </p:nvSpPr>
        <p:spPr>
          <a:xfrm>
            <a:off x="969264" y="4864608"/>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LOGIC</a:t>
            </a:r>
            <a:endParaRPr lang="en-US" sz="1250" dirty="0"/>
          </a:p>
        </p:txBody>
      </p:sp>
      <p:sp>
        <p:nvSpPr>
          <p:cNvPr id="19" name="Text 17"/>
          <p:cNvSpPr txBox="1"/>
          <p:nvPr/>
        </p:nvSpPr>
        <p:spPr>
          <a:xfrm>
            <a:off x="2395728" y="4864608"/>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明示された AND / OR / NOT のまとまり</a:t>
            </a:r>
            <a:endParaRPr lang="en-US" sz="1250" dirty="0"/>
          </a:p>
        </p:txBody>
      </p:sp>
      <p:sp>
        <p:nvSpPr>
          <p:cNvPr id="20" name="Text 18"/>
          <p:cNvSpPr txBox="1"/>
          <p:nvPr/>
        </p:nvSpPr>
        <p:spPr>
          <a:xfrm>
            <a:off x="6931152" y="1170432"/>
            <a:ext cx="4599432"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関係そのものを、1つの点として置く</a:t>
            </a:r>
            <a:endParaRPr lang="en-US" sz="1400" dirty="0"/>
          </a:p>
        </p:txBody>
      </p:sp>
      <p:sp>
        <p:nvSpPr>
          <p:cNvPr id="21" name="Shape 19"/>
          <p:cNvSpPr/>
          <p:nvPr/>
        </p:nvSpPr>
        <p:spPr>
          <a:xfrm>
            <a:off x="6931152" y="1536192"/>
            <a:ext cx="4599432" cy="1783080"/>
          </a:xfrm>
          <a:prstGeom prst="roundRect">
            <a:avLst>
              <a:gd name="adj" fmla="val 4103"/>
            </a:avLst>
          </a:prstGeom>
          <a:solidFill>
            <a:srgbClr val="0E2841"/>
          </a:solidFill>
          <a:ln w="12700">
            <a:solidFill>
              <a:srgbClr val="333333"/>
            </a:solidFill>
            <a:prstDash val="solid"/>
          </a:ln>
        </p:spPr>
        <p:txBody>
          <a:bodyPr/>
          <a:lstStyle/>
          <a:p>
            <a:endParaRPr lang="ja-JP" altLang="en-US"/>
          </a:p>
        </p:txBody>
      </p:sp>
      <p:sp>
        <p:nvSpPr>
          <p:cNvPr id="22" name="Text 20"/>
          <p:cNvSpPr txBox="1"/>
          <p:nvPr/>
        </p:nvSpPr>
        <p:spPr>
          <a:xfrm>
            <a:off x="7242048" y="1755648"/>
            <a:ext cx="3977640" cy="1371600"/>
          </a:xfrm>
          <a:prstGeom prst="rect">
            <a:avLst/>
          </a:prstGeom>
          <a:noFill/>
          <a:ln/>
        </p:spPr>
        <p:txBody>
          <a:bodyPr wrap="square" lIns="0" tIns="0" rIns="0" bIns="0" rtlCol="0" anchor="ctr"/>
          <a:lstStyle/>
          <a:p>
            <a:pPr marL="0" indent="0">
              <a:lnSpc>
                <a:spcPct val="140000"/>
              </a:lnSpc>
              <a:buNone/>
            </a:pPr>
            <a:r>
              <a:rPr lang="en-US" sz="1250" b="1" dirty="0">
                <a:solidFill>
                  <a:srgbClr val="FFFFFF"/>
                </a:solidFill>
                <a:latin typeface="游ゴシック" pitchFamily="34" charset="0"/>
                <a:ea typeface="游ゴシック" pitchFamily="34" charset="-122"/>
                <a:cs typeface="游ゴシック" pitchFamily="34" charset="-120"/>
              </a:rPr>
              <a:t>CLAIM［CAUSES］</a:t>
            </a:r>
            <a:endParaRPr lang="en-US" sz="1250" dirty="0"/>
          </a:p>
          <a:p>
            <a:pPr marL="0" indent="0">
              <a:lnSpc>
                <a:spcPct val="140000"/>
              </a:lnSpc>
              <a:buNone/>
            </a:pPr>
            <a:r>
              <a:rPr lang="en-US" sz="1250" dirty="0">
                <a:solidFill>
                  <a:srgbClr val="CADCFC"/>
                </a:solidFill>
                <a:latin typeface="游ゴシック" pitchFamily="34" charset="0"/>
                <a:ea typeface="游ゴシック" pitchFamily="34" charset="-122"/>
                <a:cs typeface="游ゴシック" pitchFamily="34" charset="-120"/>
              </a:rPr>
              <a:t>　├ FROM　　　→　ACTION（原因側）</a:t>
            </a:r>
            <a:endParaRPr lang="en-US" sz="1250" dirty="0"/>
          </a:p>
          <a:p>
            <a:pPr marL="0" indent="0">
              <a:lnSpc>
                <a:spcPct val="140000"/>
              </a:lnSpc>
              <a:buNone/>
            </a:pPr>
            <a:r>
              <a:rPr lang="en-US" sz="1250" dirty="0">
                <a:solidFill>
                  <a:srgbClr val="CADCFC"/>
                </a:solidFill>
                <a:latin typeface="游ゴシック" pitchFamily="34" charset="0"/>
                <a:ea typeface="游ゴシック" pitchFamily="34" charset="-122"/>
                <a:cs typeface="游ゴシック" pitchFamily="34" charset="-120"/>
              </a:rPr>
              <a:t>　├ TO　　　　→　CHANGE（結果側）</a:t>
            </a:r>
            <a:endParaRPr lang="en-US" sz="1250" dirty="0"/>
          </a:p>
          <a:p>
            <a:pPr marL="0" indent="0">
              <a:lnSpc>
                <a:spcPct val="140000"/>
              </a:lnSpc>
              <a:buNone/>
            </a:pPr>
            <a:r>
              <a:rPr lang="en-US" sz="1250" dirty="0">
                <a:solidFill>
                  <a:srgbClr val="CADCFC"/>
                </a:solidFill>
                <a:latin typeface="游ゴシック" pitchFamily="34" charset="0"/>
                <a:ea typeface="游ゴシック" pitchFamily="34" charset="-122"/>
                <a:cs typeface="游ゴシック" pitchFamily="34" charset="-120"/>
              </a:rPr>
              <a:t>　└ CONDITION →　STATE（成立条件）</a:t>
            </a:r>
            <a:endParaRPr lang="en-US" sz="1250" dirty="0"/>
          </a:p>
        </p:txBody>
      </p:sp>
      <p:sp>
        <p:nvSpPr>
          <p:cNvPr id="23" name="Text 21"/>
          <p:cNvSpPr txBox="1"/>
          <p:nvPr/>
        </p:nvSpPr>
        <p:spPr>
          <a:xfrm>
            <a:off x="6931152" y="3456432"/>
            <a:ext cx="4599432" cy="548640"/>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関係を点にすると、成立条件や「〜のことがある」を、関係そのものに結びつけて残せる</a:t>
            </a:r>
            <a:endParaRPr lang="en-US" sz="1200" dirty="0"/>
          </a:p>
        </p:txBody>
      </p:sp>
      <p:sp>
        <p:nvSpPr>
          <p:cNvPr id="24" name="Text 22"/>
          <p:cNvSpPr txBox="1"/>
          <p:nvPr/>
        </p:nvSpPr>
        <p:spPr>
          <a:xfrm>
            <a:off x="6931152" y="4096512"/>
            <a:ext cx="4599432"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関係の種類（5つ）</a:t>
            </a:r>
            <a:endParaRPr lang="en-US" sz="1400" dirty="0"/>
          </a:p>
        </p:txBody>
      </p:sp>
      <p:sp>
        <p:nvSpPr>
          <p:cNvPr id="25" name="Shape 23"/>
          <p:cNvSpPr/>
          <p:nvPr/>
        </p:nvSpPr>
        <p:spPr>
          <a:xfrm>
            <a:off x="6931152" y="4407408"/>
            <a:ext cx="4599432" cy="1298448"/>
          </a:xfrm>
          <a:prstGeom prst="roundRect">
            <a:avLst>
              <a:gd name="adj" fmla="val 5634"/>
            </a:avLst>
          </a:prstGeom>
          <a:solidFill>
            <a:srgbClr val="EEF5F8"/>
          </a:solidFill>
          <a:ln w="12700">
            <a:solidFill>
              <a:srgbClr val="333333"/>
            </a:solidFill>
            <a:prstDash val="solid"/>
          </a:ln>
        </p:spPr>
        <p:txBody>
          <a:bodyPr/>
          <a:lstStyle/>
          <a:p>
            <a:endParaRPr lang="ja-JP" altLang="en-US"/>
          </a:p>
        </p:txBody>
      </p:sp>
      <p:sp>
        <p:nvSpPr>
          <p:cNvPr id="26" name="Text 24"/>
          <p:cNvSpPr txBox="1"/>
          <p:nvPr/>
        </p:nvSpPr>
        <p:spPr>
          <a:xfrm>
            <a:off x="7205472" y="4535424"/>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CAUSES</a:t>
            </a:r>
            <a:endParaRPr lang="en-US" sz="1050" dirty="0"/>
          </a:p>
        </p:txBody>
      </p:sp>
      <p:sp>
        <p:nvSpPr>
          <p:cNvPr id="27" name="Text 25"/>
          <p:cNvSpPr txBox="1"/>
          <p:nvPr/>
        </p:nvSpPr>
        <p:spPr>
          <a:xfrm>
            <a:off x="8394192" y="4535424"/>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原因 → 結果</a:t>
            </a:r>
            <a:endParaRPr lang="en-US" sz="1050" dirty="0"/>
          </a:p>
        </p:txBody>
      </p:sp>
      <p:sp>
        <p:nvSpPr>
          <p:cNvPr id="28" name="Text 26"/>
          <p:cNvSpPr txBox="1"/>
          <p:nvPr/>
        </p:nvSpPr>
        <p:spPr>
          <a:xfrm>
            <a:off x="7205472" y="4759452"/>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SIGNALS</a:t>
            </a:r>
            <a:endParaRPr lang="en-US" sz="1050" dirty="0"/>
          </a:p>
        </p:txBody>
      </p:sp>
      <p:sp>
        <p:nvSpPr>
          <p:cNvPr id="29" name="Text 27"/>
          <p:cNvSpPr txBox="1"/>
          <p:nvPr/>
        </p:nvSpPr>
        <p:spPr>
          <a:xfrm>
            <a:off x="8394192" y="4759452"/>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手がかり → 示すもの</a:t>
            </a:r>
            <a:endParaRPr lang="en-US" sz="1050" dirty="0"/>
          </a:p>
        </p:txBody>
      </p:sp>
      <p:sp>
        <p:nvSpPr>
          <p:cNvPr id="30" name="Text 28"/>
          <p:cNvSpPr txBox="1"/>
          <p:nvPr/>
        </p:nvSpPr>
        <p:spPr>
          <a:xfrm>
            <a:off x="7205472" y="4983480"/>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REQUIRES</a:t>
            </a:r>
            <a:endParaRPr lang="en-US" sz="1050" dirty="0"/>
          </a:p>
        </p:txBody>
      </p:sp>
      <p:sp>
        <p:nvSpPr>
          <p:cNvPr id="31" name="Text 29"/>
          <p:cNvSpPr txBox="1"/>
          <p:nvPr/>
        </p:nvSpPr>
        <p:spPr>
          <a:xfrm>
            <a:off x="8394192" y="4983480"/>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成立に必要なもの</a:t>
            </a:r>
            <a:endParaRPr lang="en-US" sz="1050" dirty="0"/>
          </a:p>
        </p:txBody>
      </p:sp>
      <p:sp>
        <p:nvSpPr>
          <p:cNvPr id="32" name="Text 30"/>
          <p:cNvSpPr txBox="1"/>
          <p:nvPr/>
        </p:nvSpPr>
        <p:spPr>
          <a:xfrm>
            <a:off x="7205472" y="5207508"/>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PREVENTS</a:t>
            </a:r>
            <a:endParaRPr lang="en-US" sz="1050" dirty="0"/>
          </a:p>
        </p:txBody>
      </p:sp>
      <p:sp>
        <p:nvSpPr>
          <p:cNvPr id="33" name="Text 31"/>
          <p:cNvSpPr txBox="1"/>
          <p:nvPr/>
        </p:nvSpPr>
        <p:spPr>
          <a:xfrm>
            <a:off x="8394192" y="5207508"/>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防ぐ側 → 防がれる出来事</a:t>
            </a:r>
            <a:endParaRPr lang="en-US" sz="1050" dirty="0"/>
          </a:p>
        </p:txBody>
      </p:sp>
      <p:sp>
        <p:nvSpPr>
          <p:cNvPr id="34" name="Text 32"/>
          <p:cNvSpPr txBox="1"/>
          <p:nvPr/>
        </p:nvSpPr>
        <p:spPr>
          <a:xfrm>
            <a:off x="7205472" y="5431536"/>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PRECEDES</a:t>
            </a:r>
            <a:endParaRPr lang="en-US" sz="1050" dirty="0"/>
          </a:p>
        </p:txBody>
      </p:sp>
      <p:sp>
        <p:nvSpPr>
          <p:cNvPr id="35" name="Text 33"/>
          <p:cNvSpPr txBox="1"/>
          <p:nvPr/>
        </p:nvSpPr>
        <p:spPr>
          <a:xfrm>
            <a:off x="8394192" y="5431536"/>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先行 → 後続（因果ではない）</a:t>
            </a:r>
            <a:endParaRPr lang="en-US" sz="1050" dirty="0"/>
          </a:p>
        </p:txBody>
      </p:sp>
      <p:sp>
        <p:nvSpPr>
          <p:cNvPr id="36" name="Text 34"/>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A-2 ／ 構造化の詳細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1件ごとに、意味を決める情報を明示して残す</a:t>
            </a:r>
            <a:endParaRPr lang="en-US" sz="2500" dirty="0"/>
          </a:p>
        </p:txBody>
      </p:sp>
      <p:sp>
        <p:nvSpPr>
          <p:cNvPr id="4" name="Shape 2"/>
          <p:cNvSpPr/>
          <p:nvPr/>
        </p:nvSpPr>
        <p:spPr>
          <a:xfrm>
            <a:off x="658368" y="1417320"/>
            <a:ext cx="3417113" cy="2395728"/>
          </a:xfrm>
          <a:prstGeom prst="roundRect">
            <a:avLst>
              <a:gd name="adj" fmla="val 3053"/>
            </a:avLst>
          </a:prstGeom>
          <a:solidFill>
            <a:srgbClr val="F5F8FA"/>
          </a:solidFill>
          <a:ln w="12700">
            <a:solidFill>
              <a:srgbClr val="333333"/>
            </a:solidFill>
            <a:prstDash val="solid"/>
          </a:ln>
        </p:spPr>
        <p:txBody>
          <a:bodyPr/>
          <a:lstStyle/>
          <a:p>
            <a:endParaRPr lang="ja-JP" altLang="en-US"/>
          </a:p>
        </p:txBody>
      </p:sp>
      <p:sp>
        <p:nvSpPr>
          <p:cNvPr id="5" name="Text 3"/>
          <p:cNvSpPr txBox="1"/>
          <p:nvPr/>
        </p:nvSpPr>
        <p:spPr>
          <a:xfrm>
            <a:off x="969264" y="1664208"/>
            <a:ext cx="2795321" cy="256032"/>
          </a:xfrm>
          <a:prstGeom prst="rect">
            <a:avLst/>
          </a:prstGeom>
          <a:noFill/>
          <a:ln/>
        </p:spPr>
        <p:txBody>
          <a:bodyPr wrap="square" lIns="0" tIns="0" rIns="0" bIns="0" rtlCol="0" anchor="ctr"/>
          <a:lstStyle/>
          <a:p>
            <a:pPr marL="0" indent="0">
              <a:buNone/>
            </a:pPr>
            <a:r>
              <a:rPr lang="en-US" sz="1150" b="1" kern="0" spc="150" dirty="0">
                <a:solidFill>
                  <a:srgbClr val="156082"/>
                </a:solidFill>
                <a:latin typeface="Calibri" pitchFamily="34" charset="0"/>
                <a:ea typeface="Calibri" pitchFamily="34" charset="-122"/>
                <a:cs typeface="Calibri" pitchFamily="34" charset="-120"/>
              </a:rPr>
              <a:t>POLARITY</a:t>
            </a:r>
            <a:endParaRPr lang="en-US" sz="1150" dirty="0"/>
          </a:p>
        </p:txBody>
      </p:sp>
      <p:sp>
        <p:nvSpPr>
          <p:cNvPr id="6" name="Text 4"/>
          <p:cNvSpPr txBox="1"/>
          <p:nvPr/>
        </p:nvSpPr>
        <p:spPr>
          <a:xfrm>
            <a:off x="969264" y="1938528"/>
            <a:ext cx="2795321" cy="329184"/>
          </a:xfrm>
          <a:prstGeom prst="rect">
            <a:avLst/>
          </a:prstGeom>
          <a:noFill/>
          <a:ln/>
        </p:spPr>
        <p:txBody>
          <a:bodyPr wrap="square" lIns="0" tIns="0" rIns="0" bIns="0" rtlCol="0" anchor="ctr"/>
          <a:lstStyle/>
          <a:p>
            <a:pPr marL="0" indent="0">
              <a:buNone/>
            </a:pPr>
            <a:r>
              <a:rPr lang="en-US" sz="1550" b="1" dirty="0">
                <a:solidFill>
                  <a:srgbClr val="1B2733"/>
                </a:solidFill>
                <a:latin typeface="游ゴシック" pitchFamily="34" charset="0"/>
                <a:ea typeface="游ゴシック" pitchFamily="34" charset="-122"/>
                <a:cs typeface="游ゴシック" pitchFamily="34" charset="-120"/>
              </a:rPr>
              <a:t>肯定か、否定か</a:t>
            </a:r>
            <a:endParaRPr lang="en-US" sz="1550" dirty="0"/>
          </a:p>
        </p:txBody>
      </p:sp>
      <p:sp>
        <p:nvSpPr>
          <p:cNvPr id="7" name="Text 5"/>
          <p:cNvSpPr txBox="1"/>
          <p:nvPr/>
        </p:nvSpPr>
        <p:spPr>
          <a:xfrm>
            <a:off x="969264" y="2359152"/>
            <a:ext cx="2795321" cy="768096"/>
          </a:xfrm>
          <a:prstGeom prst="rect">
            <a:avLst/>
          </a:prstGeom>
          <a:noFill/>
          <a:ln/>
        </p:spPr>
        <p:txBody>
          <a:bodyPr wrap="square" lIns="0" tIns="0" rIns="0" bIns="0" rtlCol="0" anchor="ctr"/>
          <a:lstStyle/>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POSITIVE ／ NEGATIVE</a:t>
            </a:r>
            <a:endParaRPr lang="en-US" sz="1150" dirty="0"/>
          </a:p>
        </p:txBody>
      </p:sp>
      <p:sp>
        <p:nvSpPr>
          <p:cNvPr id="8" name="Text 6"/>
          <p:cNvSpPr txBox="1"/>
          <p:nvPr/>
        </p:nvSpPr>
        <p:spPr>
          <a:xfrm>
            <a:off x="969264" y="3145536"/>
            <a:ext cx="2795321" cy="548640"/>
          </a:xfrm>
          <a:prstGeom prst="rect">
            <a:avLst/>
          </a:prstGeom>
          <a:noFill/>
          <a:ln/>
        </p:spPr>
        <p:txBody>
          <a:bodyPr wrap="square" lIns="0" tIns="0" rIns="0" bIns="0" rtlCol="0" anchor="ctr"/>
          <a:lstStyle/>
          <a:p>
            <a:pPr marL="0" indent="0">
              <a:lnSpc>
                <a:spcPct val="130000"/>
              </a:lnSpc>
              <a:buNone/>
            </a:pPr>
            <a:r>
              <a:rPr lang="en-US" sz="1150" dirty="0">
                <a:solidFill>
                  <a:srgbClr val="32414E"/>
                </a:solidFill>
                <a:latin typeface="游ゴシック" pitchFamily="34" charset="0"/>
                <a:ea typeface="游ゴシック" pitchFamily="34" charset="-122"/>
                <a:cs typeface="游ゴシック" pitchFamily="34" charset="-120"/>
              </a:rPr>
              <a:t>「時間が増える」と「時間が増えない」を別のものとして残す</a:t>
            </a:r>
            <a:endParaRPr lang="en-US" sz="1150" dirty="0"/>
          </a:p>
        </p:txBody>
      </p:sp>
      <p:sp>
        <p:nvSpPr>
          <p:cNvPr id="9" name="Shape 7"/>
          <p:cNvSpPr/>
          <p:nvPr/>
        </p:nvSpPr>
        <p:spPr>
          <a:xfrm>
            <a:off x="4386377" y="1417320"/>
            <a:ext cx="3417113" cy="2395728"/>
          </a:xfrm>
          <a:prstGeom prst="roundRect">
            <a:avLst>
              <a:gd name="adj" fmla="val 3053"/>
            </a:avLst>
          </a:prstGeom>
          <a:solidFill>
            <a:srgbClr val="F5F8FA"/>
          </a:solidFill>
          <a:ln w="12700">
            <a:solidFill>
              <a:srgbClr val="333333"/>
            </a:solidFill>
            <a:prstDash val="solid"/>
          </a:ln>
        </p:spPr>
        <p:txBody>
          <a:bodyPr/>
          <a:lstStyle/>
          <a:p>
            <a:endParaRPr lang="ja-JP" altLang="en-US"/>
          </a:p>
        </p:txBody>
      </p:sp>
      <p:sp>
        <p:nvSpPr>
          <p:cNvPr id="10" name="Text 8"/>
          <p:cNvSpPr txBox="1"/>
          <p:nvPr/>
        </p:nvSpPr>
        <p:spPr>
          <a:xfrm>
            <a:off x="4697273" y="1664208"/>
            <a:ext cx="2795321" cy="256032"/>
          </a:xfrm>
          <a:prstGeom prst="rect">
            <a:avLst/>
          </a:prstGeom>
          <a:noFill/>
          <a:ln/>
        </p:spPr>
        <p:txBody>
          <a:bodyPr wrap="square" lIns="0" tIns="0" rIns="0" bIns="0" rtlCol="0" anchor="ctr"/>
          <a:lstStyle/>
          <a:p>
            <a:pPr marL="0" indent="0">
              <a:buNone/>
            </a:pPr>
            <a:r>
              <a:rPr lang="en-US" sz="1150" b="1" kern="0" spc="150" dirty="0">
                <a:solidFill>
                  <a:srgbClr val="156082"/>
                </a:solidFill>
                <a:latin typeface="Calibri" pitchFamily="34" charset="0"/>
                <a:ea typeface="Calibri" pitchFamily="34" charset="-122"/>
                <a:cs typeface="Calibri" pitchFamily="34" charset="-120"/>
              </a:rPr>
              <a:t>MODALITY</a:t>
            </a:r>
            <a:endParaRPr lang="en-US" sz="1150" dirty="0"/>
          </a:p>
        </p:txBody>
      </p:sp>
      <p:sp>
        <p:nvSpPr>
          <p:cNvPr id="11" name="Text 9"/>
          <p:cNvSpPr txBox="1"/>
          <p:nvPr/>
        </p:nvSpPr>
        <p:spPr>
          <a:xfrm>
            <a:off x="4697273" y="1938528"/>
            <a:ext cx="2795321" cy="329184"/>
          </a:xfrm>
          <a:prstGeom prst="rect">
            <a:avLst/>
          </a:prstGeom>
          <a:noFill/>
          <a:ln/>
        </p:spPr>
        <p:txBody>
          <a:bodyPr wrap="square" lIns="0" tIns="0" rIns="0" bIns="0" rtlCol="0" anchor="ctr"/>
          <a:lstStyle/>
          <a:p>
            <a:pPr marL="0" indent="0">
              <a:buNone/>
            </a:pPr>
            <a:r>
              <a:rPr lang="en-US" sz="1550" b="1" dirty="0">
                <a:solidFill>
                  <a:srgbClr val="1B2733"/>
                </a:solidFill>
                <a:latin typeface="游ゴシック" pitchFamily="34" charset="0"/>
                <a:ea typeface="游ゴシック" pitchFamily="34" charset="-122"/>
                <a:cs typeface="游ゴシック" pitchFamily="34" charset="-120"/>
              </a:rPr>
              <a:t>どれくらい確からしいか</a:t>
            </a:r>
            <a:endParaRPr lang="en-US" sz="1550" dirty="0"/>
          </a:p>
        </p:txBody>
      </p:sp>
      <p:sp>
        <p:nvSpPr>
          <p:cNvPr id="12" name="Text 10"/>
          <p:cNvSpPr txBox="1"/>
          <p:nvPr/>
        </p:nvSpPr>
        <p:spPr>
          <a:xfrm>
            <a:off x="4697273" y="2359152"/>
            <a:ext cx="2795321" cy="768096"/>
          </a:xfrm>
          <a:prstGeom prst="rect">
            <a:avLst/>
          </a:prstGeom>
          <a:noFill/>
          <a:ln/>
        </p:spPr>
        <p:txBody>
          <a:bodyPr wrap="square" lIns="0" tIns="0" rIns="0" bIns="0" rtlCol="0" anchor="ctr"/>
          <a:lstStyle/>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ASSERTED ／ POSSIBLE</a:t>
            </a:r>
            <a:endParaRPr lang="en-US" sz="1150" dirty="0"/>
          </a:p>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TENDENCY ／ UNSPECIFIED</a:t>
            </a:r>
            <a:endParaRPr lang="en-US" sz="1150" dirty="0"/>
          </a:p>
        </p:txBody>
      </p:sp>
      <p:sp>
        <p:nvSpPr>
          <p:cNvPr id="13" name="Text 11"/>
          <p:cNvSpPr txBox="1"/>
          <p:nvPr/>
        </p:nvSpPr>
        <p:spPr>
          <a:xfrm>
            <a:off x="4697273" y="3145536"/>
            <a:ext cx="2795321" cy="548640"/>
          </a:xfrm>
          <a:prstGeom prst="rect">
            <a:avLst/>
          </a:prstGeom>
          <a:noFill/>
          <a:ln/>
        </p:spPr>
        <p:txBody>
          <a:bodyPr wrap="square" lIns="0" tIns="0" rIns="0" bIns="0" rtlCol="0" anchor="ctr"/>
          <a:lstStyle/>
          <a:p>
            <a:pPr marL="0" indent="0">
              <a:lnSpc>
                <a:spcPct val="130000"/>
              </a:lnSpc>
              <a:buNone/>
            </a:pPr>
            <a:r>
              <a:rPr lang="en-US" sz="1150" dirty="0">
                <a:solidFill>
                  <a:srgbClr val="32414E"/>
                </a:solidFill>
                <a:latin typeface="游ゴシック" pitchFamily="34" charset="0"/>
                <a:ea typeface="游ゴシック" pitchFamily="34" charset="-122"/>
                <a:cs typeface="游ゴシック" pitchFamily="34" charset="-120"/>
              </a:rPr>
              <a:t>「増える」と「増えることがある」を別のものとして残す</a:t>
            </a:r>
            <a:endParaRPr lang="en-US" sz="1150" dirty="0"/>
          </a:p>
        </p:txBody>
      </p:sp>
      <p:sp>
        <p:nvSpPr>
          <p:cNvPr id="14" name="Shape 12"/>
          <p:cNvSpPr/>
          <p:nvPr/>
        </p:nvSpPr>
        <p:spPr>
          <a:xfrm>
            <a:off x="8114386" y="1417320"/>
            <a:ext cx="3417113" cy="2395728"/>
          </a:xfrm>
          <a:prstGeom prst="roundRect">
            <a:avLst>
              <a:gd name="adj" fmla="val 3053"/>
            </a:avLst>
          </a:prstGeom>
          <a:solidFill>
            <a:srgbClr val="F5F8FA"/>
          </a:solidFill>
          <a:ln w="12700">
            <a:solidFill>
              <a:srgbClr val="333333"/>
            </a:solidFill>
            <a:prstDash val="solid"/>
          </a:ln>
        </p:spPr>
        <p:txBody>
          <a:bodyPr/>
          <a:lstStyle/>
          <a:p>
            <a:endParaRPr lang="ja-JP" altLang="en-US"/>
          </a:p>
        </p:txBody>
      </p:sp>
      <p:sp>
        <p:nvSpPr>
          <p:cNvPr id="15" name="Text 13"/>
          <p:cNvSpPr txBox="1"/>
          <p:nvPr/>
        </p:nvSpPr>
        <p:spPr>
          <a:xfrm>
            <a:off x="8425282" y="1664208"/>
            <a:ext cx="2795321" cy="256032"/>
          </a:xfrm>
          <a:prstGeom prst="rect">
            <a:avLst/>
          </a:prstGeom>
          <a:noFill/>
          <a:ln/>
        </p:spPr>
        <p:txBody>
          <a:bodyPr wrap="square" lIns="0" tIns="0" rIns="0" bIns="0" rtlCol="0" anchor="ctr"/>
          <a:lstStyle/>
          <a:p>
            <a:pPr marL="0" indent="0">
              <a:buNone/>
            </a:pPr>
            <a:r>
              <a:rPr lang="en-US" sz="1150" b="1" kern="0" spc="150" dirty="0">
                <a:solidFill>
                  <a:srgbClr val="156082"/>
                </a:solidFill>
                <a:latin typeface="Calibri" pitchFamily="34" charset="0"/>
                <a:ea typeface="Calibri" pitchFamily="34" charset="-122"/>
                <a:cs typeface="Calibri" pitchFamily="34" charset="-120"/>
              </a:rPr>
              <a:t>CONTEXT</a:t>
            </a:r>
            <a:endParaRPr lang="en-US" sz="1150" dirty="0"/>
          </a:p>
        </p:txBody>
      </p:sp>
      <p:sp>
        <p:nvSpPr>
          <p:cNvPr id="16" name="Text 14"/>
          <p:cNvSpPr txBox="1"/>
          <p:nvPr/>
        </p:nvSpPr>
        <p:spPr>
          <a:xfrm>
            <a:off x="8425282" y="1938528"/>
            <a:ext cx="2795321" cy="329184"/>
          </a:xfrm>
          <a:prstGeom prst="rect">
            <a:avLst/>
          </a:prstGeom>
          <a:noFill/>
          <a:ln/>
        </p:spPr>
        <p:txBody>
          <a:bodyPr wrap="square" lIns="0" tIns="0" rIns="0" bIns="0" rtlCol="0" anchor="ctr"/>
          <a:lstStyle/>
          <a:p>
            <a:pPr marL="0" indent="0">
              <a:buNone/>
            </a:pPr>
            <a:r>
              <a:rPr lang="en-US" sz="1550" b="1" dirty="0">
                <a:solidFill>
                  <a:srgbClr val="1B2733"/>
                </a:solidFill>
                <a:latin typeface="游ゴシック" pitchFamily="34" charset="0"/>
                <a:ea typeface="游ゴシック" pitchFamily="34" charset="-122"/>
                <a:cs typeface="游ゴシック" pitchFamily="34" charset="-120"/>
              </a:rPr>
              <a:t>どの立場の記述か</a:t>
            </a:r>
            <a:endParaRPr lang="en-US" sz="1550" dirty="0"/>
          </a:p>
        </p:txBody>
      </p:sp>
      <p:sp>
        <p:nvSpPr>
          <p:cNvPr id="17" name="Text 15"/>
          <p:cNvSpPr txBox="1"/>
          <p:nvPr/>
        </p:nvSpPr>
        <p:spPr>
          <a:xfrm>
            <a:off x="8425282" y="2359152"/>
            <a:ext cx="2795321" cy="768096"/>
          </a:xfrm>
          <a:prstGeom prst="rect">
            <a:avLst/>
          </a:prstGeom>
          <a:noFill/>
          <a:ln/>
        </p:spPr>
        <p:txBody>
          <a:bodyPr wrap="square" lIns="0" tIns="0" rIns="0" bIns="0" rtlCol="0" anchor="ctr"/>
          <a:lstStyle/>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EPISODE ／ GENERAL</a:t>
            </a:r>
            <a:endParaRPr lang="en-US" sz="1150" dirty="0"/>
          </a:p>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CONDITIONAL ／ RECOMMENDATION</a:t>
            </a:r>
            <a:endParaRPr lang="en-US" sz="1150" dirty="0"/>
          </a:p>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GOAL ／ UNSPECIFIED</a:t>
            </a:r>
            <a:endParaRPr lang="en-US" sz="1150" dirty="0"/>
          </a:p>
        </p:txBody>
      </p:sp>
      <p:sp>
        <p:nvSpPr>
          <p:cNvPr id="18" name="Text 16"/>
          <p:cNvSpPr txBox="1"/>
          <p:nvPr/>
        </p:nvSpPr>
        <p:spPr>
          <a:xfrm>
            <a:off x="8425282" y="3145536"/>
            <a:ext cx="2795321" cy="548640"/>
          </a:xfrm>
          <a:prstGeom prst="rect">
            <a:avLst/>
          </a:prstGeom>
          <a:noFill/>
          <a:ln/>
        </p:spPr>
        <p:txBody>
          <a:bodyPr wrap="square" lIns="0" tIns="0" rIns="0" bIns="0" rtlCol="0" anchor="ctr"/>
          <a:lstStyle/>
          <a:p>
            <a:pPr marL="0" indent="0">
              <a:lnSpc>
                <a:spcPct val="130000"/>
              </a:lnSpc>
              <a:buNone/>
            </a:pPr>
            <a:r>
              <a:rPr lang="en-US" sz="1150" dirty="0">
                <a:solidFill>
                  <a:srgbClr val="32414E"/>
                </a:solidFill>
                <a:latin typeface="游ゴシック" pitchFamily="34" charset="0"/>
                <a:ea typeface="游ゴシック" pitchFamily="34" charset="-122"/>
                <a:cs typeface="游ゴシック" pitchFamily="34" charset="-120"/>
              </a:rPr>
              <a:t>「実施した」と「実施すべき」を別のものとして残す</a:t>
            </a:r>
            <a:endParaRPr lang="en-US" sz="1150" dirty="0"/>
          </a:p>
        </p:txBody>
      </p:sp>
      <p:sp>
        <p:nvSpPr>
          <p:cNvPr id="19" name="Shape 17"/>
          <p:cNvSpPr/>
          <p:nvPr/>
        </p:nvSpPr>
        <p:spPr>
          <a:xfrm>
            <a:off x="658368" y="4041648"/>
            <a:ext cx="10872216" cy="1700784"/>
          </a:xfrm>
          <a:prstGeom prst="roundRect">
            <a:avLst>
              <a:gd name="adj" fmla="val 4301"/>
            </a:avLst>
          </a:prstGeom>
          <a:solidFill>
            <a:srgbClr val="0E2841"/>
          </a:solidFill>
          <a:ln w="12700">
            <a:solidFill>
              <a:srgbClr val="333333"/>
            </a:solidFill>
            <a:prstDash val="solid"/>
          </a:ln>
        </p:spPr>
        <p:txBody>
          <a:bodyPr/>
          <a:lstStyle/>
          <a:p>
            <a:endParaRPr lang="ja-JP" altLang="en-US"/>
          </a:p>
        </p:txBody>
      </p:sp>
      <p:sp>
        <p:nvSpPr>
          <p:cNvPr id="20" name="Text 18"/>
          <p:cNvSpPr txBox="1"/>
          <p:nvPr/>
        </p:nvSpPr>
        <p:spPr>
          <a:xfrm>
            <a:off x="1042416" y="4242816"/>
            <a:ext cx="7315200" cy="292608"/>
          </a:xfrm>
          <a:prstGeom prst="rect">
            <a:avLst/>
          </a:prstGeom>
          <a:noFill/>
          <a:ln/>
        </p:spPr>
        <p:txBody>
          <a:bodyPr wrap="square" lIns="0" tIns="0" rIns="0" bIns="0" rtlCol="0" anchor="ctr"/>
          <a:lstStyle/>
          <a:p>
            <a:pPr marL="0" indent="0">
              <a:buNone/>
            </a:pPr>
            <a:r>
              <a:rPr lang="en-US" sz="1400" b="1" dirty="0">
                <a:solidFill>
                  <a:srgbClr val="CADCFC"/>
                </a:solidFill>
                <a:latin typeface="游ゴシック" pitchFamily="34" charset="0"/>
                <a:ea typeface="游ゴシック" pitchFamily="34" charset="-122"/>
                <a:cs typeface="游ゴシック" pitchFamily="34" charset="-120"/>
              </a:rPr>
              <a:t>共通の語彙（辞書）で、言葉づかいをそろえる</a:t>
            </a:r>
            <a:endParaRPr lang="en-US" sz="1400" dirty="0"/>
          </a:p>
        </p:txBody>
      </p:sp>
      <p:sp>
        <p:nvSpPr>
          <p:cNvPr id="21" name="Text 19"/>
          <p:cNvSpPr txBox="1"/>
          <p:nvPr/>
        </p:nvSpPr>
        <p:spPr>
          <a:xfrm>
            <a:off x="1042416" y="4590288"/>
            <a:ext cx="10058400" cy="1005840"/>
          </a:xfrm>
          <a:prstGeom prst="rect">
            <a:avLst/>
          </a:prstGeom>
          <a:noFill/>
          <a:ln/>
        </p:spPr>
        <p:txBody>
          <a:bodyPr wrap="square" lIns="0" tIns="0" rIns="0" bIns="0" rtlCol="0" anchor="ctr"/>
          <a:lstStyle/>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意味ごとに固定した概念IDを割り当てる（例：「追加する」→ core:action.add）</a:t>
            </a:r>
            <a:endParaRPr lang="en-US" sz="1250" dirty="0"/>
          </a:p>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似ていても違う意味は分ける（活動にかかる時間／使える時間／必要な時間は別の概念）</a:t>
            </a:r>
            <a:endParaRPr lang="en-US" sz="1250" dirty="0"/>
          </a:p>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辞書にない意味は無理に当てはめず、空のまま残し、辞書に追加する候補として記録する</a:t>
            </a:r>
            <a:endParaRPr lang="en-US" sz="1250" dirty="0"/>
          </a:p>
        </p:txBody>
      </p:sp>
      <p:sp>
        <p:nvSpPr>
          <p:cNvPr id="22" name="Text 20"/>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A-3 ／ 構造化の詳細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原文にないものを足さず、表せない部分も捨てない</a:t>
            </a:r>
            <a:endParaRPr lang="en-US" sz="2500" dirty="0"/>
          </a:p>
        </p:txBody>
      </p:sp>
      <p:sp>
        <p:nvSpPr>
          <p:cNvPr id="4" name="Text 2"/>
          <p:cNvSpPr txBox="1"/>
          <p:nvPr/>
        </p:nvSpPr>
        <p:spPr>
          <a:xfrm>
            <a:off x="658368"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足さない（勝手に補わない）</a:t>
            </a:r>
            <a:endParaRPr lang="en-US" sz="1400" dirty="0"/>
          </a:p>
        </p:txBody>
      </p:sp>
      <p:sp>
        <p:nvSpPr>
          <p:cNvPr id="5" name="Shape 3"/>
          <p:cNvSpPr/>
          <p:nvPr/>
        </p:nvSpPr>
        <p:spPr>
          <a:xfrm>
            <a:off x="658368" y="1536192"/>
            <a:ext cx="5253228" cy="3127248"/>
          </a:xfrm>
          <a:prstGeom prst="roundRect">
            <a:avLst>
              <a:gd name="adj" fmla="val 2339"/>
            </a:avLst>
          </a:prstGeom>
          <a:solidFill>
            <a:srgbClr val="F5F8FA"/>
          </a:solidFill>
          <a:ln w="12700">
            <a:solidFill>
              <a:srgbClr val="333333"/>
            </a:solidFill>
            <a:prstDash val="solid"/>
          </a:ln>
        </p:spPr>
        <p:txBody>
          <a:bodyPr/>
          <a:lstStyle/>
          <a:p>
            <a:endParaRPr lang="ja-JP" altLang="en-US"/>
          </a:p>
        </p:txBody>
      </p:sp>
      <p:sp>
        <p:nvSpPr>
          <p:cNvPr id="6" name="Text 4"/>
          <p:cNvSpPr txBox="1"/>
          <p:nvPr/>
        </p:nvSpPr>
        <p:spPr>
          <a:xfrm>
            <a:off x="969264" y="1810512"/>
            <a:ext cx="4631436" cy="2743200"/>
          </a:xfrm>
          <a:prstGeom prst="rect">
            <a:avLst/>
          </a:prstGeom>
          <a:noFill/>
          <a:ln/>
        </p:spPr>
        <p:txBody>
          <a:bodyPr wrap="square" lIns="0" tIns="0" rIns="0" bIns="0" rtlCol="0" anchor="t"/>
          <a:lstStyle/>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原文にない因果・主体・目的・評価を補わない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「A なら B」だけを根拠に、因果があるとはしない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「A の後に B」は時間順序であって、因果ではない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「増やす」（行動）から「増えた」（実現した変化）を作らない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辞書にない意味を、OTHER や UNKNOWN でまとめない</a:t>
            </a:r>
            <a:endParaRPr lang="en-US" sz="1250" dirty="0"/>
          </a:p>
        </p:txBody>
      </p:sp>
      <p:sp>
        <p:nvSpPr>
          <p:cNvPr id="7" name="Text 5"/>
          <p:cNvSpPr txBox="1"/>
          <p:nvPr/>
        </p:nvSpPr>
        <p:spPr>
          <a:xfrm>
            <a:off x="6569964"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捨てない（表せない部分の置き場）</a:t>
            </a:r>
            <a:endParaRPr lang="en-US" sz="1400" dirty="0"/>
          </a:p>
        </p:txBody>
      </p:sp>
      <p:sp>
        <p:nvSpPr>
          <p:cNvPr id="8" name="Shape 6"/>
          <p:cNvSpPr/>
          <p:nvPr/>
        </p:nvSpPr>
        <p:spPr>
          <a:xfrm>
            <a:off x="6569964" y="1536192"/>
            <a:ext cx="5253228" cy="3127248"/>
          </a:xfrm>
          <a:prstGeom prst="roundRect">
            <a:avLst>
              <a:gd name="adj" fmla="val 2339"/>
            </a:avLst>
          </a:prstGeom>
          <a:solidFill>
            <a:srgbClr val="EEF5F8"/>
          </a:solidFill>
          <a:ln w="12700">
            <a:solidFill>
              <a:srgbClr val="333333"/>
            </a:solidFill>
            <a:prstDash val="solid"/>
          </a:ln>
        </p:spPr>
        <p:txBody>
          <a:bodyPr/>
          <a:lstStyle/>
          <a:p>
            <a:endParaRPr lang="ja-JP" altLang="en-US"/>
          </a:p>
        </p:txBody>
      </p:sp>
      <p:sp>
        <p:nvSpPr>
          <p:cNvPr id="9" name="Text 7"/>
          <p:cNvSpPr txBox="1"/>
          <p:nvPr/>
        </p:nvSpPr>
        <p:spPr>
          <a:xfrm>
            <a:off x="6880860" y="1865376"/>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qualifiers</a:t>
            </a:r>
            <a:endParaRPr lang="en-US" sz="1200" dirty="0"/>
          </a:p>
        </p:txBody>
      </p:sp>
      <p:sp>
        <p:nvSpPr>
          <p:cNvPr id="10" name="Text 8"/>
          <p:cNvSpPr txBox="1"/>
          <p:nvPr/>
        </p:nvSpPr>
        <p:spPr>
          <a:xfrm>
            <a:off x="6880860" y="2121408"/>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正規化しきれない限定（条件・例外・比較基準）</a:t>
            </a:r>
            <a:endParaRPr lang="en-US" sz="1250" dirty="0"/>
          </a:p>
        </p:txBody>
      </p:sp>
      <p:sp>
        <p:nvSpPr>
          <p:cNvPr id="11" name="Text 9"/>
          <p:cNvSpPr txBox="1"/>
          <p:nvPr/>
        </p:nvSpPr>
        <p:spPr>
          <a:xfrm>
            <a:off x="6880860" y="2560320"/>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unrepresented</a:t>
            </a:r>
            <a:endParaRPr lang="en-US" sz="1200" dirty="0"/>
          </a:p>
        </p:txBody>
      </p:sp>
      <p:sp>
        <p:nvSpPr>
          <p:cNvPr id="12" name="Text 10"/>
          <p:cNvSpPr txBox="1"/>
          <p:nvPr/>
        </p:nvSpPr>
        <p:spPr>
          <a:xfrm>
            <a:off x="6880860" y="2816352"/>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この形式では表せなかった記述</a:t>
            </a:r>
            <a:endParaRPr lang="en-US" sz="1250" dirty="0"/>
          </a:p>
        </p:txBody>
      </p:sp>
      <p:sp>
        <p:nvSpPr>
          <p:cNvPr id="13" name="Text 11"/>
          <p:cNvSpPr txBox="1"/>
          <p:nvPr/>
        </p:nvSpPr>
        <p:spPr>
          <a:xfrm>
            <a:off x="6880860" y="3255264"/>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issues</a:t>
            </a:r>
            <a:endParaRPr lang="en-US" sz="1200" dirty="0"/>
          </a:p>
        </p:txBody>
      </p:sp>
      <p:sp>
        <p:nvSpPr>
          <p:cNvPr id="14" name="Text 12"/>
          <p:cNvSpPr txBox="1"/>
          <p:nvPr/>
        </p:nvSpPr>
        <p:spPr>
          <a:xfrm>
            <a:off x="6880860" y="3511296"/>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曖昧な参照、必要な引数の欠落など</a:t>
            </a:r>
            <a:endParaRPr lang="en-US" sz="1250" dirty="0"/>
          </a:p>
        </p:txBody>
      </p:sp>
      <p:sp>
        <p:nvSpPr>
          <p:cNvPr id="15" name="Text 13"/>
          <p:cNvSpPr txBox="1"/>
          <p:nvPr/>
        </p:nvSpPr>
        <p:spPr>
          <a:xfrm>
            <a:off x="6880860" y="3950208"/>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dictionary_candidates</a:t>
            </a:r>
            <a:endParaRPr lang="en-US" sz="1200" dirty="0"/>
          </a:p>
        </p:txBody>
      </p:sp>
      <p:sp>
        <p:nvSpPr>
          <p:cNvPr id="16" name="Text 14"/>
          <p:cNvSpPr txBox="1"/>
          <p:nvPr/>
        </p:nvSpPr>
        <p:spPr>
          <a:xfrm>
            <a:off x="6880860" y="4206240"/>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辞書に追加したい概念の候補</a:t>
            </a:r>
            <a:endParaRPr lang="en-US" sz="1250" dirty="0"/>
          </a:p>
        </p:txBody>
      </p:sp>
      <p:sp>
        <p:nvSpPr>
          <p:cNvPr id="17" name="Shape 15"/>
          <p:cNvSpPr/>
          <p:nvPr/>
        </p:nvSpPr>
        <p:spPr>
          <a:xfrm>
            <a:off x="658368" y="4882896"/>
            <a:ext cx="10872216" cy="786384"/>
          </a:xfrm>
          <a:prstGeom prst="roundRect">
            <a:avLst>
              <a:gd name="adj" fmla="val 9302"/>
            </a:avLst>
          </a:prstGeom>
          <a:solidFill>
            <a:srgbClr val="0E2841"/>
          </a:solidFill>
          <a:ln w="12700">
            <a:solidFill>
              <a:srgbClr val="333333"/>
            </a:solidFill>
            <a:prstDash val="solid"/>
          </a:ln>
        </p:spPr>
        <p:txBody>
          <a:bodyPr/>
          <a:lstStyle/>
          <a:p>
            <a:endParaRPr lang="ja-JP" altLang="en-US"/>
          </a:p>
        </p:txBody>
      </p:sp>
      <p:sp>
        <p:nvSpPr>
          <p:cNvPr id="18" name="Text 16"/>
          <p:cNvSpPr txBox="1"/>
          <p:nvPr/>
        </p:nvSpPr>
        <p:spPr>
          <a:xfrm>
            <a:off x="1042416" y="5102352"/>
            <a:ext cx="10058400" cy="365760"/>
          </a:xfrm>
          <a:prstGeom prst="rect">
            <a:avLst/>
          </a:prstGeom>
          <a:noFill/>
          <a:ln/>
        </p:spPr>
        <p:txBody>
          <a:bodyPr wrap="square" lIns="0" tIns="0" rIns="0" bIns="0" rtlCol="0" anchor="ctr"/>
          <a:lstStyle/>
          <a:p>
            <a:pPr marL="0" indent="0">
              <a:buNone/>
            </a:pPr>
            <a:r>
              <a:rPr lang="en-US" sz="1350" dirty="0">
                <a:solidFill>
                  <a:srgbClr val="FFFFFF"/>
                </a:solidFill>
                <a:latin typeface="游ゴシック" pitchFamily="34" charset="0"/>
                <a:ea typeface="游ゴシック" pitchFamily="34" charset="-122"/>
                <a:cs typeface="游ゴシック" pitchFamily="34" charset="-120"/>
              </a:rPr>
              <a:t>すべての点と接続に、原文の該当箇所をそのまま引用して根拠として付ける。後から必ず原文へ戻って確認できるようにする</a:t>
            </a:r>
            <a:endParaRPr lang="en-US" sz="1350" dirty="0"/>
          </a:p>
        </p:txBody>
      </p:sp>
      <p:sp>
        <p:nvSpPr>
          <p:cNvPr id="19" name="Text 17"/>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A-4 ／ 構造比較の詳細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比較する単位は、意味が欠けない最小のまとまり</a:t>
            </a:r>
            <a:endParaRPr lang="en-US" sz="2500" dirty="0"/>
          </a:p>
        </p:txBody>
      </p:sp>
      <p:sp>
        <p:nvSpPr>
          <p:cNvPr id="4" name="Text 2"/>
          <p:cNvSpPr txBox="1"/>
          <p:nvPr/>
        </p:nvSpPr>
        <p:spPr>
          <a:xfrm>
            <a:off x="658368" y="1170432"/>
            <a:ext cx="5394960"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切り出しの手順</a:t>
            </a:r>
            <a:endParaRPr lang="en-US" sz="1400" dirty="0"/>
          </a:p>
        </p:txBody>
      </p:sp>
      <p:sp>
        <p:nvSpPr>
          <p:cNvPr id="5" name="Shape 3"/>
          <p:cNvSpPr/>
          <p:nvPr/>
        </p:nvSpPr>
        <p:spPr>
          <a:xfrm>
            <a:off x="658368" y="1536192"/>
            <a:ext cx="5394960" cy="1207008"/>
          </a:xfrm>
          <a:prstGeom prst="roundRect">
            <a:avLst>
              <a:gd name="adj" fmla="val 6061"/>
            </a:avLst>
          </a:prstGeom>
          <a:solidFill>
            <a:srgbClr val="F5F8FA"/>
          </a:solidFill>
          <a:ln w="12700">
            <a:solidFill>
              <a:srgbClr val="333333"/>
            </a:solidFill>
            <a:prstDash val="solid"/>
          </a:ln>
        </p:spPr>
        <p:txBody>
          <a:bodyPr/>
          <a:lstStyle/>
          <a:p>
            <a:endParaRPr lang="ja-JP" altLang="en-US"/>
          </a:p>
        </p:txBody>
      </p:sp>
      <p:sp>
        <p:nvSpPr>
          <p:cNvPr id="6" name="Shape 4"/>
          <p:cNvSpPr/>
          <p:nvPr/>
        </p:nvSpPr>
        <p:spPr>
          <a:xfrm>
            <a:off x="932688" y="1773936"/>
            <a:ext cx="329184" cy="329184"/>
          </a:xfrm>
          <a:prstGeom prst="ellipse">
            <a:avLst/>
          </a:prstGeom>
          <a:solidFill>
            <a:srgbClr val="0E2841"/>
          </a:solidFill>
          <a:ln w="12700">
            <a:solidFill>
              <a:srgbClr val="333333"/>
            </a:solidFill>
            <a:prstDash val="solid"/>
          </a:ln>
        </p:spPr>
        <p:txBody>
          <a:bodyPr/>
          <a:lstStyle/>
          <a:p>
            <a:endParaRPr lang="ja-JP" altLang="en-US"/>
          </a:p>
        </p:txBody>
      </p:sp>
      <p:sp>
        <p:nvSpPr>
          <p:cNvPr id="7" name="Text 5"/>
          <p:cNvSpPr txBox="1"/>
          <p:nvPr/>
        </p:nvSpPr>
        <p:spPr>
          <a:xfrm>
            <a:off x="932688" y="177393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89888" y="1737360"/>
            <a:ext cx="4389120" cy="310896"/>
          </a:xfrm>
          <a:prstGeom prst="rect">
            <a:avLst/>
          </a:prstGeom>
          <a:noFill/>
          <a:ln/>
        </p:spPr>
        <p:txBody>
          <a:bodyPr wrap="square" lIns="0" tIns="0" rIns="0" bIns="0" rtlCol="0" anchor="ctr"/>
          <a:lstStyle/>
          <a:p>
            <a:pPr marL="0" indent="0">
              <a:buNone/>
            </a:pPr>
            <a:r>
              <a:rPr lang="en-US" sz="1400" b="1" dirty="0">
                <a:solidFill>
                  <a:srgbClr val="1B2733"/>
                </a:solidFill>
                <a:latin typeface="游ゴシック" pitchFamily="34" charset="0"/>
                <a:ea typeface="游ゴシック" pitchFamily="34" charset="-122"/>
                <a:cs typeface="游ゴシック" pitchFamily="34" charset="-120"/>
              </a:rPr>
              <a:t>CLAIM（意味関係）を起点にする</a:t>
            </a:r>
            <a:endParaRPr lang="en-US" sz="1400" dirty="0"/>
          </a:p>
        </p:txBody>
      </p:sp>
      <p:sp>
        <p:nvSpPr>
          <p:cNvPr id="9" name="Text 7"/>
          <p:cNvSpPr txBox="1"/>
          <p:nvPr/>
        </p:nvSpPr>
        <p:spPr>
          <a:xfrm>
            <a:off x="1389888" y="2084832"/>
            <a:ext cx="4389120" cy="512064"/>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探索する大きさは、まず意味関係1個、または連結した2個に限る</a:t>
            </a:r>
            <a:endParaRPr lang="en-US" sz="1200" dirty="0"/>
          </a:p>
        </p:txBody>
      </p:sp>
      <p:sp>
        <p:nvSpPr>
          <p:cNvPr id="10" name="Shape 8"/>
          <p:cNvSpPr/>
          <p:nvPr/>
        </p:nvSpPr>
        <p:spPr>
          <a:xfrm>
            <a:off x="658368" y="2926080"/>
            <a:ext cx="5394960" cy="1207008"/>
          </a:xfrm>
          <a:prstGeom prst="roundRect">
            <a:avLst>
              <a:gd name="adj" fmla="val 6061"/>
            </a:avLst>
          </a:prstGeom>
          <a:solidFill>
            <a:srgbClr val="F5F8FA"/>
          </a:solidFill>
          <a:ln w="12700">
            <a:solidFill>
              <a:srgbClr val="333333"/>
            </a:solidFill>
            <a:prstDash val="solid"/>
          </a:ln>
        </p:spPr>
        <p:txBody>
          <a:bodyPr/>
          <a:lstStyle/>
          <a:p>
            <a:endParaRPr lang="ja-JP" altLang="en-US"/>
          </a:p>
        </p:txBody>
      </p:sp>
      <p:sp>
        <p:nvSpPr>
          <p:cNvPr id="11" name="Shape 9"/>
          <p:cNvSpPr/>
          <p:nvPr/>
        </p:nvSpPr>
        <p:spPr>
          <a:xfrm>
            <a:off x="932688" y="3163824"/>
            <a:ext cx="329184" cy="329184"/>
          </a:xfrm>
          <a:prstGeom prst="ellipse">
            <a:avLst/>
          </a:prstGeom>
          <a:solidFill>
            <a:srgbClr val="0E2841"/>
          </a:solidFill>
          <a:ln w="12700">
            <a:solidFill>
              <a:srgbClr val="333333"/>
            </a:solidFill>
            <a:prstDash val="solid"/>
          </a:ln>
        </p:spPr>
        <p:txBody>
          <a:bodyPr/>
          <a:lstStyle/>
          <a:p>
            <a:endParaRPr lang="ja-JP" altLang="en-US"/>
          </a:p>
        </p:txBody>
      </p:sp>
      <p:sp>
        <p:nvSpPr>
          <p:cNvPr id="12" name="Text 10"/>
          <p:cNvSpPr txBox="1"/>
          <p:nvPr/>
        </p:nvSpPr>
        <p:spPr>
          <a:xfrm>
            <a:off x="932688"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89888" y="3127248"/>
            <a:ext cx="4389120" cy="310896"/>
          </a:xfrm>
          <a:prstGeom prst="rect">
            <a:avLst/>
          </a:prstGeom>
          <a:noFill/>
          <a:ln/>
        </p:spPr>
        <p:txBody>
          <a:bodyPr wrap="square" lIns="0" tIns="0" rIns="0" bIns="0" rtlCol="0" anchor="ctr"/>
          <a:lstStyle/>
          <a:p>
            <a:pPr marL="0" indent="0">
              <a:buNone/>
            </a:pPr>
            <a:r>
              <a:rPr lang="en-US" sz="1400" b="1" dirty="0">
                <a:solidFill>
                  <a:srgbClr val="1B2733"/>
                </a:solidFill>
                <a:latin typeface="游ゴシック" pitchFamily="34" charset="0"/>
                <a:ea typeface="游ゴシック" pitchFamily="34" charset="-122"/>
                <a:cs typeface="游ゴシック" pitchFamily="34" charset="-120"/>
              </a:rPr>
              <a:t>意味を決める接続まで必ず含める</a:t>
            </a:r>
            <a:endParaRPr lang="en-US" sz="1400" dirty="0"/>
          </a:p>
        </p:txBody>
      </p:sp>
      <p:sp>
        <p:nvSpPr>
          <p:cNvPr id="14" name="Text 12"/>
          <p:cNvSpPr txBox="1"/>
          <p:nvPr/>
        </p:nvSpPr>
        <p:spPr>
          <a:xfrm>
            <a:off x="1389888" y="3474720"/>
            <a:ext cx="4389120" cy="512064"/>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FROM・TO・成立条件・操作の対象・変化する量・量の対象・LOGICの全要素</a:t>
            </a:r>
            <a:endParaRPr lang="en-US" sz="1200" dirty="0"/>
          </a:p>
        </p:txBody>
      </p:sp>
      <p:sp>
        <p:nvSpPr>
          <p:cNvPr id="15" name="Shape 13"/>
          <p:cNvSpPr/>
          <p:nvPr/>
        </p:nvSpPr>
        <p:spPr>
          <a:xfrm>
            <a:off x="658368" y="4315968"/>
            <a:ext cx="5394960" cy="1207008"/>
          </a:xfrm>
          <a:prstGeom prst="roundRect">
            <a:avLst>
              <a:gd name="adj" fmla="val 6061"/>
            </a:avLst>
          </a:prstGeom>
          <a:solidFill>
            <a:srgbClr val="F5F8FA"/>
          </a:solidFill>
          <a:ln w="12700">
            <a:solidFill>
              <a:srgbClr val="333333"/>
            </a:solidFill>
            <a:prstDash val="solid"/>
          </a:ln>
        </p:spPr>
        <p:txBody>
          <a:bodyPr/>
          <a:lstStyle/>
          <a:p>
            <a:endParaRPr lang="ja-JP" altLang="en-US"/>
          </a:p>
        </p:txBody>
      </p:sp>
      <p:sp>
        <p:nvSpPr>
          <p:cNvPr id="16" name="Shape 14"/>
          <p:cNvSpPr/>
          <p:nvPr/>
        </p:nvSpPr>
        <p:spPr>
          <a:xfrm>
            <a:off x="932688" y="4553712"/>
            <a:ext cx="329184" cy="329184"/>
          </a:xfrm>
          <a:prstGeom prst="ellipse">
            <a:avLst/>
          </a:prstGeom>
          <a:solidFill>
            <a:srgbClr val="0E2841"/>
          </a:solidFill>
          <a:ln w="12700">
            <a:solidFill>
              <a:srgbClr val="333333"/>
            </a:solidFill>
            <a:prstDash val="solid"/>
          </a:ln>
        </p:spPr>
        <p:txBody>
          <a:bodyPr/>
          <a:lstStyle/>
          <a:p>
            <a:endParaRPr lang="ja-JP" altLang="en-US"/>
          </a:p>
        </p:txBody>
      </p:sp>
      <p:sp>
        <p:nvSpPr>
          <p:cNvPr id="17" name="Text 15"/>
          <p:cNvSpPr txBox="1"/>
          <p:nvPr/>
        </p:nvSpPr>
        <p:spPr>
          <a:xfrm>
            <a:off x="932688" y="455371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89888" y="4517136"/>
            <a:ext cx="4389120" cy="310896"/>
          </a:xfrm>
          <a:prstGeom prst="rect">
            <a:avLst/>
          </a:prstGeom>
          <a:noFill/>
          <a:ln/>
        </p:spPr>
        <p:txBody>
          <a:bodyPr wrap="square" lIns="0" tIns="0" rIns="0" bIns="0" rtlCol="0" anchor="ctr"/>
          <a:lstStyle/>
          <a:p>
            <a:pPr marL="0" indent="0">
              <a:buNone/>
            </a:pPr>
            <a:r>
              <a:rPr lang="en-US" sz="1400" b="1" dirty="0">
                <a:solidFill>
                  <a:srgbClr val="1B2733"/>
                </a:solidFill>
                <a:latin typeface="游ゴシック" pitchFamily="34" charset="0"/>
                <a:ea typeface="游ゴシック" pitchFamily="34" charset="-122"/>
                <a:cs typeface="游ゴシック" pitchFamily="34" charset="-120"/>
              </a:rPr>
              <a:t>欠けた断片は同じ構造として扱わない</a:t>
            </a:r>
            <a:endParaRPr lang="en-US" sz="1400" dirty="0"/>
          </a:p>
        </p:txBody>
      </p:sp>
      <p:sp>
        <p:nvSpPr>
          <p:cNvPr id="19" name="Text 17"/>
          <p:cNvSpPr txBox="1"/>
          <p:nvPr/>
        </p:nvSpPr>
        <p:spPr>
          <a:xfrm>
            <a:off x="1389888" y="4864608"/>
            <a:ext cx="4389120" cy="512064"/>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引数を落とした小さな一致を、元と同じ意味の構造とは見なさない</a:t>
            </a:r>
            <a:endParaRPr lang="en-US" sz="1200" dirty="0"/>
          </a:p>
        </p:txBody>
      </p:sp>
      <p:sp>
        <p:nvSpPr>
          <p:cNvPr id="20" name="Text 18"/>
          <p:cNvSpPr txBox="1"/>
          <p:nvPr/>
        </p:nvSpPr>
        <p:spPr>
          <a:xfrm>
            <a:off x="6583680" y="1170432"/>
            <a:ext cx="4946904"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1つの断片に含める範囲</a:t>
            </a:r>
            <a:endParaRPr lang="en-US" sz="1400" dirty="0"/>
          </a:p>
        </p:txBody>
      </p:sp>
      <p:sp>
        <p:nvSpPr>
          <p:cNvPr id="21" name="Shape 19"/>
          <p:cNvSpPr/>
          <p:nvPr/>
        </p:nvSpPr>
        <p:spPr>
          <a:xfrm>
            <a:off x="6583680" y="1536192"/>
            <a:ext cx="4946904" cy="2304288"/>
          </a:xfrm>
          <a:prstGeom prst="roundRect">
            <a:avLst>
              <a:gd name="adj" fmla="val 3175"/>
            </a:avLst>
          </a:prstGeom>
          <a:solidFill>
            <a:srgbClr val="0E2841"/>
          </a:solidFill>
          <a:ln w="12700">
            <a:solidFill>
              <a:srgbClr val="333333"/>
            </a:solidFill>
            <a:prstDash val="solid"/>
          </a:ln>
        </p:spPr>
        <p:txBody>
          <a:bodyPr/>
          <a:lstStyle/>
          <a:p>
            <a:endParaRPr lang="ja-JP" altLang="en-US"/>
          </a:p>
        </p:txBody>
      </p:sp>
      <p:sp>
        <p:nvSpPr>
          <p:cNvPr id="22" name="Text 20"/>
          <p:cNvSpPr txBox="1"/>
          <p:nvPr/>
        </p:nvSpPr>
        <p:spPr>
          <a:xfrm>
            <a:off x="6876288" y="1773936"/>
            <a:ext cx="4361688" cy="1828800"/>
          </a:xfrm>
          <a:prstGeom prst="rect">
            <a:avLst/>
          </a:prstGeom>
          <a:noFill/>
          <a:ln/>
        </p:spPr>
        <p:txBody>
          <a:bodyPr wrap="square" lIns="0" tIns="0" rIns="0" bIns="0" rtlCol="0" anchor="ctr"/>
          <a:lstStyle/>
          <a:p>
            <a:pPr marL="0" indent="0">
              <a:lnSpc>
                <a:spcPct val="145000"/>
              </a:lnSpc>
              <a:buNone/>
            </a:pPr>
            <a:r>
              <a:rPr lang="en-US" sz="1200" b="1" dirty="0">
                <a:solidFill>
                  <a:srgbClr val="FFFFFF"/>
                </a:solidFill>
                <a:latin typeface="游ゴシック" pitchFamily="34" charset="0"/>
                <a:ea typeface="游ゴシック" pitchFamily="34" charset="-122"/>
                <a:cs typeface="游ゴシック" pitchFamily="34" charset="-120"/>
              </a:rPr>
              <a:t>CLAIM［CAUSES］</a:t>
            </a:r>
            <a:endParaRPr lang="en-US" sz="1200" dirty="0"/>
          </a:p>
          <a:p>
            <a:pPr marL="0" indent="0">
              <a:lnSpc>
                <a:spcPct val="145000"/>
              </a:lnSpc>
              <a:buNone/>
            </a:pPr>
            <a:r>
              <a:rPr lang="en-US" sz="1200" dirty="0">
                <a:solidFill>
                  <a:srgbClr val="CADCFC"/>
                </a:solidFill>
                <a:latin typeface="游ゴシック" pitchFamily="34" charset="0"/>
                <a:ea typeface="游ゴシック" pitchFamily="34" charset="-122"/>
                <a:cs typeface="游ゴシック" pitchFamily="34" charset="-120"/>
              </a:rPr>
              <a:t>　├ FROM　→ ACTION ─ 操作の対象</a:t>
            </a:r>
            <a:endParaRPr lang="en-US" sz="1200" dirty="0"/>
          </a:p>
          <a:p>
            <a:pPr marL="0" indent="0">
              <a:lnSpc>
                <a:spcPct val="145000"/>
              </a:lnSpc>
              <a:buNone/>
            </a:pPr>
            <a:r>
              <a:rPr lang="en-US" sz="1200" dirty="0">
                <a:solidFill>
                  <a:srgbClr val="CADCFC"/>
                </a:solidFill>
                <a:latin typeface="游ゴシック" pitchFamily="34" charset="0"/>
                <a:ea typeface="游ゴシック" pitchFamily="34" charset="-122"/>
                <a:cs typeface="游ゴシック" pitchFamily="34" charset="-120"/>
              </a:rPr>
              <a:t>　├ TO　　→ CHANGE ─ 変化する量 ─ 量の対象</a:t>
            </a:r>
            <a:endParaRPr lang="en-US" sz="1200" dirty="0"/>
          </a:p>
          <a:p>
            <a:pPr marL="0" indent="0">
              <a:lnSpc>
                <a:spcPct val="145000"/>
              </a:lnSpc>
              <a:buNone/>
            </a:pPr>
            <a:r>
              <a:rPr lang="en-US" sz="1200" dirty="0">
                <a:solidFill>
                  <a:srgbClr val="CADCFC"/>
                </a:solidFill>
                <a:latin typeface="游ゴシック" pitchFamily="34" charset="0"/>
                <a:ea typeface="游ゴシック" pitchFamily="34" charset="-122"/>
                <a:cs typeface="游ゴシック" pitchFamily="34" charset="-120"/>
              </a:rPr>
              <a:t>　└ CONDITION → STATE ─ 状態の対象</a:t>
            </a:r>
            <a:endParaRPr lang="en-US" sz="1200" dirty="0"/>
          </a:p>
          <a:p>
            <a:pPr marL="0" indent="0">
              <a:lnSpc>
                <a:spcPct val="145000"/>
              </a:lnSpc>
              <a:buNone/>
            </a:pPr>
            <a:r>
              <a:rPr lang="en-US" sz="1200" dirty="0">
                <a:solidFill>
                  <a:srgbClr val="BDD0E0"/>
                </a:solidFill>
                <a:latin typeface="游ゴシック" pitchFamily="34" charset="0"/>
                <a:ea typeface="游ゴシック" pitchFamily="34" charset="-122"/>
                <a:cs typeface="游ゴシック" pitchFamily="34" charset="-120"/>
              </a:rPr>
              <a:t>　　　　　　　　（比較の値・単位も含む）</a:t>
            </a:r>
            <a:endParaRPr lang="en-US" sz="1200" dirty="0"/>
          </a:p>
        </p:txBody>
      </p:sp>
      <p:sp>
        <p:nvSpPr>
          <p:cNvPr id="23" name="Text 21"/>
          <p:cNvSpPr txBox="1"/>
          <p:nvPr/>
        </p:nvSpPr>
        <p:spPr>
          <a:xfrm>
            <a:off x="6583680" y="4059936"/>
            <a:ext cx="4946904"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含めてはいけない切り方</a:t>
            </a:r>
            <a:endParaRPr lang="en-US" sz="1400" dirty="0"/>
          </a:p>
        </p:txBody>
      </p:sp>
      <p:sp>
        <p:nvSpPr>
          <p:cNvPr id="24" name="Shape 22"/>
          <p:cNvSpPr/>
          <p:nvPr/>
        </p:nvSpPr>
        <p:spPr>
          <a:xfrm>
            <a:off x="6583680" y="4370832"/>
            <a:ext cx="4946904" cy="1371600"/>
          </a:xfrm>
          <a:prstGeom prst="roundRect">
            <a:avLst>
              <a:gd name="adj" fmla="val 5333"/>
            </a:avLst>
          </a:prstGeom>
          <a:solidFill>
            <a:srgbClr val="F5F8FA"/>
          </a:solidFill>
          <a:ln w="12700">
            <a:solidFill>
              <a:srgbClr val="333333"/>
            </a:solidFill>
            <a:prstDash val="solid"/>
          </a:ln>
        </p:spPr>
        <p:txBody>
          <a:bodyPr/>
          <a:lstStyle/>
          <a:p>
            <a:endParaRPr lang="ja-JP" altLang="en-US"/>
          </a:p>
        </p:txBody>
      </p:sp>
      <p:sp>
        <p:nvSpPr>
          <p:cNvPr id="25" name="Text 23"/>
          <p:cNvSpPr txBox="1"/>
          <p:nvPr/>
        </p:nvSpPr>
        <p:spPr>
          <a:xfrm>
            <a:off x="6876288" y="4553712"/>
            <a:ext cx="4361688" cy="100584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CLAIM だけを取り出し、何が何を起こすのかを落とす</a:t>
            </a:r>
            <a:endParaRPr lang="en-US" sz="1200" dirty="0"/>
          </a:p>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「A と B がそろうと C」の AND を、片方だけに分解する</a:t>
            </a:r>
            <a:endParaRPr lang="en-US" sz="1200" dirty="0"/>
          </a:p>
        </p:txBody>
      </p:sp>
      <p:sp>
        <p:nvSpPr>
          <p:cNvPr id="26" name="Text 24"/>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A-5 ／ 構造比較の詳細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何を一致の判定に使い、何を使わないかを決めておく</a:t>
            </a:r>
            <a:endParaRPr lang="en-US" sz="2500" dirty="0"/>
          </a:p>
        </p:txBody>
      </p:sp>
      <p:sp>
        <p:nvSpPr>
          <p:cNvPr id="4" name="Text 2"/>
          <p:cNvSpPr txBox="1"/>
          <p:nvPr/>
        </p:nvSpPr>
        <p:spPr>
          <a:xfrm>
            <a:off x="658368"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一致の判定に使う</a:t>
            </a:r>
            <a:endParaRPr lang="en-US" sz="1400" dirty="0"/>
          </a:p>
        </p:txBody>
      </p:sp>
      <p:sp>
        <p:nvSpPr>
          <p:cNvPr id="5" name="Shape 3"/>
          <p:cNvSpPr/>
          <p:nvPr/>
        </p:nvSpPr>
        <p:spPr>
          <a:xfrm>
            <a:off x="658368" y="1536192"/>
            <a:ext cx="5253228" cy="2907792"/>
          </a:xfrm>
          <a:prstGeom prst="roundRect">
            <a:avLst>
              <a:gd name="adj" fmla="val 2516"/>
            </a:avLst>
          </a:prstGeom>
          <a:solidFill>
            <a:srgbClr val="EEF5F8"/>
          </a:solidFill>
          <a:ln w="12700">
            <a:solidFill>
              <a:srgbClr val="333333"/>
            </a:solidFill>
            <a:prstDash val="solid"/>
          </a:ln>
        </p:spPr>
        <p:txBody>
          <a:bodyPr/>
          <a:lstStyle/>
          <a:p>
            <a:endParaRPr lang="ja-JP" altLang="en-US"/>
          </a:p>
        </p:txBody>
      </p:sp>
      <p:sp>
        <p:nvSpPr>
          <p:cNvPr id="6" name="Text 4"/>
          <p:cNvSpPr txBox="1"/>
          <p:nvPr/>
        </p:nvSpPr>
        <p:spPr>
          <a:xfrm>
            <a:off x="969264" y="1792224"/>
            <a:ext cx="4631436" cy="246888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点の種類（ACTION・QUANTITY・CLAIM など）</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正規化した概念ID</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変化の向き（増加／減少）と、関係の種類</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否定・確からしさ・記述の立場</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比較演算子・値・単位、量の次元</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接続の種類と向き</a:t>
            </a:r>
            <a:endParaRPr lang="en-US" sz="1250" dirty="0"/>
          </a:p>
        </p:txBody>
      </p:sp>
      <p:sp>
        <p:nvSpPr>
          <p:cNvPr id="7" name="Text 5"/>
          <p:cNvSpPr txBox="1"/>
          <p:nvPr/>
        </p:nvSpPr>
        <p:spPr>
          <a:xfrm>
            <a:off x="6569964"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一致の判定には使わない（対応表には残す）</a:t>
            </a:r>
            <a:endParaRPr lang="en-US" sz="1400" dirty="0"/>
          </a:p>
        </p:txBody>
      </p:sp>
      <p:sp>
        <p:nvSpPr>
          <p:cNvPr id="8" name="Shape 6"/>
          <p:cNvSpPr/>
          <p:nvPr/>
        </p:nvSpPr>
        <p:spPr>
          <a:xfrm>
            <a:off x="6569964" y="1536192"/>
            <a:ext cx="5253228" cy="2907792"/>
          </a:xfrm>
          <a:prstGeom prst="roundRect">
            <a:avLst>
              <a:gd name="adj" fmla="val 2516"/>
            </a:avLst>
          </a:prstGeom>
          <a:solidFill>
            <a:srgbClr val="F5F8FA"/>
          </a:solidFill>
          <a:ln w="12700">
            <a:solidFill>
              <a:srgbClr val="333333"/>
            </a:solidFill>
            <a:prstDash val="solid"/>
          </a:ln>
        </p:spPr>
        <p:txBody>
          <a:bodyPr/>
          <a:lstStyle/>
          <a:p>
            <a:endParaRPr lang="ja-JP" altLang="en-US"/>
          </a:p>
        </p:txBody>
      </p:sp>
      <p:sp>
        <p:nvSpPr>
          <p:cNvPr id="9" name="Text 7"/>
          <p:cNvSpPr txBox="1"/>
          <p:nvPr/>
        </p:nvSpPr>
        <p:spPr>
          <a:xfrm>
            <a:off x="6880860" y="1792224"/>
            <a:ext cx="4631436" cy="246888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文書ID・文書内のノードID</a:t>
            </a:r>
            <a:endParaRPr lang="en-US" sz="1250" dirty="0"/>
          </a:p>
          <a:p>
            <a:pPr marL="342900" indent="-342900">
              <a:lnSpc>
                <a:spcPct val="132000"/>
              </a:lnSpc>
              <a:spcAft>
                <a:spcPts val="8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原文の表現そのもの、引用文</a:t>
            </a:r>
            <a:endParaRPr lang="en-US" sz="1250" dirty="0"/>
          </a:p>
          <a:p>
            <a:pPr marL="342900" indent="-342900">
              <a:lnSpc>
                <a:spcPct val="132000"/>
              </a:lnSpc>
              <a:spcAft>
                <a:spcPts val="8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ENTITY（対象）の名前</a:t>
            </a:r>
            <a:endParaRPr lang="en-US" sz="1250" dirty="0"/>
          </a:p>
        </p:txBody>
      </p:sp>
      <p:sp>
        <p:nvSpPr>
          <p:cNvPr id="10" name="Text 8"/>
          <p:cNvSpPr txBox="1"/>
          <p:nvPr/>
        </p:nvSpPr>
        <p:spPr>
          <a:xfrm>
            <a:off x="6880860" y="3383280"/>
            <a:ext cx="4631436" cy="822960"/>
          </a:xfrm>
          <a:prstGeom prst="rect">
            <a:avLst/>
          </a:prstGeom>
          <a:noFill/>
          <a:ln/>
        </p:spPr>
        <p:txBody>
          <a:bodyPr wrap="square" lIns="0" tIns="0" rIns="0" bIns="0" rtlCol="0" anchor="ctr"/>
          <a:lstStyle/>
          <a:p>
            <a:pPr marL="0" indent="0">
              <a:lnSpc>
                <a:spcPct val="135000"/>
              </a:lnSpc>
              <a:buNone/>
            </a:pPr>
            <a:r>
              <a:rPr lang="en-US" sz="1150" dirty="0">
                <a:solidFill>
                  <a:srgbClr val="32414E"/>
                </a:solidFill>
                <a:latin typeface="游ゴシック" pitchFamily="34" charset="0"/>
                <a:ea typeface="游ゴシック" pitchFamily="34" charset="-122"/>
                <a:cs typeface="游ゴシック" pitchFamily="34" charset="-120"/>
              </a:rPr>
              <a:t>これらを一致の条件にすると、言い回しや対象名が違うだけで別物と見なされ、分野をまたいだ共通構造が見つからない</a:t>
            </a:r>
            <a:endParaRPr lang="en-US" sz="1150" dirty="0"/>
          </a:p>
        </p:txBody>
      </p:sp>
      <p:sp>
        <p:nvSpPr>
          <p:cNvPr id="11" name="Shape 9"/>
          <p:cNvSpPr/>
          <p:nvPr/>
        </p:nvSpPr>
        <p:spPr>
          <a:xfrm>
            <a:off x="658368" y="4645152"/>
            <a:ext cx="10872216" cy="1371600"/>
          </a:xfrm>
          <a:prstGeom prst="roundRect">
            <a:avLst>
              <a:gd name="adj" fmla="val 5333"/>
            </a:avLst>
          </a:prstGeom>
          <a:solidFill>
            <a:srgbClr val="0E2841"/>
          </a:solidFill>
          <a:ln w="12700">
            <a:solidFill>
              <a:srgbClr val="333333"/>
            </a:solidFill>
            <a:prstDash val="solid"/>
          </a:ln>
        </p:spPr>
        <p:txBody>
          <a:bodyPr/>
          <a:lstStyle/>
          <a:p>
            <a:endParaRPr lang="ja-JP" altLang="en-US"/>
          </a:p>
        </p:txBody>
      </p:sp>
      <p:sp>
        <p:nvSpPr>
          <p:cNvPr id="12" name="Text 10"/>
          <p:cNvSpPr txBox="1"/>
          <p:nvPr/>
        </p:nvSpPr>
        <p:spPr>
          <a:xfrm>
            <a:off x="1042416" y="4809744"/>
            <a:ext cx="7315200" cy="274320"/>
          </a:xfrm>
          <a:prstGeom prst="rect">
            <a:avLst/>
          </a:prstGeom>
          <a:noFill/>
          <a:ln/>
        </p:spPr>
        <p:txBody>
          <a:bodyPr wrap="square" lIns="0" tIns="0" rIns="0" bIns="0" rtlCol="0" anchor="ctr"/>
          <a:lstStyle/>
          <a:p>
            <a:pPr marL="0" indent="0">
              <a:buNone/>
            </a:pPr>
            <a:r>
              <a:rPr lang="en-US" sz="1350" b="1" dirty="0">
                <a:solidFill>
                  <a:srgbClr val="CADCFC"/>
                </a:solidFill>
                <a:latin typeface="游ゴシック" pitchFamily="34" charset="0"/>
                <a:ea typeface="游ゴシック" pitchFamily="34" charset="-122"/>
                <a:cs typeface="游ゴシック" pitchFamily="34" charset="-120"/>
              </a:rPr>
              <a:t>ENTITY（対象）の扱い</a:t>
            </a:r>
            <a:endParaRPr lang="en-US" sz="1350" dirty="0"/>
          </a:p>
        </p:txBody>
      </p:sp>
      <p:sp>
        <p:nvSpPr>
          <p:cNvPr id="13" name="Text 11"/>
          <p:cNvSpPr txBox="1"/>
          <p:nvPr/>
        </p:nvSpPr>
        <p:spPr>
          <a:xfrm>
            <a:off x="1042416" y="5120640"/>
            <a:ext cx="10058400" cy="694944"/>
          </a:xfrm>
          <a:prstGeom prst="rect">
            <a:avLst/>
          </a:prstGeom>
          <a:noFill/>
          <a:ln/>
        </p:spPr>
        <p:txBody>
          <a:bodyPr wrap="square" lIns="0" tIns="0" rIns="0" bIns="0" rtlCol="0" anchor="ctr"/>
          <a:lstStyle/>
          <a:p>
            <a:pPr marL="0" indent="0">
              <a:lnSpc>
                <a:spcPct val="138000"/>
              </a:lnSpc>
              <a:buNone/>
            </a:pPr>
            <a:r>
              <a:rPr lang="en-US" sz="1250" dirty="0">
                <a:solidFill>
                  <a:srgbClr val="FFFFFF"/>
                </a:solidFill>
                <a:latin typeface="游ゴシック" pitchFamily="34" charset="0"/>
                <a:ea typeface="游ゴシック" pitchFamily="34" charset="-122"/>
                <a:cs typeface="游ゴシック" pitchFamily="34" charset="-120"/>
              </a:rPr>
              <a:t>対象は一対一の変数として対応づける。「人員」と「製品種類」が同じ意味だと宣言するのではなく、</a:t>
            </a:r>
            <a:endParaRPr lang="en-US" sz="1250" dirty="0"/>
          </a:p>
          <a:p>
            <a:pPr marL="0" indent="0">
              <a:lnSpc>
                <a:spcPct val="138000"/>
              </a:lnSpc>
              <a:buNone/>
            </a:pPr>
            <a:r>
              <a:rPr lang="en-US" sz="1250" dirty="0">
                <a:solidFill>
                  <a:srgbClr val="FFFFFF"/>
                </a:solidFill>
                <a:latin typeface="游ゴシック" pitchFamily="34" charset="0"/>
                <a:ea typeface="游ゴシック" pitchFamily="34" charset="-122"/>
                <a:cs typeface="游ゴシック" pitchFamily="34" charset="-120"/>
              </a:rPr>
              <a:t>違う対象の間で同じ関係が成り立つかを見る操作。元の名前と種類は対応表に残し、置き換えてよいかは別に確認する。</a:t>
            </a:r>
            <a:endParaRPr lang="en-US" sz="1250" dirty="0"/>
          </a:p>
        </p:txBody>
      </p:sp>
      <p:sp>
        <p:nvSpPr>
          <p:cNvPr id="14" name="Text 12"/>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A-6 ／ 構造比較の詳細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粗く絞ってから、厳密に照合し、支持する事例を数える</a:t>
            </a:r>
            <a:endParaRPr lang="en-US" sz="2500" dirty="0"/>
          </a:p>
        </p:txBody>
      </p:sp>
      <p:sp>
        <p:nvSpPr>
          <p:cNvPr id="4" name="Shape 2"/>
          <p:cNvSpPr/>
          <p:nvPr/>
        </p:nvSpPr>
        <p:spPr>
          <a:xfrm>
            <a:off x="658368" y="1417320"/>
            <a:ext cx="3417113" cy="2487168"/>
          </a:xfrm>
          <a:prstGeom prst="roundRect">
            <a:avLst>
              <a:gd name="adj" fmla="val 2941"/>
            </a:avLst>
          </a:prstGeom>
          <a:solidFill>
            <a:srgbClr val="F5F8FA"/>
          </a:solidFill>
          <a:ln w="12700">
            <a:solidFill>
              <a:srgbClr val="333333"/>
            </a:solidFill>
            <a:prstDash val="solid"/>
          </a:ln>
        </p:spPr>
        <p:txBody>
          <a:bodyPr/>
          <a:lstStyle/>
          <a:p>
            <a:endParaRPr lang="ja-JP" altLang="en-US"/>
          </a:p>
        </p:txBody>
      </p:sp>
      <p:sp>
        <p:nvSpPr>
          <p:cNvPr id="5" name="Shape 3"/>
          <p:cNvSpPr/>
          <p:nvPr/>
        </p:nvSpPr>
        <p:spPr>
          <a:xfrm>
            <a:off x="969264" y="1682496"/>
            <a:ext cx="365760" cy="365760"/>
          </a:xfrm>
          <a:prstGeom prst="ellipse">
            <a:avLst/>
          </a:prstGeom>
          <a:solidFill>
            <a:srgbClr val="0E2841"/>
          </a:solidFill>
          <a:ln w="12700">
            <a:solidFill>
              <a:srgbClr val="333333"/>
            </a:solidFill>
            <a:prstDash val="solid"/>
          </a:ln>
        </p:spPr>
        <p:txBody>
          <a:bodyPr/>
          <a:lstStyle/>
          <a:p>
            <a:endParaRPr lang="ja-JP" altLang="en-US"/>
          </a:p>
        </p:txBody>
      </p:sp>
      <p:sp>
        <p:nvSpPr>
          <p:cNvPr id="6" name="Text 4"/>
          <p:cNvSpPr txBox="1"/>
          <p:nvPr/>
        </p:nvSpPr>
        <p:spPr>
          <a:xfrm>
            <a:off x="969264" y="168249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9264" y="2194560"/>
            <a:ext cx="2795321" cy="329184"/>
          </a:xfrm>
          <a:prstGeom prst="rect">
            <a:avLst/>
          </a:prstGeom>
          <a:noFill/>
          <a:ln/>
        </p:spPr>
        <p:txBody>
          <a:bodyPr wrap="square" lIns="0" tIns="0" rIns="0" bIns="0" rtlCol="0" anchor="ctr"/>
          <a:lstStyle/>
          <a:p>
            <a:pPr marL="0" indent="0">
              <a:buNone/>
            </a:pPr>
            <a:r>
              <a:rPr lang="en-US" sz="1500" b="1" dirty="0">
                <a:solidFill>
                  <a:srgbClr val="1B2733"/>
                </a:solidFill>
                <a:latin typeface="游ゴシック" pitchFamily="34" charset="0"/>
                <a:ea typeface="游ゴシック" pitchFamily="34" charset="-122"/>
                <a:cs typeface="游ゴシック" pitchFamily="34" charset="-120"/>
              </a:rPr>
              <a:t>粗い条件で絞る</a:t>
            </a:r>
            <a:endParaRPr lang="en-US" sz="1500" dirty="0"/>
          </a:p>
        </p:txBody>
      </p:sp>
      <p:sp>
        <p:nvSpPr>
          <p:cNvPr id="8" name="Text 6"/>
          <p:cNvSpPr txBox="1"/>
          <p:nvPr/>
        </p:nvSpPr>
        <p:spPr>
          <a:xfrm>
            <a:off x="969264" y="2596896"/>
            <a:ext cx="2795321" cy="1097280"/>
          </a:xfrm>
          <a:prstGeom prst="rect">
            <a:avLst/>
          </a:prstGeom>
          <a:noFill/>
          <a:ln/>
        </p:spPr>
        <p:txBody>
          <a:bodyPr wrap="square" lIns="0" tIns="0" rIns="0" bIns="0" rtlCol="0" anchor="ctr"/>
          <a:lstStyle/>
          <a:p>
            <a:pPr marL="0" indent="0">
              <a:lnSpc>
                <a:spcPct val="135000"/>
              </a:lnSpc>
              <a:buNone/>
            </a:pPr>
            <a:r>
              <a:rPr lang="en-US" sz="1200" dirty="0">
                <a:solidFill>
                  <a:srgbClr val="32414E"/>
                </a:solidFill>
                <a:latin typeface="游ゴシック" pitchFamily="34" charset="0"/>
                <a:ea typeface="游ゴシック" pitchFamily="34" charset="-122"/>
                <a:cs typeface="游ゴシック" pitchFamily="34" charset="-120"/>
              </a:rPr>
              <a:t>点の数・接続の数・ラベルの個数など、一致するなら必ず同じになる情報で候補を絞る</a:t>
            </a:r>
            <a:endParaRPr lang="en-US" sz="1200" dirty="0"/>
          </a:p>
        </p:txBody>
      </p:sp>
      <p:sp>
        <p:nvSpPr>
          <p:cNvPr id="9" name="Shape 7"/>
          <p:cNvSpPr/>
          <p:nvPr/>
        </p:nvSpPr>
        <p:spPr>
          <a:xfrm>
            <a:off x="4121201" y="252374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10" name="Shape 8"/>
          <p:cNvSpPr/>
          <p:nvPr/>
        </p:nvSpPr>
        <p:spPr>
          <a:xfrm>
            <a:off x="4386377" y="1417320"/>
            <a:ext cx="3417113" cy="2487168"/>
          </a:xfrm>
          <a:prstGeom prst="roundRect">
            <a:avLst>
              <a:gd name="adj" fmla="val 2941"/>
            </a:avLst>
          </a:prstGeom>
          <a:solidFill>
            <a:srgbClr val="F5F8FA"/>
          </a:solidFill>
          <a:ln w="12700">
            <a:solidFill>
              <a:srgbClr val="333333"/>
            </a:solidFill>
            <a:prstDash val="solid"/>
          </a:ln>
        </p:spPr>
        <p:txBody>
          <a:bodyPr/>
          <a:lstStyle/>
          <a:p>
            <a:endParaRPr lang="ja-JP" altLang="en-US"/>
          </a:p>
        </p:txBody>
      </p:sp>
      <p:sp>
        <p:nvSpPr>
          <p:cNvPr id="11" name="Shape 9"/>
          <p:cNvSpPr/>
          <p:nvPr/>
        </p:nvSpPr>
        <p:spPr>
          <a:xfrm>
            <a:off x="4697273" y="1682496"/>
            <a:ext cx="365760" cy="365760"/>
          </a:xfrm>
          <a:prstGeom prst="ellipse">
            <a:avLst/>
          </a:prstGeom>
          <a:solidFill>
            <a:srgbClr val="0E2841"/>
          </a:solidFill>
          <a:ln w="12700">
            <a:solidFill>
              <a:srgbClr val="333333"/>
            </a:solidFill>
            <a:prstDash val="solid"/>
          </a:ln>
        </p:spPr>
        <p:txBody>
          <a:bodyPr/>
          <a:lstStyle/>
          <a:p>
            <a:endParaRPr lang="ja-JP" altLang="en-US"/>
          </a:p>
        </p:txBody>
      </p:sp>
      <p:sp>
        <p:nvSpPr>
          <p:cNvPr id="12" name="Text 10"/>
          <p:cNvSpPr txBox="1"/>
          <p:nvPr/>
        </p:nvSpPr>
        <p:spPr>
          <a:xfrm>
            <a:off x="4697273" y="168249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697273" y="2194560"/>
            <a:ext cx="2795321" cy="329184"/>
          </a:xfrm>
          <a:prstGeom prst="rect">
            <a:avLst/>
          </a:prstGeom>
          <a:noFill/>
          <a:ln/>
        </p:spPr>
        <p:txBody>
          <a:bodyPr wrap="square" lIns="0" tIns="0" rIns="0" bIns="0" rtlCol="0" anchor="ctr"/>
          <a:lstStyle/>
          <a:p>
            <a:pPr marL="0" indent="0">
              <a:buNone/>
            </a:pPr>
            <a:r>
              <a:rPr lang="en-US" sz="1500" b="1" dirty="0">
                <a:solidFill>
                  <a:srgbClr val="1B2733"/>
                </a:solidFill>
                <a:latin typeface="游ゴシック" pitchFamily="34" charset="0"/>
                <a:ea typeface="游ゴシック" pitchFamily="34" charset="-122"/>
                <a:cs typeface="游ゴシック" pitchFamily="34" charset="-120"/>
              </a:rPr>
              <a:t>厳密に照合する</a:t>
            </a:r>
            <a:endParaRPr lang="en-US" sz="1500" dirty="0"/>
          </a:p>
        </p:txBody>
      </p:sp>
      <p:sp>
        <p:nvSpPr>
          <p:cNvPr id="14" name="Text 12"/>
          <p:cNvSpPr txBox="1"/>
          <p:nvPr/>
        </p:nvSpPr>
        <p:spPr>
          <a:xfrm>
            <a:off x="4697273" y="2596896"/>
            <a:ext cx="2795321" cy="1097280"/>
          </a:xfrm>
          <a:prstGeom prst="rect">
            <a:avLst/>
          </a:prstGeom>
          <a:noFill/>
          <a:ln/>
        </p:spPr>
        <p:txBody>
          <a:bodyPr wrap="square" lIns="0" tIns="0" rIns="0" bIns="0" rtlCol="0" anchor="ctr"/>
          <a:lstStyle/>
          <a:p>
            <a:pPr marL="0" indent="0">
              <a:lnSpc>
                <a:spcPct val="135000"/>
              </a:lnSpc>
              <a:buNone/>
            </a:pPr>
            <a:r>
              <a:rPr lang="en-US" sz="1200" dirty="0">
                <a:solidFill>
                  <a:srgbClr val="32414E"/>
                </a:solidFill>
                <a:latin typeface="游ゴシック" pitchFamily="34" charset="0"/>
                <a:ea typeface="游ゴシック" pitchFamily="34" charset="-122"/>
                <a:cs typeface="游ゴシック" pitchFamily="34" charset="-120"/>
              </a:rPr>
              <a:t>点の一対一対応と、接続の種類・向きまで合うかを総当たりで確かめる。粗い条件が同じというだけでは一致としない</a:t>
            </a:r>
            <a:endParaRPr lang="en-US" sz="1200" dirty="0"/>
          </a:p>
        </p:txBody>
      </p:sp>
      <p:sp>
        <p:nvSpPr>
          <p:cNvPr id="15" name="Shape 13"/>
          <p:cNvSpPr/>
          <p:nvPr/>
        </p:nvSpPr>
        <p:spPr>
          <a:xfrm>
            <a:off x="7849210" y="252374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16" name="Shape 14"/>
          <p:cNvSpPr/>
          <p:nvPr/>
        </p:nvSpPr>
        <p:spPr>
          <a:xfrm>
            <a:off x="8114386" y="1417320"/>
            <a:ext cx="3417113" cy="2487168"/>
          </a:xfrm>
          <a:prstGeom prst="roundRect">
            <a:avLst>
              <a:gd name="adj" fmla="val 2941"/>
            </a:avLst>
          </a:prstGeom>
          <a:solidFill>
            <a:srgbClr val="F5F8FA"/>
          </a:solidFill>
          <a:ln w="12700">
            <a:solidFill>
              <a:srgbClr val="333333"/>
            </a:solidFill>
            <a:prstDash val="solid"/>
          </a:ln>
        </p:spPr>
        <p:txBody>
          <a:bodyPr/>
          <a:lstStyle/>
          <a:p>
            <a:endParaRPr lang="ja-JP" altLang="en-US"/>
          </a:p>
        </p:txBody>
      </p:sp>
      <p:sp>
        <p:nvSpPr>
          <p:cNvPr id="17" name="Shape 15"/>
          <p:cNvSpPr/>
          <p:nvPr/>
        </p:nvSpPr>
        <p:spPr>
          <a:xfrm>
            <a:off x="8425282" y="1682496"/>
            <a:ext cx="365760" cy="365760"/>
          </a:xfrm>
          <a:prstGeom prst="ellipse">
            <a:avLst/>
          </a:prstGeom>
          <a:solidFill>
            <a:srgbClr val="0E2841"/>
          </a:solidFill>
          <a:ln w="12700">
            <a:solidFill>
              <a:srgbClr val="333333"/>
            </a:solidFill>
            <a:prstDash val="solid"/>
          </a:ln>
        </p:spPr>
        <p:txBody>
          <a:bodyPr/>
          <a:lstStyle/>
          <a:p>
            <a:endParaRPr lang="ja-JP" altLang="en-US"/>
          </a:p>
        </p:txBody>
      </p:sp>
      <p:sp>
        <p:nvSpPr>
          <p:cNvPr id="18" name="Text 16"/>
          <p:cNvSpPr txBox="1"/>
          <p:nvPr/>
        </p:nvSpPr>
        <p:spPr>
          <a:xfrm>
            <a:off x="8425282" y="168249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425282" y="2194560"/>
            <a:ext cx="2795321" cy="329184"/>
          </a:xfrm>
          <a:prstGeom prst="rect">
            <a:avLst/>
          </a:prstGeom>
          <a:noFill/>
          <a:ln/>
        </p:spPr>
        <p:txBody>
          <a:bodyPr wrap="square" lIns="0" tIns="0" rIns="0" bIns="0" rtlCol="0" anchor="ctr"/>
          <a:lstStyle/>
          <a:p>
            <a:pPr marL="0" indent="0">
              <a:buNone/>
            </a:pPr>
            <a:r>
              <a:rPr lang="en-US" sz="1500" b="1" dirty="0">
                <a:solidFill>
                  <a:srgbClr val="1B2733"/>
                </a:solidFill>
                <a:latin typeface="游ゴシック" pitchFamily="34" charset="0"/>
                <a:ea typeface="游ゴシック" pitchFamily="34" charset="-122"/>
                <a:cs typeface="游ゴシック" pitchFamily="34" charset="-120"/>
              </a:rPr>
              <a:t>支持する事例を数える</a:t>
            </a:r>
            <a:endParaRPr lang="en-US" sz="1500" dirty="0"/>
          </a:p>
        </p:txBody>
      </p:sp>
      <p:sp>
        <p:nvSpPr>
          <p:cNvPr id="20" name="Text 18"/>
          <p:cNvSpPr txBox="1"/>
          <p:nvPr/>
        </p:nvSpPr>
        <p:spPr>
          <a:xfrm>
            <a:off x="8425282" y="2596896"/>
            <a:ext cx="2795321" cy="1097280"/>
          </a:xfrm>
          <a:prstGeom prst="rect">
            <a:avLst/>
          </a:prstGeom>
          <a:noFill/>
          <a:ln/>
        </p:spPr>
        <p:txBody>
          <a:bodyPr wrap="square" lIns="0" tIns="0" rIns="0" bIns="0" rtlCol="0" anchor="ctr"/>
          <a:lstStyle/>
          <a:p>
            <a:pPr marL="0" indent="0">
              <a:lnSpc>
                <a:spcPct val="135000"/>
              </a:lnSpc>
              <a:buNone/>
            </a:pPr>
            <a:r>
              <a:rPr lang="en-US" sz="1200" dirty="0">
                <a:solidFill>
                  <a:srgbClr val="32414E"/>
                </a:solidFill>
                <a:latin typeface="游ゴシック" pitchFamily="34" charset="0"/>
                <a:ea typeface="游ゴシック" pitchFamily="34" charset="-122"/>
                <a:cs typeface="游ゴシック" pitchFamily="34" charset="-120"/>
              </a:rPr>
              <a:t>2件以上の文書に現れた構造を、繰り返し現れる構造として残す。同じ文書内の繰り返しは支持数に数えない</a:t>
            </a:r>
            <a:endParaRPr lang="en-US" sz="1200" dirty="0"/>
          </a:p>
        </p:txBody>
      </p:sp>
      <p:sp>
        <p:nvSpPr>
          <p:cNvPr id="21" name="Text 19"/>
          <p:cNvSpPr txBox="1"/>
          <p:nvPr/>
        </p:nvSpPr>
        <p:spPr>
          <a:xfrm>
            <a:off x="658368" y="4078224"/>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探索に進めず保留する断片</a:t>
            </a:r>
            <a:endParaRPr lang="en-US" sz="1400" dirty="0"/>
          </a:p>
        </p:txBody>
      </p:sp>
      <p:sp>
        <p:nvSpPr>
          <p:cNvPr id="22" name="Shape 20"/>
          <p:cNvSpPr/>
          <p:nvPr/>
        </p:nvSpPr>
        <p:spPr>
          <a:xfrm>
            <a:off x="658368" y="4389120"/>
            <a:ext cx="5253228" cy="1353312"/>
          </a:xfrm>
          <a:prstGeom prst="roundRect">
            <a:avLst>
              <a:gd name="adj" fmla="val 5405"/>
            </a:avLst>
          </a:prstGeom>
          <a:solidFill>
            <a:srgbClr val="EEF5F8"/>
          </a:solidFill>
          <a:ln w="12700">
            <a:solidFill>
              <a:srgbClr val="333333"/>
            </a:solidFill>
            <a:prstDash val="solid"/>
          </a:ln>
        </p:spPr>
        <p:txBody>
          <a:bodyPr/>
          <a:lstStyle/>
          <a:p>
            <a:endParaRPr lang="ja-JP" altLang="en-US"/>
          </a:p>
        </p:txBody>
      </p:sp>
      <p:sp>
        <p:nvSpPr>
          <p:cNvPr id="23" name="Text 21"/>
          <p:cNvSpPr txBox="1"/>
          <p:nvPr/>
        </p:nvSpPr>
        <p:spPr>
          <a:xfrm>
            <a:off x="969264" y="4572000"/>
            <a:ext cx="4631436" cy="100584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辞書にない概念を含む（空どうしを同じ意味として扱わない）</a:t>
            </a:r>
            <a:endParaRPr lang="en-US" sz="1200" dirty="0"/>
          </a:p>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未解決の限定や、曖昧な参照が残っている</a:t>
            </a:r>
            <a:endParaRPr lang="en-US" sz="1200" dirty="0"/>
          </a:p>
        </p:txBody>
      </p:sp>
      <p:sp>
        <p:nvSpPr>
          <p:cNvPr id="24" name="Text 22"/>
          <p:cNvSpPr txBox="1"/>
          <p:nvPr/>
        </p:nvSpPr>
        <p:spPr>
          <a:xfrm>
            <a:off x="6569964" y="4078224"/>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比較する情報を切り替えられるようにする</a:t>
            </a:r>
            <a:endParaRPr lang="en-US" sz="1400" dirty="0"/>
          </a:p>
        </p:txBody>
      </p:sp>
      <p:sp>
        <p:nvSpPr>
          <p:cNvPr id="25" name="Shape 23"/>
          <p:cNvSpPr/>
          <p:nvPr/>
        </p:nvSpPr>
        <p:spPr>
          <a:xfrm>
            <a:off x="6569964" y="4389120"/>
            <a:ext cx="5253228" cy="1353312"/>
          </a:xfrm>
          <a:prstGeom prst="roundRect">
            <a:avLst>
              <a:gd name="adj" fmla="val 5405"/>
            </a:avLst>
          </a:prstGeom>
          <a:solidFill>
            <a:srgbClr val="F5F8FA"/>
          </a:solidFill>
          <a:ln w="12700">
            <a:solidFill>
              <a:srgbClr val="333333"/>
            </a:solidFill>
            <a:prstDash val="solid"/>
          </a:ln>
        </p:spPr>
        <p:txBody>
          <a:bodyPr/>
          <a:lstStyle/>
          <a:p>
            <a:endParaRPr lang="ja-JP" altLang="en-US"/>
          </a:p>
        </p:txBody>
      </p:sp>
      <p:sp>
        <p:nvSpPr>
          <p:cNvPr id="26" name="Text 24"/>
          <p:cNvSpPr txBox="1"/>
          <p:nvPr/>
        </p:nvSpPr>
        <p:spPr>
          <a:xfrm>
            <a:off x="6880860" y="4572000"/>
            <a:ext cx="4631436" cy="100584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概念ID・否定・条件を外した方式や、形だけの方式でも同じ断片を比較できる</a:t>
            </a:r>
            <a:endParaRPr lang="en-US" sz="1200" dirty="0"/>
          </a:p>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どの情報が誤った一致を防いでいるかを、後から確かめるため</a:t>
            </a:r>
            <a:endParaRPr lang="en-US" sz="1200" dirty="0"/>
          </a:p>
        </p:txBody>
      </p:sp>
      <p:sp>
        <p:nvSpPr>
          <p:cNvPr id="27" name="Text 25"/>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1111</Words>
  <Application>Microsoft Office PowerPoint</Application>
  <PresentationFormat>ワイド画面</PresentationFormat>
  <Paragraphs>278</Paragraphs>
  <Slides>16</Slides>
  <Notes>16</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游ゴシック</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インターン成果報告</dc:title>
  <dc:subject>PptxGenJS Presentation</dc:subject>
  <dc:creator>岩﨑文紀</dc:creator>
  <cp:lastModifiedBy>文紀 岩﨑</cp:lastModifiedBy>
  <cp:revision>3</cp:revision>
  <dcterms:created xsi:type="dcterms:W3CDTF">2026-09-15T12:32:04Z</dcterms:created>
  <dcterms:modified xsi:type="dcterms:W3CDTF">2026-09-15T12:37:03Z</dcterms:modified>
</cp:coreProperties>
</file>