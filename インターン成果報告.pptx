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自己紹介。インターンで取り組んだテーマの位置づけを一言で述べる。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全体の流れ。手法は概要と詳細の2枚、結果と考察はまとめて3章、最後に振り返り。付録は質疑用。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左：いま困っていること。右：それに対してやりたいこと。下段：そのために今取り組んでいる範囲（実験は進行中で、結果はこの後のスライドで触れる）。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段は4段階の流れ。1〜2がLLM、3がプログラム、4が質問応答。下段は理由を①→②→③でつなぐ：①分野が違っても関係は残る、②その関係のまとまりこそが考え方、③だから繰り返す構造は考え方の候補になる。②の根拠としてStructure-Mapping（類推では対象の属性より関係の対応づけが中核）を挙げる。最後に速度の利点を補足。手法はまだ検討中である点も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→中→右の順に話す。中央のCLAIMが要：因果・兆候・必要・順序を混ぜず、条件や「〜のことがある」を関係そのものに結びつけられる。比較もこのCLAIMを起点に切り出すので、意味の欠けた断片どうしは一致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AI活用の推進状況と、定例での事例共有から感じた技術への感度の高さ。②いつでも議論できる環境。メンターの方の説明と、まわりの人が自然に議論へ加わってくる雰囲気。③熟練者の方とAIの対話の会に参加して感じた、知識の深さと仕事への誇り。ここでノウハウを残すことの意義を再認識した、という流れで下段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ここから先は質疑用の付録。時間があれば構造化（A-1〜A-3）と構造比較（A-4〜A-6）を説明する。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左：原文を7種類の点に分解する。右：因果などの関係を辺ではなく点として置くことで、条件や確からしさをその関係に付けられる。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上段：原文の意味を決める3つの情報。これを残すかどうかで、後の比較の精度が変わる。下段：分野をまたぐために言葉づかいをそろえるが、違う意味まで統合しない。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抽出でいちばん怖いのは、もっともらしい因果を足してしまうこと。足さないための規則と、表せない部分の置き場をセットで決めている。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比較の単位をどう切り出すか。意味を決める引数を落とすと、形だけ似た別物が一致してしまうため、閉じた範囲で切り出す。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比較の設計で最も効くところ。使う情報を増やすと誤った一致は減るが、厳しくしすぎると分野をまたいだ一致が消える。そのバランスを実験で確かめている。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照合は2段階。粗い条件はあくまで絞り込みで、一致の証明にはしない。保留した断片は辞書を直してから再探索する。最後の枠は、比較方式を差し替えて効果を測れるようにしてあるという話。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8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108960"/>
            <a:ext cx="4754880" cy="4754880"/>
          </a:xfrm>
          <a:prstGeom prst="ellipse">
            <a:avLst/>
          </a:prstGeom>
          <a:solidFill>
            <a:srgbClr val="0E2841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78440" y="4526280"/>
            <a:ext cx="1920240" cy="1920240"/>
          </a:xfrm>
          <a:prstGeom prst="ellipse">
            <a:avLst/>
          </a:prstGeom>
          <a:solidFill>
            <a:srgbClr val="156082">
              <a:alpha val="45000"/>
            </a:srgbClr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2487168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インターン成果報告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456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熟練者の分野を横断した共通の「考え方」の発見に向けて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05840" y="4224528"/>
            <a:ext cx="502920" cy="32004"/>
          </a:xfrm>
          <a:prstGeom prst="rect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名古屋大学　岩﨑文紀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7548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420624" cy="42062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83664" y="1517904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377440"/>
            <a:ext cx="420624" cy="42062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883664" y="2340864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手法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83664" y="29809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29809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手法概要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83664" y="340156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578608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手法詳細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97280" y="3986784"/>
            <a:ext cx="420624" cy="42062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86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883664" y="395020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結果・考察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097280" y="4809744"/>
            <a:ext cx="420624" cy="42062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809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883664" y="477316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インターン振り返り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883664" y="56509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7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　構造化の詳細（A-1〜A-3）／ 構造比較の詳細（A-4〜A-6）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7548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分野を横断して共通する「考え方」を見つけたい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481328"/>
            <a:ext cx="4800600" cy="3310128"/>
          </a:xfrm>
          <a:prstGeom prst="roundRect">
            <a:avLst>
              <a:gd name="adj" fmla="val 2210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42416" y="1847088"/>
            <a:ext cx="1170432" cy="329184"/>
          </a:xfrm>
          <a:prstGeom prst="roundRect">
            <a:avLst>
              <a:gd name="adj" fmla="val 13888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1847088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課題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322576"/>
            <a:ext cx="40325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DBにない分野の質問に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うまく答えられない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182112"/>
            <a:ext cx="4032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現状はベクトル・語彙検索で具体的なノウハウを参照する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分野が違えば言葉づかいも違うため、同じ考え方でも結びつかない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729984" y="1481328"/>
            <a:ext cx="4800600" cy="3310128"/>
          </a:xfrm>
          <a:prstGeom prst="roundRect">
            <a:avLst>
              <a:gd name="adj" fmla="val 2210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14032" y="1847088"/>
            <a:ext cx="1170432" cy="329184"/>
          </a:xfrm>
          <a:prstGeom prst="roundRect">
            <a:avLst>
              <a:gd name="adj" fmla="val 138889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14032" y="1847088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やりたいこと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2322576"/>
            <a:ext cx="403250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分野をまたいで共通する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「考え方」を取り出す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3182112"/>
            <a:ext cx="4032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様々な分野の熟練者ノウハウを解析し、共通する考え方を見つける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見つけた考え方を、新規の分野の質問にも当てはめて使えるようにする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05856" y="2871216"/>
            <a:ext cx="804672" cy="53035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5138928"/>
            <a:ext cx="10872216" cy="969264"/>
          </a:xfrm>
          <a:prstGeom prst="roundRect">
            <a:avLst>
              <a:gd name="adj" fmla="val 5660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42416" y="53218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本インターンでの取り組み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" y="561441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熟練者ノウハウを機械が比較できる形に整え、分野をまたいで繰り返し現れる構造を探す仕組みを検討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1. 目標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手法の概要：構造にそろえてから、機械で共通部分を探す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58368" y="1316736"/>
            <a:ext cx="2459736" cy="2395728"/>
          </a:xfrm>
          <a:prstGeom prst="roundRect">
            <a:avLst>
              <a:gd name="adj" fmla="val 30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1572768"/>
            <a:ext cx="402336" cy="40233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84832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2523744"/>
            <a:ext cx="1837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ノウハウの原文を1件ずつLLMで、行動・量・変化・関係に分けた構造に変換する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82112" y="2377440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5576" y="1316736"/>
            <a:ext cx="2459736" cy="2395728"/>
          </a:xfrm>
          <a:prstGeom prst="roundRect">
            <a:avLst>
              <a:gd name="adj" fmla="val 30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6472" y="1572768"/>
            <a:ext cx="402336" cy="40233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76472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76472" y="2084832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523744"/>
            <a:ext cx="1837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分野ごとに違う言葉づかいを、共通の語彙にそろえる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9320" y="2377440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16736"/>
            <a:ext cx="2459736" cy="2395728"/>
          </a:xfrm>
          <a:prstGeom prst="roundRect">
            <a:avLst>
              <a:gd name="adj" fmla="val 30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1572768"/>
            <a:ext cx="402336" cy="402336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084832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共通構造の探索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523744"/>
            <a:ext cx="1837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複数の事例に繰り返し現れる部分構造を、プログラムで集める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96528" y="2377440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79992" y="1316736"/>
            <a:ext cx="2459736" cy="2395728"/>
          </a:xfrm>
          <a:prstGeom prst="roundRect">
            <a:avLst>
              <a:gd name="adj" fmla="val 3053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90888" y="1572768"/>
            <a:ext cx="402336" cy="402336"/>
          </a:xfrm>
          <a:prstGeom prst="ellipse">
            <a:avLst/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90888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390888" y="2084832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質問への適用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90888" y="2523744"/>
            <a:ext cx="1837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集めた構造を「考え方の候補」として、未登録の分野の質問に当てはめる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" y="3986784"/>
            <a:ext cx="10872216" cy="1828800"/>
          </a:xfrm>
          <a:prstGeom prst="roundRect">
            <a:avLst>
              <a:gd name="adj" fmla="val 3000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42416" y="413308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構造化して比べると、なぜ分野をまたぐ「考え方」が見つかるのか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4462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分野が違っても、関係は残る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473659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「人員を増やすと説明の時間が増える」と「製品種類を増やすと段取り時間が増える」は、言葉は違うが同じ関係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15384" y="4736592"/>
            <a:ext cx="237744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62856" y="4462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その関係のまとまりが「考え方」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4562856" y="473659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何をすると何が起きるか、という関係の組み合わせが熟練者の考え方。類推でも、対象の属性ではなく関係の対応づけが中核とされる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35824" y="4736592"/>
            <a:ext cx="237744" cy="256032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83296" y="4462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繰り返す構造が候補になる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083296" y="473659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複数の分野に共通して現れる関係の構造は、分野を超えて成り立つ考え方の候補になる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" y="54498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D0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加えて、一度構造にしておけば原文どうしの総当たり比較が不要になり、件数が増えても機械的に照合できる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590702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6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手法は検討中であり、今後変更する可能性がある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6327648"/>
            <a:ext cx="896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参考：Gentner, D. (1983). Structure-Mapping: A Theoretical Framework for Analogy. Cognitive Science, 7(2), 155–170.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手法　／　2.1 手法概要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114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CLAIM（関係そのもの）を中心に、構造化し、比較する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3127248" cy="3163824"/>
          </a:xfrm>
          <a:prstGeom prst="roundRect">
            <a:avLst>
              <a:gd name="adj" fmla="val 2339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9264" y="15179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構造化・正規化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969264" y="1938528"/>
            <a:ext cx="25054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原文を、対象・操作・量・変化・状態に分解する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辞書で概念IDを固定する（「使える時間」と「必要な時間」は別）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原文にない因果・主体・目的は足さない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03336" y="1298448"/>
            <a:ext cx="3127248" cy="3163824"/>
          </a:xfrm>
          <a:prstGeom prst="roundRect">
            <a:avLst>
              <a:gd name="adj" fmla="val 2339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14232" y="15179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構造比較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714232" y="1938528"/>
            <a:ext cx="25054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を起点に、意味が欠けない範囲を切り出す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対象の名前は変数として対応づけ、元の名前は残す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14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概念ID・向き・否定・確からしさ・条件は一致条件にする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33088" y="1170432"/>
            <a:ext cx="3922776" cy="3419856"/>
          </a:xfrm>
          <a:prstGeom prst="roundRect">
            <a:avLst>
              <a:gd name="adj" fmla="val 213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43984" y="1389888"/>
            <a:ext cx="841248" cy="292608"/>
          </a:xfrm>
          <a:prstGeom prst="roundRect">
            <a:avLst>
              <a:gd name="adj" fmla="val 156250"/>
            </a:avLst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43984" y="1389888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43984" y="181051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＝ 関係そのものを点にする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43984" y="2267712"/>
            <a:ext cx="3300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／ SIGNALS ／ REQUIRES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／ PRECEDES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926080"/>
            <a:ext cx="33009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├ FROM　　　→　原因・手がかり側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├ TO　　　　→　結果・示される側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└ CONDITION →　成立条件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400507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0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否定・確からしさ・立場も、この点に付ける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840480" y="2743200"/>
            <a:ext cx="237744" cy="292608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10728" y="2743200"/>
            <a:ext cx="237744" cy="292608"/>
          </a:xfrm>
          <a:prstGeom prst="rightArrow">
            <a:avLst/>
          </a:prstGeom>
          <a:solidFill>
            <a:srgbClr val="E971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754880"/>
            <a:ext cx="10872216" cy="969264"/>
          </a:xfrm>
          <a:prstGeom prst="roundRect">
            <a:avLst>
              <a:gd name="adj" fmla="val 5660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" y="4882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を点として置くことが、この手法の要になる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5138928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関係の種類を混ぜない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53766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「Aの後にB」と「AがBを起こす」が別物になる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489704" y="5138928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条件・否定・確からしさを関係に付ける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489704" y="53766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「〜のことがある」を落とさずに比較できる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010144" y="5138928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比較の起点と単位になる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010144" y="5376672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意味の欠けた断片どうしが一致しない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521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76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手法は検討中であり、今後変更する可能性がある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手法　／　2.2 手法詳細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4672" y="54864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結果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3. 結果・考察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4672" y="54864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考察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3. 結果・考察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47548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技術への感度の高さ、議論できる環境、熟練者の知識の深さ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58368" y="1298448"/>
            <a:ext cx="3429000" cy="3840480"/>
          </a:xfrm>
          <a:prstGeom prst="roundRect">
            <a:avLst>
              <a:gd name="adj" fmla="val 213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9264" y="1609344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取り組みと技術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84832"/>
            <a:ext cx="2807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AI活用推進のための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さまざまな取り組み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2761488"/>
            <a:ext cx="280720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トヨタ全体でAI活用を推進するなかで、さまざまな取り組みが進んでいることを知った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同時に、まだ解決すべき課題が多く残っていることも知った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定例で最新のAI活用事例が共有され、AI CoEグループの皆さんの技術への感度の高さを感じた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79976" y="1298448"/>
            <a:ext cx="3429000" cy="3840480"/>
          </a:xfrm>
          <a:prstGeom prst="roundRect">
            <a:avLst>
              <a:gd name="adj" fmla="val 2133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1609344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1560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0872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働く環境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690872" y="2084832"/>
            <a:ext cx="2807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いつでも議論できる環境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761488"/>
            <a:ext cx="280720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疑問があれば、メンターの方がホワイトボードでその場で説明してくださった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誰かが議論を始めると、近くの人が自然に加わって一緒に考えてくれる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新たな視点の意見をその場で聞ける、コミュニケーションが盛んな環境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1298448"/>
            <a:ext cx="3429000" cy="3840480"/>
          </a:xfrm>
          <a:prstGeom prst="roundRect">
            <a:avLst>
              <a:gd name="adj" fmla="val 213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9AA8B4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1609344"/>
            <a:ext cx="1783080" cy="310896"/>
          </a:xfrm>
          <a:prstGeom prst="roundRect">
            <a:avLst>
              <a:gd name="adj" fmla="val 147059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熟練者との対話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084832"/>
            <a:ext cx="28072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専門知識の深さと、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仕事への誇り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761488"/>
            <a:ext cx="280720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熟練者の方がAIと対話してノウハウを集める会に参加させていただいた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仕事に対する誇りと情熱、そして専門分野の知識の深さに感激した</a:t>
            </a:r>
            <a:endParaRPr lang="en-US" sz="1150" dirty="0"/>
          </a:p>
          <a:p>
            <a:pPr marL="342900" indent="-342900">
              <a:lnSpc>
                <a:spcPct val="132000"/>
              </a:lnSpc>
              <a:spcAft>
                <a:spcPts val="1100"/>
              </a:spcAft>
              <a:buSzPct val="100000"/>
              <a:buChar char="–"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ノウハウを集めて活用できるようにすることの重要性を、あらためて実感した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5321808"/>
            <a:ext cx="10872216" cy="822960"/>
          </a:xfrm>
          <a:prstGeom prst="roundRect">
            <a:avLst>
              <a:gd name="adj" fmla="val 6667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42416" y="544982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2週間を通して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57058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AI活用の現在地と、それを前に進める議論のしかた、そして熟練者のノウハウを残すことの意義に触れられた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146304"/>
            <a:ext cx="5495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4. インターン振り返り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8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3566160"/>
            <a:ext cx="4206240" cy="4206240"/>
          </a:xfrm>
          <a:prstGeom prst="ellipse">
            <a:avLst/>
          </a:prstGeom>
          <a:solidFill>
            <a:srgbClr val="0E2841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724912"/>
            <a:ext cx="7315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２週間ありがとうございました！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3342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以上です。ご清聴ありがとうございました。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8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3566160"/>
            <a:ext cx="4206240" cy="4206240"/>
          </a:xfrm>
          <a:prstGeom prst="ellipse">
            <a:avLst/>
          </a:prstGeom>
          <a:solidFill>
            <a:srgbClr val="0E2841"/>
          </a:solidFill>
          <a:ln w="15875">
            <a:solidFill>
              <a:srgbClr val="15608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331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724912"/>
            <a:ext cx="7315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712464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A-1 〜 A-3　構造化の詳細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A-4 〜 A-6　構造比較の詳細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A-1 ／ 構造化の詳細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ノウハウを、7種類の点と、その間の接続で表す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ノードの7種類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989320" cy="4069080"/>
          </a:xfrm>
          <a:prstGeom prst="roundRect">
            <a:avLst>
              <a:gd name="adj" fmla="val 1798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79222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395728" y="1792224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対象。物・人・集団・活動・システムなど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0428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95728" y="2304288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行う操作・働きかけ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163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395728" y="2816352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ある対象について測る量・属性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3284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395728" y="3328416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量の変化（増加／減少）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8404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395728" y="3840480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対象の状態、または量と値の比較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43525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95728" y="4352544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因果などの意味関係そのもの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8646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395728" y="4864608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明示された AND / OR / NOT のまとまり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1170432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関係そのものを、1つの点として置く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31152" y="1536192"/>
            <a:ext cx="4599432" cy="1783080"/>
          </a:xfrm>
          <a:prstGeom prst="roundRect">
            <a:avLst>
              <a:gd name="adj" fmla="val 410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42048" y="1755648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CLAIM［CAUSES］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FROM　　　→　ACTION（原因側）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TO　　　　→　CHANGE（結果側）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└ CONDITION →　STATE（成立条件）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931152" y="3456432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関係を点にすると、成立条件や「〜のことがある」を、関係そのものに結びつけて残せる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4096512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関係の種類（5つ）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31152" y="4407408"/>
            <a:ext cx="4599432" cy="1298448"/>
          </a:xfrm>
          <a:prstGeom prst="roundRect">
            <a:avLst>
              <a:gd name="adj" fmla="val 5634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05472" y="45354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94192" y="4535424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原因 → 結果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205472" y="47594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394192" y="4759452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手がかり → 示すもの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49834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394192" y="4983480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成立に必要なもの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52075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394192" y="5207508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防ぐ側 → 防がれる出来事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205472" y="5431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PRECEDES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431536"/>
            <a:ext cx="2862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先行 → 後続（因果ではない）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A-2 ／ 構造化の詳細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1件ごとに、意味を決める情報を明示して残す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3417113" cy="2395728"/>
          </a:xfrm>
          <a:prstGeom prst="roundRect">
            <a:avLst>
              <a:gd name="adj" fmla="val 30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664208"/>
            <a:ext cx="27953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938528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肯定か、否定か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2359152"/>
            <a:ext cx="279532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／ NEGATIVE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3145536"/>
            <a:ext cx="27953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「時間が増える」と「時間が増えない」を別のものとして残す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6377" y="1417320"/>
            <a:ext cx="3417113" cy="2395728"/>
          </a:xfrm>
          <a:prstGeom prst="roundRect">
            <a:avLst>
              <a:gd name="adj" fmla="val 30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97273" y="1664208"/>
            <a:ext cx="27953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MODALITY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697273" y="1938528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どれくらい確からしいか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697273" y="2359152"/>
            <a:ext cx="279532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ASSERTED ／ POSSIBLE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／ UNSPECIFIED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97273" y="3145536"/>
            <a:ext cx="27953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「増える」と「増えることがある」を別のものとして残す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14386" y="1417320"/>
            <a:ext cx="3417113" cy="2395728"/>
          </a:xfrm>
          <a:prstGeom prst="roundRect">
            <a:avLst>
              <a:gd name="adj" fmla="val 305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25282" y="1664208"/>
            <a:ext cx="27953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425282" y="1938528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どの立場の記述か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425282" y="2359152"/>
            <a:ext cx="279532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／ GENERAL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／ RECOMMENDATION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E2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／ UNSPECIFIED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425282" y="3145536"/>
            <a:ext cx="27953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「実施した」と「実施すべき」を別のものとして残す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4041648"/>
            <a:ext cx="10872216" cy="1700784"/>
          </a:xfrm>
          <a:prstGeom prst="roundRect">
            <a:avLst>
              <a:gd name="adj" fmla="val 4301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2416" y="424281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共通の語彙（辞書）で、言葉づかいをそろえる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4590288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意味ごとに固定した概念IDを割り当てる（例：「追加する」→ core:action.add）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似ていても違う意味は分ける（活動にかかる時間／使える時間／必要な時間は別の概念）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辞書にない意味は無理に当てはめず、空のまま残し、辞書に追加する候補として記録する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A-3 ／ 構造化の詳細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原文にないものを足さず、表せない部分も捨てない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足さない（勝手に補わない）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253228" cy="3127248"/>
          </a:xfrm>
          <a:prstGeom prst="roundRect">
            <a:avLst>
              <a:gd name="adj" fmla="val 2339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810512"/>
            <a:ext cx="46314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原文にない因果・主体・目的・評価を補わない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「A なら B」だけを根拠に、因果があるとはしない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「A の後に B」は時間順序であって、因果ではない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「増やす」（行動）から「増えた」（実現した変化）を作らない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12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辞書にない意味を、OTHER や UNKNOWN でまとめない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569964" y="1170432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捨てない（表せない部分の置き場）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69964" y="1536192"/>
            <a:ext cx="5253228" cy="3127248"/>
          </a:xfrm>
          <a:prstGeom prst="roundRect">
            <a:avLst>
              <a:gd name="adj" fmla="val 2339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0860" y="1865376"/>
            <a:ext cx="4631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80860" y="2121408"/>
            <a:ext cx="46314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正規化しきれない限定（条件・例外・比較基準）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80860" y="2560320"/>
            <a:ext cx="4631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unrepresented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80860" y="2816352"/>
            <a:ext cx="46314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この形式では表せなかった記述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80860" y="3255264"/>
            <a:ext cx="4631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80860" y="3511296"/>
            <a:ext cx="46314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曖昧な参照、必要な引数の欠落など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880860" y="3950208"/>
            <a:ext cx="46314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dictionary_candidates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80860" y="4206240"/>
            <a:ext cx="46314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辞書に追加したい概念の候補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4882896"/>
            <a:ext cx="10872216" cy="786384"/>
          </a:xfrm>
          <a:prstGeom prst="roundRect">
            <a:avLst>
              <a:gd name="adj" fmla="val 9302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2416" y="51023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すべての点と接続に、原文の該当箇所をそのまま引用して根拠として付ける。後から必ず原文へ戻って確認できるようにする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A-4 ／ 構造比較の詳細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比較する単位は、意味が欠けない最小のまとまり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切り出しの手順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773936"/>
            <a:ext cx="329184" cy="32918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1773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7373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CLAIM（意味関係）を起点にする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89888" y="208483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探索する大きさは、まず意味関係1個、または連結した2個に限る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292608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63824"/>
            <a:ext cx="329184" cy="32918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31272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意味を決める接続まで必ず含める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347472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FROM・TO・成立条件・操作の対象・変化する量・量の対象・LOGICの全要素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4315968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4553712"/>
            <a:ext cx="329184" cy="329184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451713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欠けた断片は同じ構造として扱わない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4864608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引数を落とした小さな一致を、元と同じ意味の構造とは見なさない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170432"/>
            <a:ext cx="4946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1つの断片に含める範囲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1536192"/>
            <a:ext cx="4946904" cy="2304288"/>
          </a:xfrm>
          <a:prstGeom prst="roundRect">
            <a:avLst>
              <a:gd name="adj" fmla="val 3175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76288" y="1773936"/>
            <a:ext cx="4361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CLAIM［CAUSES］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FROM　→ ACTION ─ 操作の対象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├ TO　　→ CHANGE ─ 変化する量 ─ 量の対象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└ CONDITION → STATE ─ 状態の対象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DD0E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　　　　　　　（比較の値・単位も含む）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059936"/>
            <a:ext cx="4946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含めてはいけない切り方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0" y="4370832"/>
            <a:ext cx="4946904" cy="1371600"/>
          </a:xfrm>
          <a:prstGeom prst="roundRect">
            <a:avLst>
              <a:gd name="adj" fmla="val 5333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76288" y="4553712"/>
            <a:ext cx="4361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CLAIM だけを取り出し、何が何を起こすのかを落とす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「A と B がそろうと C」の AND を、片方だけに分解する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A-5 ／ 構造比較の詳細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何を一致の判定に使い、何を使わないかを決めておく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170432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一致の判定に使う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5253228" cy="2907792"/>
          </a:xfrm>
          <a:prstGeom prst="roundRect">
            <a:avLst>
              <a:gd name="adj" fmla="val 2516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792224"/>
            <a:ext cx="46314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点の種類（ACTION・QUANTITY・CLAIM など）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正規化した概念ID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変化の向き（増加／減少）と、関係の種類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否定・確からしさ・記述の立場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比較演算子・値・単位、量の次元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接続の種類と向き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569964" y="1170432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一致の判定には使わない（対応表には残す）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69964" y="1536192"/>
            <a:ext cx="5253228" cy="2907792"/>
          </a:xfrm>
          <a:prstGeom prst="roundRect">
            <a:avLst>
              <a:gd name="adj" fmla="val 2516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0860" y="1792224"/>
            <a:ext cx="46314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文書ID・文書内のノードID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原文の表現そのもの、引用文</a:t>
            </a:r>
            <a:endParaRPr lang="en-US" sz="125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ENTITY（対象）の名前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80860" y="3383280"/>
            <a:ext cx="46314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これらを一致の条件にすると、言い回しや対象名が違うだけで別物と見なされ、分野をまたいだ共通構造が見つからない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4645152"/>
            <a:ext cx="10872216" cy="1371600"/>
          </a:xfrm>
          <a:prstGeom prst="roundRect">
            <a:avLst>
              <a:gd name="adj" fmla="val 5333"/>
            </a:avLst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2416" y="48097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ENTITY（対象）の扱い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" y="5120640"/>
            <a:ext cx="10058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対象は一対一の変数として対応づける。「人員」と「製品種類」が同じ意味だと宣言するのではなく、</a:t>
            </a:r>
            <a:endParaRPr lang="en-US" sz="12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違う対象の間で同じ関係が成り立つかを見る操作。元の名前と種類は対応表に残し、置き換えてよいかは別に確認する。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A-6 ／ 構造比較の詳細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3035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284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粗く絞ってから、厳密に照合し、支持する事例を数える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3417113" cy="2487168"/>
          </a:xfrm>
          <a:prstGeom prst="roundRect">
            <a:avLst>
              <a:gd name="adj" fmla="val 294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" y="1682496"/>
            <a:ext cx="365760" cy="365760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2194560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粗い条件で絞る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596896"/>
            <a:ext cx="27953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点の数・接続の数・ラベルの個数など、一致するなら必ず同じになる情報で候補を絞る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21201" y="2523744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6377" y="1417320"/>
            <a:ext cx="3417113" cy="2487168"/>
          </a:xfrm>
          <a:prstGeom prst="roundRect">
            <a:avLst>
              <a:gd name="adj" fmla="val 294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7273" y="1682496"/>
            <a:ext cx="365760" cy="365760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7273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97273" y="2194560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厳密に照合する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97273" y="2596896"/>
            <a:ext cx="27953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点の一対一対応と、接続の種類・向きまで合うかを総当たりで確かめる。粗い条件が同じというだけでは一致としない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49210" y="2523744"/>
            <a:ext cx="219456" cy="274320"/>
          </a:xfrm>
          <a:prstGeom prst="rightArrow">
            <a:avLst/>
          </a:prstGeom>
          <a:solidFill>
            <a:srgbClr val="C3C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4386" y="1417320"/>
            <a:ext cx="3417113" cy="2487168"/>
          </a:xfrm>
          <a:prstGeom prst="roundRect">
            <a:avLst>
              <a:gd name="adj" fmla="val 2941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25282" y="1682496"/>
            <a:ext cx="365760" cy="365760"/>
          </a:xfrm>
          <a:prstGeom prst="ellipse">
            <a:avLst/>
          </a:prstGeom>
          <a:solidFill>
            <a:srgbClr val="0E2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5282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25282" y="2194560"/>
            <a:ext cx="279532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支持する事例を数える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25282" y="2596896"/>
            <a:ext cx="27953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2件以上の文書に現れた構造を、繰り返し現れる構造として残す。同じ文書内の繰り返しは支持数に数えない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078224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探索に進めず保留する断片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389120"/>
            <a:ext cx="5253228" cy="1353312"/>
          </a:xfrm>
          <a:prstGeom prst="roundRect">
            <a:avLst>
              <a:gd name="adj" fmla="val 5405"/>
            </a:avLst>
          </a:prstGeom>
          <a:solidFill>
            <a:srgbClr val="EEF5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" y="4572000"/>
            <a:ext cx="46314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辞書にない概念を含む（空どうしを同じ意味として扱わない）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未解決の限定や、曖昧な参照が残っている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69964" y="4078224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比較する情報を切り替えられるようにする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69964" y="4389120"/>
            <a:ext cx="5253228" cy="1353312"/>
          </a:xfrm>
          <a:prstGeom prst="roundRect">
            <a:avLst>
              <a:gd name="adj" fmla="val 5405"/>
            </a:avLst>
          </a:prstGeom>
          <a:solidFill>
            <a:srgbClr val="F5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80860" y="4572000"/>
            <a:ext cx="46314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概念ID・否定・条件を外した方式や、形だけの方式でも同じ断片を比較できる</a:t>
            </a:r>
            <a:endParaRPr lang="en-US" sz="1200" dirty="0"/>
          </a:p>
          <a:p>
            <a:pPr marL="342900" indent="-342900">
              <a:lnSpc>
                <a:spcPct val="132000"/>
              </a:lnSpc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32414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どの情報が誤った一致を防いでいるかを、後から確かめるため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0" y="6345936"/>
            <a:ext cx="1106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インターン成果報告</dc:title>
  <dc:subject>PptxGenJS Presentation</dc:subject>
  <dc:creator>岩﨑文紀</dc:creator>
  <cp:lastModifiedBy>岩﨑文紀</cp:lastModifiedBy>
  <cp:revision>1</cp:revision>
  <dcterms:created xsi:type="dcterms:W3CDTF">2026-09-15T21:37:18Z</dcterms:created>
  <dcterms:modified xsi:type="dcterms:W3CDTF">2026-09-15T21:37:18Z</dcterms:modified>
</cp:coreProperties>
</file>