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自己紹介。インターンで取り組んだテーマの位置づけを一言で述べる。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全体の流れ。手法は概要と詳細の2枚、結果と考察はまとめて3章、最後に振り返り。付録は質疑用。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左：いま困っていること。右：この取り組みの目標。下段：そのために作った仕組みの要約。詳しい手順は次のページ。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上段は4段階の流れ。1〜2がLLM、3がプログラム、4が質問応答。下段は理由を①→②→③でつなぐ：①分野が違っても関係は残る、②その関係のまとまりこそが考え方、③だから繰り返す構造は考え方の候補になる。②の根拠としてStructure-Mapping（類推では対象の属性より関係の対応づけが中核）を挙げる。最後に速度の利点を補足。手法はまだ検討中である点も触れ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→中→右の順に話す。中央のCLAIMが要：因果・兆候・必要・順序を混ぜず、条件や「〜のことがある」を関係そのものに結びつけられる。比較もこのCLAIMを起点に切り出すので、意味の欠けた断片どうしは一致し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左：質問を受けてから回答するまでの4手順。右：同じノウハウを2つの表現で持ち、検索と回答で使い分けていること。下段がこの設計の肝。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数字は2つだけ。1,000件を構造化し、そこから73パターンの共通構造が出た。加えて、質問を受けてから回答するところまで一通り作った、という話。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左：設計が効いた点。右：まだ確かめられていない点。下段：機械的な一致を、そのまま正しい考え方とは言わない、という注意。内容は仮置きなので、実際の所感に合わせて差し替える。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①AI活用の推進状況と、定例での事例共有から感じた技術への感度の高さ。②いつでも議論できる環境。メンターの方の説明と、まわりの人が自然に議論へ加わってくる雰囲気。③熟練者の方とAIの対話の会に参加して感じた、知識の深さと仕事への誇り。ここでノウハウを残すことの意義を再認識した、という流れで下段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ここから先は質疑用の付録。時間があれば構造化（A-1〜A-3）と構造比較（A-4〜A-6）を説明する。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左：原文を7種類の点に分解する。右：因果などの関係を辺ではなく点として置くことで、成立条件や否定をその関係に付けられる。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左：否定を落とさずに残すこと。右：言葉づかいを共通の概念IDにそろえること。似ていても違う意味は統合しない。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比較の単位をどう切り出すか。意味を決める引数を落とすと、形だけ似た別物が一致してしまうため、閉じた範囲で切り出す。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比較の設計で最も効くところ。使う情報を増やすと誤った一致は減るが、厳しくしすぎると分野をまたいだ一致が消える。そのバランスを実験で確かめている。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照合は2段階。粗い条件はあくまで絞り込みで、一致の証明にはしない。保留した断片は辞書を直してから再探索する。最後の枠は、比較方式を差し替えて効果を測れるようにしてあるという話。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8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3108960"/>
            <a:ext cx="4754880" cy="4754880"/>
          </a:xfrm>
          <a:prstGeom prst="ellipse">
            <a:avLst/>
          </a:prstGeom>
          <a:solidFill>
            <a:srgbClr val="0E2841"/>
          </a:solidFill>
          <a:ln w="15875">
            <a:solidFill>
              <a:srgbClr val="1560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78440" y="4526280"/>
            <a:ext cx="1920240" cy="1920240"/>
          </a:xfrm>
          <a:prstGeom prst="ellipse">
            <a:avLst/>
          </a:prstGeom>
          <a:solidFill>
            <a:srgbClr val="156082">
              <a:alpha val="45000"/>
            </a:srgbClr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5840" y="2487168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インターン成果報告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34564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熟練者の分野を横断した共通の「考え方」の発見に向けて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1005840" y="4224528"/>
            <a:ext cx="502920" cy="32004"/>
          </a:xfrm>
          <a:prstGeom prst="rect">
            <a:avLst/>
          </a:prstGeom>
          <a:solidFill>
            <a:srgbClr val="E971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4480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名古屋大学　岩﨑文紀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47548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84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目次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783080" y="2834640"/>
            <a:ext cx="8558784" cy="36576"/>
          </a:xfrm>
          <a:prstGeom prst="rect">
            <a:avLst/>
          </a:prstGeom>
          <a:solidFill>
            <a:srgbClr val="C3CD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62456" y="2432304"/>
            <a:ext cx="841248" cy="841248"/>
          </a:xfrm>
          <a:prstGeom prst="ellipse">
            <a:avLst/>
          </a:prstGeom>
          <a:solidFill>
            <a:srgbClr val="0E284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62456" y="2432304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352958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7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目標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215384" y="2432304"/>
            <a:ext cx="841248" cy="841248"/>
          </a:xfrm>
          <a:prstGeom prst="ellipse">
            <a:avLst/>
          </a:prstGeom>
          <a:solidFill>
            <a:srgbClr val="0E284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215384" y="2432304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218688" y="352958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7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手法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3218688" y="396849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2414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2.1  手法概要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3218688" y="42793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2414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2.2  手法詳細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068312" y="2432304"/>
            <a:ext cx="841248" cy="841248"/>
          </a:xfrm>
          <a:prstGeom prst="ellipse">
            <a:avLst/>
          </a:prstGeom>
          <a:solidFill>
            <a:srgbClr val="0E284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068312" y="2432304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6071616" y="352958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7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結果・考察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9921240" y="2432304"/>
            <a:ext cx="841248" cy="841248"/>
          </a:xfrm>
          <a:prstGeom prst="ellipse">
            <a:avLst/>
          </a:prstGeom>
          <a:solidFill>
            <a:srgbClr val="156082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921240" y="2432304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8924544" y="352958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7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インターン振り返り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" y="5760720"/>
            <a:ext cx="10872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A87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付録　構造化の詳細（A-1・A-2）／ 構造比較の詳細（A-3〜A-5）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0424160" y="6345936"/>
            <a:ext cx="1106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47548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84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分野を横断して共通する「考え方」を見つけたい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58368" y="1298448"/>
            <a:ext cx="5257800" cy="3611880"/>
          </a:xfrm>
          <a:prstGeom prst="roundRect">
            <a:avLst>
              <a:gd name="adj" fmla="val 2025"/>
            </a:avLst>
          </a:prstGeom>
          <a:solidFill>
            <a:srgbClr val="F5F8F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25400" dir="5400000">
              <a:srgbClr val="9AA8B4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69264" y="1499616"/>
            <a:ext cx="1170432" cy="292608"/>
          </a:xfrm>
          <a:prstGeom prst="roundRect">
            <a:avLst>
              <a:gd name="adj" fmla="val 156250"/>
            </a:avLst>
          </a:prstGeom>
          <a:solidFill>
            <a:srgbClr val="0E28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9264" y="1499616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現状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969264" y="1847088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3CDD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9264" y="190195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87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ソフトウェア開発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69264" y="21031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7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「人員を追加」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78608" y="1847088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3CD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78608" y="190195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87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製造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2578608" y="21031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7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「製品種類を追加」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87952" y="1847088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3CDD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187952" y="190195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87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予約サービス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4187952" y="21031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7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「予約枠を追加」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231136" y="1536192"/>
            <a:ext cx="3374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7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蓄積された分野ごとのノウハウ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4972" y="2450592"/>
            <a:ext cx="164592" cy="219456"/>
          </a:xfrm>
          <a:prstGeom prst="downArrow">
            <a:avLst/>
          </a:prstGeom>
          <a:solidFill>
            <a:srgbClr val="E971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1348" y="2688336"/>
            <a:ext cx="329184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3CDD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641348" y="2688336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7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ベクトル・語彙検索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204972" y="3255264"/>
            <a:ext cx="164592" cy="219456"/>
          </a:xfrm>
          <a:prstGeom prst="downArrow">
            <a:avLst/>
          </a:prstGeom>
          <a:solidFill>
            <a:srgbClr val="C3CD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433572" y="321868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A7B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×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641348" y="3566160"/>
            <a:ext cx="329184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3CDD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641348" y="356616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C9AA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新しい分野の質問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969264" y="4169664"/>
            <a:ext cx="4636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2414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分野が違えば言葉づかいも違うため、同じ考え方でも検索で結びつかない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72784" y="1298448"/>
            <a:ext cx="5257800" cy="3611880"/>
          </a:xfrm>
          <a:prstGeom prst="roundRect">
            <a:avLst>
              <a:gd name="adj" fmla="val 2025"/>
            </a:avLst>
          </a:prstGeom>
          <a:solidFill>
            <a:srgbClr val="F5F8F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25400" dir="5400000">
              <a:srgbClr val="9AA8B4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83680" y="1499616"/>
            <a:ext cx="1170432" cy="292608"/>
          </a:xfrm>
          <a:prstGeom prst="roundRect">
            <a:avLst>
              <a:gd name="adj" fmla="val 156250"/>
            </a:avLst>
          </a:prstGeom>
          <a:solidFill>
            <a:srgbClr val="1560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83680" y="1499616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目標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583680" y="1847088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3CDD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83680" y="190195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87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ソフトウェア開発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6583680" y="21031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7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「人員を追加」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193024" y="1847088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3CDD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193024" y="190195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87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製造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8193024" y="21031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7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「製品種類を追加」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802368" y="1847088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3CDD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802368" y="190195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87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予約サービス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9802368" y="21031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7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「予約枠を追加」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7845552" y="1536192"/>
            <a:ext cx="3374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7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蓄積された分野ごとのノウハウ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819388" y="2450592"/>
            <a:ext cx="164592" cy="219456"/>
          </a:xfrm>
          <a:prstGeom prst="downArrow">
            <a:avLst/>
          </a:prstGeom>
          <a:solidFill>
            <a:srgbClr val="E971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255764" y="2688336"/>
            <a:ext cx="3291840" cy="438912"/>
          </a:xfrm>
          <a:prstGeom prst="roundRect">
            <a:avLst>
              <a:gd name="adj" fmla="val 16667"/>
            </a:avLst>
          </a:prstGeom>
          <a:solidFill>
            <a:srgbClr val="0E28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255764" y="2688336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対象Xを追加 → 活動Yの時間が増加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8819388" y="3255264"/>
            <a:ext cx="164592" cy="219456"/>
          </a:xfrm>
          <a:prstGeom prst="downArrow">
            <a:avLst/>
          </a:prstGeom>
          <a:solidFill>
            <a:srgbClr val="E971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255764" y="3566160"/>
            <a:ext cx="3291840" cy="438912"/>
          </a:xfrm>
          <a:prstGeom prst="roundRect">
            <a:avLst>
              <a:gd name="adj" fmla="val 16667"/>
            </a:avLst>
          </a:prstGeom>
          <a:solidFill>
            <a:srgbClr val="1560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255764" y="356616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新しい分野の質問にも回答</a:t>
            </a:r>
            <a:endParaRPr lang="en-US" sz="1250" dirty="0"/>
          </a:p>
        </p:txBody>
      </p:sp>
      <p:sp>
        <p:nvSpPr>
          <p:cNvPr id="43" name="Text 41"/>
          <p:cNvSpPr txBox="1"/>
          <p:nvPr/>
        </p:nvSpPr>
        <p:spPr>
          <a:xfrm>
            <a:off x="6583680" y="4169664"/>
            <a:ext cx="4636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2414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複数分野のノウハウから共通する考え方を抽出しておけば、データベースにない分野にも当てはめられる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5669280" y="2834640"/>
            <a:ext cx="457200" cy="402336"/>
          </a:xfrm>
          <a:prstGeom prst="rightArrow">
            <a:avLst/>
          </a:prstGeom>
          <a:solidFill>
            <a:srgbClr val="E971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58368" y="5138928"/>
            <a:ext cx="10872216" cy="969264"/>
          </a:xfrm>
          <a:prstGeom prst="roundRect">
            <a:avLst>
              <a:gd name="adj" fmla="val 5660"/>
            </a:avLst>
          </a:prstGeom>
          <a:solidFill>
            <a:srgbClr val="0E28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042416" y="53218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本インターンでの取り組み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1042416" y="5614416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ノウハウを構造化・正規化して共通する構造を見つけ、質問に対して元の具体的な内容で回答する仕組みを構築</a:t>
            </a:r>
            <a:endParaRPr lang="en-US" sz="1500" dirty="0"/>
          </a:p>
        </p:txBody>
      </p:sp>
      <p:sp>
        <p:nvSpPr>
          <p:cNvPr id="48" name="Text 46"/>
          <p:cNvSpPr txBox="1"/>
          <p:nvPr/>
        </p:nvSpPr>
        <p:spPr>
          <a:xfrm>
            <a:off x="658368" y="146304"/>
            <a:ext cx="5495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18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1. 目標</a:t>
            </a:r>
            <a:endParaRPr lang="en-US" sz="1050" dirty="0"/>
          </a:p>
        </p:txBody>
      </p:sp>
      <p:sp>
        <p:nvSpPr>
          <p:cNvPr id="49" name="Text 47"/>
          <p:cNvSpPr txBox="1"/>
          <p:nvPr/>
        </p:nvSpPr>
        <p:spPr>
          <a:xfrm>
            <a:off x="10424160" y="6345936"/>
            <a:ext cx="1106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411480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84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構造化して共通構造を見つけ、元の具体的なノウハウで回答する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024128"/>
            <a:ext cx="6428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84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あらかじめ実行する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7324344" y="102412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質問を受けたときに実行する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1316736"/>
            <a:ext cx="1984248" cy="2139696"/>
          </a:xfrm>
          <a:prstGeom prst="roundRect">
            <a:avLst>
              <a:gd name="adj" fmla="val 3687"/>
            </a:avLst>
          </a:prstGeom>
          <a:solidFill>
            <a:srgbClr val="F5F8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1956816"/>
            <a:ext cx="160020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C3CDD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50392" y="1956816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7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人員を追加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586484" y="2432304"/>
            <a:ext cx="128016" cy="182880"/>
          </a:xfrm>
          <a:prstGeom prst="downArrow">
            <a:avLst/>
          </a:prstGeom>
          <a:solidFill>
            <a:srgbClr val="E971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" y="2633472"/>
            <a:ext cx="160020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C3CD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0392" y="2633472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7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説明時間が増加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77824" y="1481328"/>
            <a:ext cx="310896" cy="310896"/>
          </a:xfrm>
          <a:prstGeom prst="ellipse">
            <a:avLst/>
          </a:prstGeom>
          <a:solidFill>
            <a:srgbClr val="0E28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77824" y="1481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1225296" y="1463040"/>
            <a:ext cx="1252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構造化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670048" y="2276856"/>
            <a:ext cx="182880" cy="256032"/>
          </a:xfrm>
          <a:prstGeom prst="rightArrow">
            <a:avLst/>
          </a:prstGeom>
          <a:solidFill>
            <a:srgbClr val="C3CD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80360" y="1316736"/>
            <a:ext cx="1984248" cy="2139696"/>
          </a:xfrm>
          <a:prstGeom prst="roundRect">
            <a:avLst>
              <a:gd name="adj" fmla="val 3687"/>
            </a:avLst>
          </a:prstGeom>
          <a:solidFill>
            <a:srgbClr val="F5F8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72384" y="1956816"/>
            <a:ext cx="160020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072384" y="1956816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action.add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808476" y="2432304"/>
            <a:ext cx="128016" cy="182880"/>
          </a:xfrm>
          <a:prstGeom prst="downArrow">
            <a:avLst/>
          </a:prstGeom>
          <a:solidFill>
            <a:srgbClr val="E971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72384" y="2633472"/>
            <a:ext cx="160020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072384" y="2633472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活動時間が増加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099816" y="1481328"/>
            <a:ext cx="310896" cy="310896"/>
          </a:xfrm>
          <a:prstGeom prst="ellipse">
            <a:avLst/>
          </a:prstGeom>
          <a:solidFill>
            <a:srgbClr val="0E28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099816" y="1481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3447288" y="1463040"/>
            <a:ext cx="1252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正規化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92040" y="2276856"/>
            <a:ext cx="182880" cy="256032"/>
          </a:xfrm>
          <a:prstGeom prst="rightArrow">
            <a:avLst/>
          </a:prstGeom>
          <a:solidFill>
            <a:srgbClr val="C3CD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02352" y="1316736"/>
            <a:ext cx="1984248" cy="2139696"/>
          </a:xfrm>
          <a:prstGeom prst="roundRect">
            <a:avLst>
              <a:gd name="adj" fmla="val 3687"/>
            </a:avLst>
          </a:prstGeom>
          <a:solidFill>
            <a:srgbClr val="F5F8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02936" y="1865376"/>
            <a:ext cx="1600200" cy="1115568"/>
          </a:xfrm>
          <a:prstGeom prst="roundRect">
            <a:avLst>
              <a:gd name="adj" fmla="val 5738"/>
            </a:avLst>
          </a:prstGeom>
          <a:solidFill>
            <a:srgbClr val="DCE3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248656" y="1911096"/>
            <a:ext cx="1600200" cy="1115568"/>
          </a:xfrm>
          <a:prstGeom prst="roundRect">
            <a:avLst>
              <a:gd name="adj" fmla="val 5738"/>
            </a:avLst>
          </a:prstGeom>
          <a:solidFill>
            <a:srgbClr val="C6D1D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94376" y="1956816"/>
            <a:ext cx="1600200" cy="438912"/>
          </a:xfrm>
          <a:prstGeom prst="roundRect">
            <a:avLst>
              <a:gd name="adj" fmla="val 14583"/>
            </a:avLst>
          </a:prstGeom>
          <a:solidFill>
            <a:srgbClr val="0E28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294376" y="1956816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対象Xを追加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030468" y="2432304"/>
            <a:ext cx="128016" cy="182880"/>
          </a:xfrm>
          <a:prstGeom prst="downArrow">
            <a:avLst/>
          </a:prstGeom>
          <a:solidFill>
            <a:srgbClr val="E971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294376" y="2633472"/>
            <a:ext cx="1600200" cy="438912"/>
          </a:xfrm>
          <a:prstGeom prst="roundRect">
            <a:avLst>
              <a:gd name="adj" fmla="val 14583"/>
            </a:avLst>
          </a:prstGeom>
          <a:solidFill>
            <a:srgbClr val="0E28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294376" y="2633472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活動Yの時間が増加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321808" y="1481328"/>
            <a:ext cx="310896" cy="310896"/>
          </a:xfrm>
          <a:prstGeom prst="ellipse">
            <a:avLst/>
          </a:prstGeom>
          <a:solidFill>
            <a:srgbClr val="0E28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321808" y="1481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5669280" y="1463040"/>
            <a:ext cx="1252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共通構造の発見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114032" y="2276856"/>
            <a:ext cx="182880" cy="256032"/>
          </a:xfrm>
          <a:prstGeom prst="rightArrow">
            <a:avLst/>
          </a:prstGeom>
          <a:solidFill>
            <a:srgbClr val="C3CD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324344" y="1316736"/>
            <a:ext cx="1984248" cy="2139696"/>
          </a:xfrm>
          <a:prstGeom prst="roundRect">
            <a:avLst>
              <a:gd name="adj" fmla="val 3687"/>
            </a:avLst>
          </a:prstGeom>
          <a:solidFill>
            <a:srgbClr val="EE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516368" y="1956816"/>
            <a:ext cx="160020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516368" y="1956816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9713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？ 新しい分野の質問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252460" y="2432304"/>
            <a:ext cx="128016" cy="182880"/>
          </a:xfrm>
          <a:prstGeom prst="downArrow">
            <a:avLst/>
          </a:prstGeom>
          <a:solidFill>
            <a:srgbClr val="E971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516368" y="2633472"/>
            <a:ext cx="1600200" cy="438912"/>
          </a:xfrm>
          <a:prstGeom prst="roundRect">
            <a:avLst>
              <a:gd name="adj" fmla="val 14583"/>
            </a:avLst>
          </a:prstGeom>
          <a:solidFill>
            <a:srgbClr val="0E28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516368" y="2633472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一致した共通構造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7543800" y="1481328"/>
            <a:ext cx="310896" cy="310896"/>
          </a:xfrm>
          <a:prstGeom prst="ellipse">
            <a:avLst/>
          </a:prstGeom>
          <a:solidFill>
            <a:srgbClr val="1560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543800" y="1481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/>
          </a:p>
        </p:txBody>
      </p:sp>
      <p:sp>
        <p:nvSpPr>
          <p:cNvPr id="45" name="Text 43"/>
          <p:cNvSpPr txBox="1"/>
          <p:nvPr/>
        </p:nvSpPr>
        <p:spPr>
          <a:xfrm>
            <a:off x="7891272" y="1463040"/>
            <a:ext cx="1252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検索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9336024" y="2276856"/>
            <a:ext cx="182880" cy="256032"/>
          </a:xfrm>
          <a:prstGeom prst="rightArrow">
            <a:avLst/>
          </a:prstGeom>
          <a:solidFill>
            <a:srgbClr val="C3CD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546336" y="1316736"/>
            <a:ext cx="1984248" cy="2139696"/>
          </a:xfrm>
          <a:prstGeom prst="roundRect">
            <a:avLst>
              <a:gd name="adj" fmla="val 3687"/>
            </a:avLst>
          </a:prstGeom>
          <a:solidFill>
            <a:srgbClr val="EE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738360" y="1956816"/>
            <a:ext cx="160020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C3CDD6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9738360" y="1956816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7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元の具体的な内容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10474452" y="2432304"/>
            <a:ext cx="128016" cy="182880"/>
          </a:xfrm>
          <a:prstGeom prst="downArrow">
            <a:avLst/>
          </a:prstGeom>
          <a:solidFill>
            <a:srgbClr val="E971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738360" y="2633472"/>
            <a:ext cx="1600200" cy="438912"/>
          </a:xfrm>
          <a:prstGeom prst="roundRect">
            <a:avLst>
              <a:gd name="adj" fmla="val 14583"/>
            </a:avLst>
          </a:prstGeom>
          <a:solidFill>
            <a:srgbClr val="1560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9738360" y="2633472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アドバイスを生成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9765792" y="1481328"/>
            <a:ext cx="310896" cy="310896"/>
          </a:xfrm>
          <a:prstGeom prst="ellipse">
            <a:avLst/>
          </a:prstGeom>
          <a:solidFill>
            <a:srgbClr val="1560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9765792" y="1481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50" dirty="0"/>
          </a:p>
        </p:txBody>
      </p:sp>
      <p:sp>
        <p:nvSpPr>
          <p:cNvPr id="55" name="Text 53"/>
          <p:cNvSpPr txBox="1"/>
          <p:nvPr/>
        </p:nvSpPr>
        <p:spPr>
          <a:xfrm>
            <a:off x="10113264" y="1463040"/>
            <a:ext cx="1252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回答</a:t>
            </a:r>
            <a:endParaRPr lang="en-US" sz="1300" dirty="0"/>
          </a:p>
        </p:txBody>
      </p:sp>
      <p:sp>
        <p:nvSpPr>
          <p:cNvPr id="56" name="Text 54"/>
          <p:cNvSpPr txBox="1"/>
          <p:nvPr/>
        </p:nvSpPr>
        <p:spPr>
          <a:xfrm>
            <a:off x="658368" y="37490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なぜ共通構造が「考え方」になるのか</a:t>
            </a:r>
            <a:endParaRPr lang="en-US" sz="1250" dirty="0"/>
          </a:p>
        </p:txBody>
      </p:sp>
      <p:sp>
        <p:nvSpPr>
          <p:cNvPr id="57" name="Shape 55"/>
          <p:cNvSpPr/>
          <p:nvPr/>
        </p:nvSpPr>
        <p:spPr>
          <a:xfrm>
            <a:off x="658368" y="4114800"/>
            <a:ext cx="3319272" cy="868680"/>
          </a:xfrm>
          <a:prstGeom prst="roundRect">
            <a:avLst>
              <a:gd name="adj" fmla="val 8421"/>
            </a:avLst>
          </a:prstGeom>
          <a:solidFill>
            <a:srgbClr val="0E28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58368" y="4114800"/>
            <a:ext cx="3319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分野が違っても、関係は残る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4087368" y="4425696"/>
            <a:ext cx="237744" cy="256032"/>
          </a:xfrm>
          <a:prstGeom prst="rightArrow">
            <a:avLst/>
          </a:prstGeom>
          <a:solidFill>
            <a:srgbClr val="E971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434840" y="4114800"/>
            <a:ext cx="3319272" cy="868680"/>
          </a:xfrm>
          <a:prstGeom prst="roundRect">
            <a:avLst>
              <a:gd name="adj" fmla="val 8421"/>
            </a:avLst>
          </a:prstGeom>
          <a:solidFill>
            <a:srgbClr val="0E28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4434840" y="4114800"/>
            <a:ext cx="3319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関係のまとまり＝考え方</a:t>
            </a:r>
            <a:endParaRPr lang="en-US" sz="1400" dirty="0"/>
          </a:p>
        </p:txBody>
      </p:sp>
      <p:sp>
        <p:nvSpPr>
          <p:cNvPr id="62" name="Shape 60"/>
          <p:cNvSpPr/>
          <p:nvPr/>
        </p:nvSpPr>
        <p:spPr>
          <a:xfrm>
            <a:off x="7863840" y="4425696"/>
            <a:ext cx="237744" cy="256032"/>
          </a:xfrm>
          <a:prstGeom prst="rightArrow">
            <a:avLst/>
          </a:prstGeom>
          <a:solidFill>
            <a:srgbClr val="E971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211312" y="4114800"/>
            <a:ext cx="3319272" cy="868680"/>
          </a:xfrm>
          <a:prstGeom prst="roundRect">
            <a:avLst>
              <a:gd name="adj" fmla="val 8421"/>
            </a:avLst>
          </a:prstGeom>
          <a:solidFill>
            <a:srgbClr val="0E28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8211312" y="4114800"/>
            <a:ext cx="3319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繰り返す構造＝考え方の候補</a:t>
            </a:r>
            <a:endParaRPr lang="en-US" sz="1400" dirty="0"/>
          </a:p>
        </p:txBody>
      </p:sp>
      <p:sp>
        <p:nvSpPr>
          <p:cNvPr id="65" name="Text 63"/>
          <p:cNvSpPr txBox="1"/>
          <p:nvPr/>
        </p:nvSpPr>
        <p:spPr>
          <a:xfrm>
            <a:off x="658368" y="5212080"/>
            <a:ext cx="10872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2414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加えて、一度構造にしておけば総当たり比較が不要になり、件数が増えても機械的に照合できる</a:t>
            </a:r>
            <a:endParaRPr lang="en-US" sz="1150" dirty="0"/>
          </a:p>
        </p:txBody>
      </p:sp>
      <p:sp>
        <p:nvSpPr>
          <p:cNvPr id="66" name="Text 64"/>
          <p:cNvSpPr txBox="1"/>
          <p:nvPr/>
        </p:nvSpPr>
        <p:spPr>
          <a:xfrm>
            <a:off x="658368" y="6327648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参考：Gentner, D. (1983). Structure-Mapping: A Theoretical Framework for Analogy. Cognitive Science, 7(2), 155–170.</a:t>
            </a:r>
            <a:endParaRPr lang="en-US" sz="900" dirty="0"/>
          </a:p>
        </p:txBody>
      </p:sp>
      <p:sp>
        <p:nvSpPr>
          <p:cNvPr id="67" name="Text 65"/>
          <p:cNvSpPr txBox="1"/>
          <p:nvPr/>
        </p:nvSpPr>
        <p:spPr>
          <a:xfrm>
            <a:off x="658368" y="146304"/>
            <a:ext cx="5495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18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2. 手法　／　2.1 手法概要</a:t>
            </a:r>
            <a:endParaRPr lang="en-US" sz="1050" dirty="0"/>
          </a:p>
        </p:txBody>
      </p:sp>
      <p:sp>
        <p:nvSpPr>
          <p:cNvPr id="68" name="Text 66"/>
          <p:cNvSpPr txBox="1"/>
          <p:nvPr/>
        </p:nvSpPr>
        <p:spPr>
          <a:xfrm>
            <a:off x="10424160" y="6345936"/>
            <a:ext cx="1106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411480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84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CLAIM（関係そのもの）を中心に、構造化し、比較する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298448"/>
            <a:ext cx="3127248" cy="3163824"/>
          </a:xfrm>
          <a:prstGeom prst="roundRect">
            <a:avLst>
              <a:gd name="adj" fmla="val 2339"/>
            </a:avLst>
          </a:prstGeom>
          <a:solidFill>
            <a:srgbClr val="F5F8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9264" y="1517904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① 構造化・正規化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969264" y="1938528"/>
            <a:ext cx="250545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2000"/>
              </a:lnSpc>
              <a:spcAft>
                <a:spcPts val="1400"/>
              </a:spcAft>
              <a:buSzPct val="100000"/>
              <a:buChar char="–"/>
            </a:pPr>
            <a:r>
              <a:rPr lang="en-US" sz="1200" dirty="0">
                <a:solidFill>
                  <a:srgbClr val="32414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原文を、対象・操作・量・変化・状態に分解する</a:t>
            </a:r>
            <a:endParaRPr lang="en-US" sz="1200" dirty="0"/>
          </a:p>
          <a:p>
            <a:pPr marL="342900" indent="-342900">
              <a:lnSpc>
                <a:spcPct val="132000"/>
              </a:lnSpc>
              <a:spcAft>
                <a:spcPts val="1400"/>
              </a:spcAft>
              <a:buSzPct val="100000"/>
              <a:buChar char="–"/>
            </a:pPr>
            <a:r>
              <a:rPr lang="en-US" sz="1200" dirty="0">
                <a:solidFill>
                  <a:srgbClr val="32414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辞書で概念IDを固定する（「使える時間」と「必要な時間」は別）</a:t>
            </a:r>
            <a:endParaRPr lang="en-US" sz="1200" dirty="0"/>
          </a:p>
          <a:p>
            <a:pPr marL="342900" indent="-342900">
              <a:lnSpc>
                <a:spcPct val="132000"/>
              </a:lnSpc>
              <a:spcAft>
                <a:spcPts val="1400"/>
              </a:spcAft>
              <a:buSzPct val="100000"/>
              <a:buChar char="–"/>
            </a:pPr>
            <a:r>
              <a:rPr lang="en-US" sz="1200" dirty="0">
                <a:solidFill>
                  <a:srgbClr val="32414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原文にない因果・主体・目的は足さない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403336" y="1298448"/>
            <a:ext cx="3127248" cy="3163824"/>
          </a:xfrm>
          <a:prstGeom prst="roundRect">
            <a:avLst>
              <a:gd name="adj" fmla="val 2339"/>
            </a:avLst>
          </a:prstGeom>
          <a:solidFill>
            <a:srgbClr val="F5F8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714232" y="1517904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③ 構造比較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714232" y="1938528"/>
            <a:ext cx="250545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2000"/>
              </a:lnSpc>
              <a:spcAft>
                <a:spcPts val="1400"/>
              </a:spcAft>
              <a:buSzPct val="100000"/>
              <a:buChar char="–"/>
            </a:pPr>
            <a:r>
              <a:rPr lang="en-US" sz="1200" dirty="0">
                <a:solidFill>
                  <a:srgbClr val="32414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CLAIM を起点に、意味が欠けない範囲を切り出す</a:t>
            </a:r>
            <a:endParaRPr lang="en-US" sz="1200" dirty="0"/>
          </a:p>
          <a:p>
            <a:pPr marL="342900" indent="-342900">
              <a:lnSpc>
                <a:spcPct val="132000"/>
              </a:lnSpc>
              <a:spcAft>
                <a:spcPts val="1400"/>
              </a:spcAft>
              <a:buSzPct val="100000"/>
              <a:buChar char="–"/>
            </a:pPr>
            <a:r>
              <a:rPr lang="en-US" sz="1200" dirty="0">
                <a:solidFill>
                  <a:srgbClr val="32414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対象の名前は変数として対応づけ、元の名前は残す</a:t>
            </a:r>
            <a:endParaRPr lang="en-US" sz="1200" dirty="0"/>
          </a:p>
          <a:p>
            <a:pPr marL="342900" indent="-342900">
              <a:lnSpc>
                <a:spcPct val="132000"/>
              </a:lnSpc>
              <a:spcAft>
                <a:spcPts val="1400"/>
              </a:spcAft>
              <a:buSzPct val="100000"/>
              <a:buChar char="–"/>
            </a:pPr>
            <a:r>
              <a:rPr lang="en-US" sz="1200" dirty="0">
                <a:solidFill>
                  <a:srgbClr val="32414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概念ID・向き・否定・条件は一致条件にする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33088" y="1170432"/>
            <a:ext cx="3922776" cy="3419856"/>
          </a:xfrm>
          <a:prstGeom prst="roundRect">
            <a:avLst>
              <a:gd name="adj" fmla="val 2139"/>
            </a:avLst>
          </a:prstGeom>
          <a:solidFill>
            <a:srgbClr val="0E28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43984" y="1389888"/>
            <a:ext cx="841248" cy="292608"/>
          </a:xfrm>
          <a:prstGeom prst="roundRect">
            <a:avLst>
              <a:gd name="adj" fmla="val 156250"/>
            </a:avLst>
          </a:prstGeom>
          <a:solidFill>
            <a:srgbClr val="E971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43984" y="1389888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② 要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443984" y="1792224"/>
            <a:ext cx="3300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CLAIM ＝ 関係そのものを点にする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443984" y="2139696"/>
            <a:ext cx="1645920" cy="493776"/>
          </a:xfrm>
          <a:prstGeom prst="roundRect">
            <a:avLst>
              <a:gd name="adj" fmla="val 18519"/>
            </a:avLst>
          </a:prstGeom>
          <a:solidFill>
            <a:srgbClr val="1B3A55"/>
          </a:solidFill>
          <a:ln w="12700">
            <a:solidFill>
              <a:srgbClr val="3E618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43984" y="218541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9F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4443984" y="234086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人員を追加する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193792" y="2670048"/>
            <a:ext cx="146304" cy="201168"/>
          </a:xfrm>
          <a:prstGeom prst="downArrow">
            <a:avLst/>
          </a:prstGeom>
          <a:solidFill>
            <a:srgbClr val="6E8C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94960" y="267919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D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443984" y="2926080"/>
            <a:ext cx="1645920" cy="493776"/>
          </a:xfrm>
          <a:prstGeom prst="roundRect">
            <a:avLst>
              <a:gd name="adj" fmla="val 18519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443984" y="297180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5A2A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4443984" y="312724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284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CAUSES（起こす）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26480" y="3090672"/>
            <a:ext cx="201168" cy="164592"/>
          </a:xfrm>
          <a:prstGeom prst="rightArrow">
            <a:avLst/>
          </a:prstGeom>
          <a:solidFill>
            <a:srgbClr val="6E8C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126480" y="287121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D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364224" y="2926080"/>
            <a:ext cx="1325880" cy="493776"/>
          </a:xfrm>
          <a:prstGeom prst="roundRect">
            <a:avLst>
              <a:gd name="adj" fmla="val 18519"/>
            </a:avLst>
          </a:prstGeom>
          <a:solidFill>
            <a:srgbClr val="1B3A55"/>
          </a:solidFill>
          <a:ln w="12700">
            <a:solidFill>
              <a:srgbClr val="3E618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64224" y="297180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9F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6364224" y="3127248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説明時間が増加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193792" y="3456432"/>
            <a:ext cx="146304" cy="201168"/>
          </a:xfrm>
          <a:prstGeom prst="downArrow">
            <a:avLst/>
          </a:prstGeom>
          <a:solidFill>
            <a:srgbClr val="6E8C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394960" y="346557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D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443984" y="3712464"/>
            <a:ext cx="1645920" cy="493776"/>
          </a:xfrm>
          <a:prstGeom prst="roundRect">
            <a:avLst>
              <a:gd name="adj" fmla="val 18519"/>
            </a:avLst>
          </a:prstGeom>
          <a:solidFill>
            <a:srgbClr val="1B3A55"/>
          </a:solidFill>
          <a:ln w="12700">
            <a:solidFill>
              <a:srgbClr val="3E618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443984" y="375818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9F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4443984" y="391363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件数が10件以上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4443984" y="4261104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D0E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否定（増える／増えない）も、この点に付ける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840480" y="2743200"/>
            <a:ext cx="237744" cy="292608"/>
          </a:xfrm>
          <a:prstGeom prst="rightArrow">
            <a:avLst/>
          </a:prstGeom>
          <a:solidFill>
            <a:srgbClr val="E971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10728" y="2743200"/>
            <a:ext cx="237744" cy="292608"/>
          </a:xfrm>
          <a:prstGeom prst="rightArrow">
            <a:avLst/>
          </a:prstGeom>
          <a:solidFill>
            <a:srgbClr val="E971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8368" y="4754880"/>
            <a:ext cx="10872216" cy="969264"/>
          </a:xfrm>
          <a:prstGeom prst="roundRect">
            <a:avLst>
              <a:gd name="adj" fmla="val 5660"/>
            </a:avLst>
          </a:prstGeom>
          <a:solidFill>
            <a:srgbClr val="EE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69264" y="4882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CLAIM を点として置くことが、この手法の要になる</a:t>
            </a:r>
            <a:endParaRPr lang="en-US" sz="1350" dirty="0"/>
          </a:p>
        </p:txBody>
      </p:sp>
      <p:sp>
        <p:nvSpPr>
          <p:cNvPr id="36" name="Text 34"/>
          <p:cNvSpPr txBox="1"/>
          <p:nvPr/>
        </p:nvSpPr>
        <p:spPr>
          <a:xfrm>
            <a:off x="969264" y="5138928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7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関係の種類を混ぜない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969264" y="5376672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2414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時間順序と因果が、別物のまま残る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4489704" y="5138928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7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条件と否定を関係に付けられる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4489704" y="5376672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2414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「増えない」「Cのときだけ」を落とさない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8010144" y="5138928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7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比較の起点と単位になる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8010144" y="5376672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2414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意味の欠けた断片どうしが一致しない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658368" y="146304"/>
            <a:ext cx="5495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18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2. 手法　／　2.2 手法詳細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10424160" y="6345936"/>
            <a:ext cx="1106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411480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84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検索は正規化した構造で、回答は正規化前の具体で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2578608" y="1481328"/>
            <a:ext cx="5413248" cy="1170432"/>
          </a:xfrm>
          <a:prstGeom prst="roundRect">
            <a:avLst>
              <a:gd name="adj" fmla="val 6250"/>
            </a:avLst>
          </a:prstGeom>
          <a:solidFill>
            <a:srgbClr val="0E28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816352" y="1627632"/>
            <a:ext cx="1097280" cy="274320"/>
          </a:xfrm>
          <a:prstGeom prst="roundRect">
            <a:avLst>
              <a:gd name="adj" fmla="val 166667"/>
            </a:avLst>
          </a:prstGeom>
          <a:solidFill>
            <a:srgbClr val="E971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816352" y="16276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検索に使う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4005072" y="160934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正規化した共通構造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2816352" y="208483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C4E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73パターン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FC4E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のうち1つ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803904" y="2084832"/>
            <a:ext cx="1170432" cy="384048"/>
          </a:xfrm>
          <a:prstGeom prst="roundRect">
            <a:avLst>
              <a:gd name="adj" fmla="val 16667"/>
            </a:avLst>
          </a:prstGeom>
          <a:solidFill>
            <a:srgbClr val="1B3A55"/>
          </a:solidFill>
          <a:ln w="12700">
            <a:solidFill>
              <a:srgbClr val="6E8CA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803904" y="2084832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対象Xを追加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01768" y="2203704"/>
            <a:ext cx="164592" cy="146304"/>
          </a:xfrm>
          <a:prstGeom prst="rightArrow">
            <a:avLst/>
          </a:prstGeom>
          <a:solidFill>
            <a:srgbClr val="6E8C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93792" y="2084832"/>
            <a:ext cx="1170432" cy="384048"/>
          </a:xfrm>
          <a:prstGeom prst="roundRect">
            <a:avLst>
              <a:gd name="adj" fmla="val 16667"/>
            </a:avLst>
          </a:prstGeom>
          <a:solidFill>
            <a:srgbClr val="1B3A55"/>
          </a:solidFill>
          <a:ln w="12700">
            <a:solidFill>
              <a:srgbClr val="6E8CA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93792" y="2084832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活動Yの時間が増加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391656" y="2203704"/>
            <a:ext cx="164592" cy="146304"/>
          </a:xfrm>
          <a:prstGeom prst="rightArrow">
            <a:avLst/>
          </a:prstGeom>
          <a:solidFill>
            <a:srgbClr val="6E8C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0" y="2084832"/>
            <a:ext cx="1170432" cy="384048"/>
          </a:xfrm>
          <a:prstGeom prst="roundRect">
            <a:avLst>
              <a:gd name="adj" fmla="val 16667"/>
            </a:avLst>
          </a:prstGeom>
          <a:solidFill>
            <a:srgbClr val="1B3A55"/>
          </a:solidFill>
          <a:ln w="12700">
            <a:solidFill>
              <a:srgbClr val="6E8CA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83680" y="2084832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活動Zの時間が減少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578608" y="3200400"/>
            <a:ext cx="5413248" cy="1645920"/>
          </a:xfrm>
          <a:prstGeom prst="roundRect">
            <a:avLst>
              <a:gd name="adj" fmla="val 4444"/>
            </a:avLst>
          </a:prstGeom>
          <a:solidFill>
            <a:srgbClr val="EE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16352" y="3346704"/>
            <a:ext cx="1097280" cy="274320"/>
          </a:xfrm>
          <a:prstGeom prst="roundRect">
            <a:avLst>
              <a:gd name="adj" fmla="val 166667"/>
            </a:avLst>
          </a:prstGeom>
          <a:solidFill>
            <a:srgbClr val="1560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816352" y="334670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回答に使う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005072" y="332841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正規化前の具体的なグラフ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2816352" y="3712464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2414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ソフトウェア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2414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開発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803904" y="3712464"/>
            <a:ext cx="1170432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3CDD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803904" y="3712464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7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人員を追加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001768" y="3831336"/>
            <a:ext cx="164592" cy="146304"/>
          </a:xfrm>
          <a:prstGeom prst="rightArrow">
            <a:avLst/>
          </a:prstGeom>
          <a:solidFill>
            <a:srgbClr val="C3CD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93792" y="3712464"/>
            <a:ext cx="1170432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3CDD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193792" y="3712464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7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説明時間が増加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391656" y="3831336"/>
            <a:ext cx="164592" cy="146304"/>
          </a:xfrm>
          <a:prstGeom prst="rightArrow">
            <a:avLst/>
          </a:prstGeom>
          <a:solidFill>
            <a:srgbClr val="C3CD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83680" y="3712464"/>
            <a:ext cx="1170432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3CDD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83680" y="3712464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7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実作業時間が減少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2816352" y="4206240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2414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製造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803904" y="4206240"/>
            <a:ext cx="1170432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3CDD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803904" y="420624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7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製品種類を追加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001768" y="4325112"/>
            <a:ext cx="164592" cy="146304"/>
          </a:xfrm>
          <a:prstGeom prst="rightArrow">
            <a:avLst/>
          </a:prstGeom>
          <a:solidFill>
            <a:srgbClr val="C3CD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93792" y="4206240"/>
            <a:ext cx="1170432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3CDD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193792" y="420624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7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段取り時間が増加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391656" y="4325112"/>
            <a:ext cx="164592" cy="146304"/>
          </a:xfrm>
          <a:prstGeom prst="rightArrow">
            <a:avLst/>
          </a:prstGeom>
          <a:solidFill>
            <a:srgbClr val="C3CD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83680" y="4206240"/>
            <a:ext cx="1170432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3CDD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583680" y="420624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7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製造時間が減少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58368" y="1792224"/>
            <a:ext cx="164592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3CDD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58368" y="1792224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7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新しい分野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B27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の質問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658368" y="248716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713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構造化して検索する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304288" y="1975104"/>
            <a:ext cx="274320" cy="256032"/>
          </a:xfrm>
          <a:prstGeom prst="rightArrow">
            <a:avLst/>
          </a:prstGeom>
          <a:solidFill>
            <a:srgbClr val="E971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815584" y="2724912"/>
            <a:ext cx="237744" cy="384048"/>
          </a:xfrm>
          <a:prstGeom prst="downArrow">
            <a:avLst/>
          </a:prstGeom>
          <a:solidFill>
            <a:srgbClr val="E971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163056" y="279806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713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一致した共通構造に紐づく、元の具体的なグラフを取り出す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101584" y="3913632"/>
            <a:ext cx="274320" cy="256032"/>
          </a:xfrm>
          <a:prstGeom prst="rightArrow">
            <a:avLst/>
          </a:prstGeom>
          <a:solidFill>
            <a:srgbClr val="E971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485632" y="3712464"/>
            <a:ext cx="1280160" cy="621792"/>
          </a:xfrm>
          <a:prstGeom prst="roundRect">
            <a:avLst>
              <a:gd name="adj" fmla="val 11765"/>
            </a:avLst>
          </a:prstGeom>
          <a:solidFill>
            <a:srgbClr val="0E28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485632" y="3712464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LLM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9857232" y="3913632"/>
            <a:ext cx="274320" cy="256032"/>
          </a:xfrm>
          <a:prstGeom prst="rightArrow">
            <a:avLst/>
          </a:prstGeom>
          <a:solidFill>
            <a:srgbClr val="E971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250424" y="3712464"/>
            <a:ext cx="1280160" cy="621792"/>
          </a:xfrm>
          <a:prstGeom prst="roundRect">
            <a:avLst>
              <a:gd name="adj" fmla="val 11765"/>
            </a:avLst>
          </a:prstGeom>
          <a:solidFill>
            <a:srgbClr val="1560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10250424" y="3712464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回答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658368" y="5248656"/>
            <a:ext cx="10872216" cy="768096"/>
          </a:xfrm>
          <a:prstGeom prst="roundRect">
            <a:avLst>
              <a:gd name="adj" fmla="val 7143"/>
            </a:avLst>
          </a:prstGeom>
          <a:solidFill>
            <a:srgbClr val="0E28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58368" y="5248656"/>
            <a:ext cx="108722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正規化した共通構造は分野をまたいだ検索に使い、正規化前の具体的な内容は回答の材料に使う</a:t>
            </a:r>
            <a:endParaRPr lang="en-US" sz="1500" dirty="0"/>
          </a:p>
        </p:txBody>
      </p:sp>
      <p:sp>
        <p:nvSpPr>
          <p:cNvPr id="52" name="Text 50"/>
          <p:cNvSpPr txBox="1"/>
          <p:nvPr/>
        </p:nvSpPr>
        <p:spPr>
          <a:xfrm>
            <a:off x="658368" y="146304"/>
            <a:ext cx="5495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18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2. 手法　／　2.2 手法詳細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10424160" y="6345936"/>
            <a:ext cx="1106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411480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84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1,000件のノウハウから、73パターンの共通構造を発見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335024"/>
            <a:ext cx="4023360" cy="3108960"/>
          </a:xfrm>
          <a:prstGeom prst="roundRect">
            <a:avLst>
              <a:gd name="adj" fmla="val 2353"/>
            </a:avLst>
          </a:prstGeom>
          <a:solidFill>
            <a:srgbClr val="F5F8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173736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E284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1,000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25786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2414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件の具体的なノウハウ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70432" y="3072384"/>
            <a:ext cx="137160" cy="164592"/>
          </a:xfrm>
          <a:prstGeom prst="rect">
            <a:avLst/>
          </a:prstGeom>
          <a:solidFill>
            <a:srgbClr val="0E28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89888" y="3072384"/>
            <a:ext cx="137160" cy="164592"/>
          </a:xfrm>
          <a:prstGeom prst="rect">
            <a:avLst/>
          </a:prstGeom>
          <a:solidFill>
            <a:srgbClr val="0E28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09344" y="3072384"/>
            <a:ext cx="137160" cy="164592"/>
          </a:xfrm>
          <a:prstGeom prst="rect">
            <a:avLst/>
          </a:prstGeom>
          <a:solidFill>
            <a:srgbClr val="0E28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0" y="3072384"/>
            <a:ext cx="137160" cy="164592"/>
          </a:xfrm>
          <a:prstGeom prst="rect">
            <a:avLst/>
          </a:prstGeom>
          <a:solidFill>
            <a:srgbClr val="C3CD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48256" y="3072384"/>
            <a:ext cx="137160" cy="164592"/>
          </a:xfrm>
          <a:prstGeom prst="rect">
            <a:avLst/>
          </a:prstGeom>
          <a:solidFill>
            <a:srgbClr val="C3CD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67712" y="3072384"/>
            <a:ext cx="137160" cy="164592"/>
          </a:xfrm>
          <a:prstGeom prst="rect">
            <a:avLst/>
          </a:prstGeom>
          <a:solidFill>
            <a:srgbClr val="C3CD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87168" y="3072384"/>
            <a:ext cx="137160" cy="164592"/>
          </a:xfrm>
          <a:prstGeom prst="rect">
            <a:avLst/>
          </a:prstGeom>
          <a:solidFill>
            <a:srgbClr val="C3CD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06624" y="3072384"/>
            <a:ext cx="137160" cy="164592"/>
          </a:xfrm>
          <a:prstGeom prst="rect">
            <a:avLst/>
          </a:prstGeom>
          <a:solidFill>
            <a:srgbClr val="C3CD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26080" y="3072384"/>
            <a:ext cx="137160" cy="164592"/>
          </a:xfrm>
          <a:prstGeom prst="rect">
            <a:avLst/>
          </a:prstGeom>
          <a:solidFill>
            <a:srgbClr val="C3CD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45536" y="3072384"/>
            <a:ext cx="137160" cy="164592"/>
          </a:xfrm>
          <a:prstGeom prst="rect">
            <a:avLst/>
          </a:prstGeom>
          <a:solidFill>
            <a:srgbClr val="C3CD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64992" y="3072384"/>
            <a:ext cx="137160" cy="164592"/>
          </a:xfrm>
          <a:prstGeom prst="rect">
            <a:avLst/>
          </a:prstGeom>
          <a:solidFill>
            <a:srgbClr val="C3CD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84448" y="3072384"/>
            <a:ext cx="137160" cy="164592"/>
          </a:xfrm>
          <a:prstGeom prst="rect">
            <a:avLst/>
          </a:prstGeom>
          <a:solidFill>
            <a:srgbClr val="C3CD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03904" y="3072384"/>
            <a:ext cx="137160" cy="164592"/>
          </a:xfrm>
          <a:prstGeom prst="rect">
            <a:avLst/>
          </a:prstGeom>
          <a:solidFill>
            <a:srgbClr val="C3CD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023360" y="3072384"/>
            <a:ext cx="137160" cy="164592"/>
          </a:xfrm>
          <a:prstGeom prst="rect">
            <a:avLst/>
          </a:prstGeom>
          <a:solidFill>
            <a:srgbClr val="C3CD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70432" y="3291840"/>
            <a:ext cx="137160" cy="164592"/>
          </a:xfrm>
          <a:prstGeom prst="rect">
            <a:avLst/>
          </a:prstGeom>
          <a:solidFill>
            <a:srgbClr val="C3CD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89888" y="3291840"/>
            <a:ext cx="137160" cy="164592"/>
          </a:xfrm>
          <a:prstGeom prst="rect">
            <a:avLst/>
          </a:prstGeom>
          <a:solidFill>
            <a:srgbClr val="C3CD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09344" y="3291840"/>
            <a:ext cx="137160" cy="164592"/>
          </a:xfrm>
          <a:prstGeom prst="rect">
            <a:avLst/>
          </a:prstGeom>
          <a:solidFill>
            <a:srgbClr val="C3CD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28800" y="3291840"/>
            <a:ext cx="137160" cy="164592"/>
          </a:xfrm>
          <a:prstGeom prst="rect">
            <a:avLst/>
          </a:prstGeom>
          <a:solidFill>
            <a:srgbClr val="C3CD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48256" y="3291840"/>
            <a:ext cx="137160" cy="164592"/>
          </a:xfrm>
          <a:prstGeom prst="rect">
            <a:avLst/>
          </a:prstGeom>
          <a:solidFill>
            <a:srgbClr val="C3CD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67712" y="3291840"/>
            <a:ext cx="137160" cy="164592"/>
          </a:xfrm>
          <a:prstGeom prst="rect">
            <a:avLst/>
          </a:prstGeom>
          <a:solidFill>
            <a:srgbClr val="C3CD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487168" y="3291840"/>
            <a:ext cx="137160" cy="164592"/>
          </a:xfrm>
          <a:prstGeom prst="rect">
            <a:avLst/>
          </a:prstGeom>
          <a:solidFill>
            <a:srgbClr val="C3CD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06624" y="3291840"/>
            <a:ext cx="137160" cy="164592"/>
          </a:xfrm>
          <a:prstGeom prst="rect">
            <a:avLst/>
          </a:prstGeom>
          <a:solidFill>
            <a:srgbClr val="C3CD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26080" y="3291840"/>
            <a:ext cx="137160" cy="164592"/>
          </a:xfrm>
          <a:prstGeom prst="rect">
            <a:avLst/>
          </a:prstGeom>
          <a:solidFill>
            <a:srgbClr val="C3CD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145536" y="3291840"/>
            <a:ext cx="137160" cy="164592"/>
          </a:xfrm>
          <a:prstGeom prst="rect">
            <a:avLst/>
          </a:prstGeom>
          <a:solidFill>
            <a:srgbClr val="C3CD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64992" y="3291840"/>
            <a:ext cx="137160" cy="164592"/>
          </a:xfrm>
          <a:prstGeom prst="rect">
            <a:avLst/>
          </a:prstGeom>
          <a:solidFill>
            <a:srgbClr val="C3CD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84448" y="3291840"/>
            <a:ext cx="137160" cy="164592"/>
          </a:xfrm>
          <a:prstGeom prst="rect">
            <a:avLst/>
          </a:prstGeom>
          <a:solidFill>
            <a:srgbClr val="C3CD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03904" y="3291840"/>
            <a:ext cx="137160" cy="164592"/>
          </a:xfrm>
          <a:prstGeom prst="rect">
            <a:avLst/>
          </a:prstGeom>
          <a:solidFill>
            <a:srgbClr val="C3CD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023360" y="3291840"/>
            <a:ext cx="137160" cy="164592"/>
          </a:xfrm>
          <a:prstGeom prst="rect">
            <a:avLst/>
          </a:prstGeom>
          <a:solidFill>
            <a:srgbClr val="C3CD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70432" y="3511296"/>
            <a:ext cx="137160" cy="164592"/>
          </a:xfrm>
          <a:prstGeom prst="rect">
            <a:avLst/>
          </a:prstGeom>
          <a:solidFill>
            <a:srgbClr val="C3CD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389888" y="3511296"/>
            <a:ext cx="137160" cy="164592"/>
          </a:xfrm>
          <a:prstGeom prst="rect">
            <a:avLst/>
          </a:prstGeom>
          <a:solidFill>
            <a:srgbClr val="C3CD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609344" y="3511296"/>
            <a:ext cx="137160" cy="164592"/>
          </a:xfrm>
          <a:prstGeom prst="rect">
            <a:avLst/>
          </a:prstGeom>
          <a:solidFill>
            <a:srgbClr val="C3CD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828800" y="3511296"/>
            <a:ext cx="137160" cy="164592"/>
          </a:xfrm>
          <a:prstGeom prst="rect">
            <a:avLst/>
          </a:prstGeom>
          <a:solidFill>
            <a:srgbClr val="C3CD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048256" y="3511296"/>
            <a:ext cx="137160" cy="164592"/>
          </a:xfrm>
          <a:prstGeom prst="rect">
            <a:avLst/>
          </a:prstGeom>
          <a:solidFill>
            <a:srgbClr val="C3CD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267712" y="3511296"/>
            <a:ext cx="137160" cy="164592"/>
          </a:xfrm>
          <a:prstGeom prst="rect">
            <a:avLst/>
          </a:prstGeom>
          <a:solidFill>
            <a:srgbClr val="C3CD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487168" y="3511296"/>
            <a:ext cx="137160" cy="164592"/>
          </a:xfrm>
          <a:prstGeom prst="rect">
            <a:avLst/>
          </a:prstGeom>
          <a:solidFill>
            <a:srgbClr val="C3CD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06624" y="3511296"/>
            <a:ext cx="137160" cy="164592"/>
          </a:xfrm>
          <a:prstGeom prst="rect">
            <a:avLst/>
          </a:prstGeom>
          <a:solidFill>
            <a:srgbClr val="C3CD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926080" y="3511296"/>
            <a:ext cx="137160" cy="164592"/>
          </a:xfrm>
          <a:prstGeom prst="rect">
            <a:avLst/>
          </a:prstGeom>
          <a:solidFill>
            <a:srgbClr val="C3CD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145536" y="3511296"/>
            <a:ext cx="137160" cy="164592"/>
          </a:xfrm>
          <a:prstGeom prst="rect">
            <a:avLst/>
          </a:prstGeom>
          <a:solidFill>
            <a:srgbClr val="C3CD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364992" y="3511296"/>
            <a:ext cx="137160" cy="164592"/>
          </a:xfrm>
          <a:prstGeom prst="rect">
            <a:avLst/>
          </a:prstGeom>
          <a:solidFill>
            <a:srgbClr val="C3CD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584448" y="3511296"/>
            <a:ext cx="137160" cy="164592"/>
          </a:xfrm>
          <a:prstGeom prst="rect">
            <a:avLst/>
          </a:prstGeom>
          <a:solidFill>
            <a:srgbClr val="C3CD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803904" y="3511296"/>
            <a:ext cx="137160" cy="164592"/>
          </a:xfrm>
          <a:prstGeom prst="rect">
            <a:avLst/>
          </a:prstGeom>
          <a:solidFill>
            <a:srgbClr val="C3CD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023360" y="3511296"/>
            <a:ext cx="137160" cy="164592"/>
          </a:xfrm>
          <a:prstGeom prst="rect">
            <a:avLst/>
          </a:prstGeom>
          <a:solidFill>
            <a:srgbClr val="C3CD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170432" y="3730752"/>
            <a:ext cx="137160" cy="164592"/>
          </a:xfrm>
          <a:prstGeom prst="rect">
            <a:avLst/>
          </a:prstGeom>
          <a:solidFill>
            <a:srgbClr val="C3CD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389888" y="3730752"/>
            <a:ext cx="137160" cy="164592"/>
          </a:xfrm>
          <a:prstGeom prst="rect">
            <a:avLst/>
          </a:prstGeom>
          <a:solidFill>
            <a:srgbClr val="C3CD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609344" y="3730752"/>
            <a:ext cx="137160" cy="164592"/>
          </a:xfrm>
          <a:prstGeom prst="rect">
            <a:avLst/>
          </a:prstGeom>
          <a:solidFill>
            <a:srgbClr val="C3CD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828800" y="3730752"/>
            <a:ext cx="137160" cy="164592"/>
          </a:xfrm>
          <a:prstGeom prst="rect">
            <a:avLst/>
          </a:prstGeom>
          <a:solidFill>
            <a:srgbClr val="C3CD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048256" y="3730752"/>
            <a:ext cx="137160" cy="164592"/>
          </a:xfrm>
          <a:prstGeom prst="rect">
            <a:avLst/>
          </a:prstGeom>
          <a:solidFill>
            <a:srgbClr val="C3CD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267712" y="3730752"/>
            <a:ext cx="137160" cy="164592"/>
          </a:xfrm>
          <a:prstGeom prst="rect">
            <a:avLst/>
          </a:prstGeom>
          <a:solidFill>
            <a:srgbClr val="C3CD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487168" y="3730752"/>
            <a:ext cx="137160" cy="164592"/>
          </a:xfrm>
          <a:prstGeom prst="rect">
            <a:avLst/>
          </a:prstGeom>
          <a:solidFill>
            <a:srgbClr val="C3CD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706624" y="3730752"/>
            <a:ext cx="137160" cy="164592"/>
          </a:xfrm>
          <a:prstGeom prst="rect">
            <a:avLst/>
          </a:prstGeom>
          <a:solidFill>
            <a:srgbClr val="C3CD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926080" y="3730752"/>
            <a:ext cx="137160" cy="164592"/>
          </a:xfrm>
          <a:prstGeom prst="rect">
            <a:avLst/>
          </a:prstGeom>
          <a:solidFill>
            <a:srgbClr val="C3CD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145536" y="3730752"/>
            <a:ext cx="137160" cy="164592"/>
          </a:xfrm>
          <a:prstGeom prst="rect">
            <a:avLst/>
          </a:prstGeom>
          <a:solidFill>
            <a:srgbClr val="C3CD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364992" y="3730752"/>
            <a:ext cx="137160" cy="164592"/>
          </a:xfrm>
          <a:prstGeom prst="rect">
            <a:avLst/>
          </a:prstGeom>
          <a:solidFill>
            <a:srgbClr val="C3CD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584448" y="3730752"/>
            <a:ext cx="137160" cy="164592"/>
          </a:xfrm>
          <a:prstGeom prst="rect">
            <a:avLst/>
          </a:prstGeom>
          <a:solidFill>
            <a:srgbClr val="C3CD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803904" y="3730752"/>
            <a:ext cx="137160" cy="164592"/>
          </a:xfrm>
          <a:prstGeom prst="rect">
            <a:avLst/>
          </a:prstGeom>
          <a:solidFill>
            <a:srgbClr val="C3CD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023360" y="3730752"/>
            <a:ext cx="137160" cy="164592"/>
          </a:xfrm>
          <a:prstGeom prst="rect">
            <a:avLst/>
          </a:prstGeom>
          <a:solidFill>
            <a:srgbClr val="C3CD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170432" y="3950208"/>
            <a:ext cx="137160" cy="164592"/>
          </a:xfrm>
          <a:prstGeom prst="rect">
            <a:avLst/>
          </a:prstGeom>
          <a:solidFill>
            <a:srgbClr val="C3CD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389888" y="3950208"/>
            <a:ext cx="137160" cy="164592"/>
          </a:xfrm>
          <a:prstGeom prst="rect">
            <a:avLst/>
          </a:prstGeom>
          <a:solidFill>
            <a:srgbClr val="C3CD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609344" y="3950208"/>
            <a:ext cx="137160" cy="164592"/>
          </a:xfrm>
          <a:prstGeom prst="rect">
            <a:avLst/>
          </a:prstGeom>
          <a:solidFill>
            <a:srgbClr val="C3CD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828800" y="3950208"/>
            <a:ext cx="137160" cy="164592"/>
          </a:xfrm>
          <a:prstGeom prst="rect">
            <a:avLst/>
          </a:prstGeom>
          <a:solidFill>
            <a:srgbClr val="C3CD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048256" y="3950208"/>
            <a:ext cx="137160" cy="164592"/>
          </a:xfrm>
          <a:prstGeom prst="rect">
            <a:avLst/>
          </a:prstGeom>
          <a:solidFill>
            <a:srgbClr val="C3CD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267712" y="3950208"/>
            <a:ext cx="137160" cy="164592"/>
          </a:xfrm>
          <a:prstGeom prst="rect">
            <a:avLst/>
          </a:prstGeom>
          <a:solidFill>
            <a:srgbClr val="C3CD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487168" y="3950208"/>
            <a:ext cx="137160" cy="164592"/>
          </a:xfrm>
          <a:prstGeom prst="rect">
            <a:avLst/>
          </a:prstGeom>
          <a:solidFill>
            <a:srgbClr val="C3CD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706624" y="3950208"/>
            <a:ext cx="137160" cy="164592"/>
          </a:xfrm>
          <a:prstGeom prst="rect">
            <a:avLst/>
          </a:prstGeom>
          <a:solidFill>
            <a:srgbClr val="C3CD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926080" y="3950208"/>
            <a:ext cx="137160" cy="164592"/>
          </a:xfrm>
          <a:prstGeom prst="rect">
            <a:avLst/>
          </a:prstGeom>
          <a:solidFill>
            <a:srgbClr val="C3CD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145536" y="3950208"/>
            <a:ext cx="137160" cy="164592"/>
          </a:xfrm>
          <a:prstGeom prst="rect">
            <a:avLst/>
          </a:prstGeom>
          <a:solidFill>
            <a:srgbClr val="C3CD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364992" y="3950208"/>
            <a:ext cx="137160" cy="164592"/>
          </a:xfrm>
          <a:prstGeom prst="rect">
            <a:avLst/>
          </a:prstGeom>
          <a:solidFill>
            <a:srgbClr val="C3CD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584448" y="3950208"/>
            <a:ext cx="137160" cy="164592"/>
          </a:xfrm>
          <a:prstGeom prst="rect">
            <a:avLst/>
          </a:prstGeom>
          <a:solidFill>
            <a:srgbClr val="C3CD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803904" y="3950208"/>
            <a:ext cx="137160" cy="164592"/>
          </a:xfrm>
          <a:prstGeom prst="rect">
            <a:avLst/>
          </a:prstGeom>
          <a:solidFill>
            <a:srgbClr val="C3CD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023360" y="3950208"/>
            <a:ext cx="137160" cy="164592"/>
          </a:xfrm>
          <a:prstGeom prst="rect">
            <a:avLst/>
          </a:prstGeom>
          <a:solidFill>
            <a:srgbClr val="C3CD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956048" y="2651760"/>
            <a:ext cx="731520" cy="475488"/>
          </a:xfrm>
          <a:prstGeom prst="rightArrow">
            <a:avLst/>
          </a:prstGeom>
          <a:solidFill>
            <a:srgbClr val="E971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4572000" y="3218688"/>
            <a:ext cx="1499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E9713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構造化・正規化して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E9713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共通構造を探索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5961888" y="1335024"/>
            <a:ext cx="4023360" cy="3108960"/>
          </a:xfrm>
          <a:prstGeom prst="roundRect">
            <a:avLst>
              <a:gd name="adj" fmla="val 2353"/>
            </a:avLst>
          </a:prstGeom>
          <a:solidFill>
            <a:srgbClr val="EE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5961888" y="173736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73</a:t>
            </a:r>
            <a:endParaRPr lang="en-US" sz="5400" dirty="0"/>
          </a:p>
        </p:txBody>
      </p:sp>
      <p:sp>
        <p:nvSpPr>
          <p:cNvPr id="80" name="Text 78"/>
          <p:cNvSpPr txBox="1"/>
          <p:nvPr/>
        </p:nvSpPr>
        <p:spPr>
          <a:xfrm>
            <a:off x="5961888" y="25786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2414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パターンの共通構造</a:t>
            </a:r>
            <a:endParaRPr lang="en-US" sz="1400" dirty="0"/>
          </a:p>
        </p:txBody>
      </p:sp>
      <p:sp>
        <p:nvSpPr>
          <p:cNvPr id="81" name="Shape 79"/>
          <p:cNvSpPr/>
          <p:nvPr/>
        </p:nvSpPr>
        <p:spPr>
          <a:xfrm>
            <a:off x="6144768" y="3127248"/>
            <a:ext cx="1115568" cy="402336"/>
          </a:xfrm>
          <a:prstGeom prst="roundRect">
            <a:avLst>
              <a:gd name="adj" fmla="val 15909"/>
            </a:avLst>
          </a:prstGeom>
          <a:solidFill>
            <a:srgbClr val="0E28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6144768" y="3127248"/>
            <a:ext cx="1115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対象Xを追加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7287768" y="3255264"/>
            <a:ext cx="109728" cy="146304"/>
          </a:xfrm>
          <a:prstGeom prst="rightArrow">
            <a:avLst/>
          </a:prstGeom>
          <a:solidFill>
            <a:srgbClr val="8FA0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415784" y="3127248"/>
            <a:ext cx="1115568" cy="402336"/>
          </a:xfrm>
          <a:prstGeom prst="roundRect">
            <a:avLst>
              <a:gd name="adj" fmla="val 15909"/>
            </a:avLst>
          </a:prstGeom>
          <a:solidFill>
            <a:srgbClr val="0E28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7415784" y="3127248"/>
            <a:ext cx="1115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活動Yの時間が増加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8558784" y="3255264"/>
            <a:ext cx="109728" cy="146304"/>
          </a:xfrm>
          <a:prstGeom prst="rightArrow">
            <a:avLst/>
          </a:prstGeom>
          <a:solidFill>
            <a:srgbClr val="8FA0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8686800" y="3127248"/>
            <a:ext cx="1115568" cy="402336"/>
          </a:xfrm>
          <a:prstGeom prst="roundRect">
            <a:avLst>
              <a:gd name="adj" fmla="val 15909"/>
            </a:avLst>
          </a:prstGeom>
          <a:solidFill>
            <a:srgbClr val="0E28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8686800" y="3127248"/>
            <a:ext cx="1115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活動Zの時間が減少</a:t>
            </a:r>
            <a:endParaRPr lang="en-US" sz="850" dirty="0"/>
          </a:p>
        </p:txBody>
      </p:sp>
      <p:sp>
        <p:nvSpPr>
          <p:cNvPr id="89" name="Text 87"/>
          <p:cNvSpPr txBox="1"/>
          <p:nvPr/>
        </p:nvSpPr>
        <p:spPr>
          <a:xfrm>
            <a:off x="5961888" y="36758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2414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見つかった共通構造の一例。ほかに72パターン</a:t>
            </a:r>
            <a:endParaRPr lang="en-US" sz="1050" dirty="0"/>
          </a:p>
        </p:txBody>
      </p:sp>
      <p:sp>
        <p:nvSpPr>
          <p:cNvPr id="90" name="Shape 88"/>
          <p:cNvSpPr/>
          <p:nvPr/>
        </p:nvSpPr>
        <p:spPr>
          <a:xfrm>
            <a:off x="658368" y="4773168"/>
            <a:ext cx="10872216" cy="1005840"/>
          </a:xfrm>
          <a:prstGeom prst="roundRect">
            <a:avLst>
              <a:gd name="adj" fmla="val 5455"/>
            </a:avLst>
          </a:prstGeom>
          <a:solidFill>
            <a:srgbClr val="0E28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1042416" y="512064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質問への適用まで、通して構築した</a:t>
            </a:r>
            <a:endParaRPr lang="en-US" sz="1400" dirty="0"/>
          </a:p>
        </p:txBody>
      </p:sp>
      <p:sp>
        <p:nvSpPr>
          <p:cNvPr id="92" name="Shape 90"/>
          <p:cNvSpPr/>
          <p:nvPr/>
        </p:nvSpPr>
        <p:spPr>
          <a:xfrm>
            <a:off x="4846320" y="5084064"/>
            <a:ext cx="1097280" cy="384048"/>
          </a:xfrm>
          <a:prstGeom prst="roundRect">
            <a:avLst>
              <a:gd name="adj" fmla="val 119048"/>
            </a:avLst>
          </a:prstGeom>
          <a:solidFill>
            <a:srgbClr val="1B3A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4846320" y="508406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質問</a:t>
            </a:r>
            <a:endParaRPr lang="en-US" sz="1100" dirty="0"/>
          </a:p>
        </p:txBody>
      </p:sp>
      <p:sp>
        <p:nvSpPr>
          <p:cNvPr id="94" name="Shape 92"/>
          <p:cNvSpPr/>
          <p:nvPr/>
        </p:nvSpPr>
        <p:spPr>
          <a:xfrm>
            <a:off x="6016752" y="5166360"/>
            <a:ext cx="201168" cy="219456"/>
          </a:xfrm>
          <a:prstGeom prst="rightArrow">
            <a:avLst/>
          </a:prstGeom>
          <a:solidFill>
            <a:srgbClr val="E971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309360" y="5084064"/>
            <a:ext cx="1463040" cy="384048"/>
          </a:xfrm>
          <a:prstGeom prst="roundRect">
            <a:avLst>
              <a:gd name="adj" fmla="val 119048"/>
            </a:avLst>
          </a:prstGeom>
          <a:solidFill>
            <a:srgbClr val="1B3A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6309360" y="508406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共通構造を検索</a:t>
            </a:r>
            <a:endParaRPr lang="en-US" sz="1100" dirty="0"/>
          </a:p>
        </p:txBody>
      </p:sp>
      <p:sp>
        <p:nvSpPr>
          <p:cNvPr id="97" name="Shape 95"/>
          <p:cNvSpPr/>
          <p:nvPr/>
        </p:nvSpPr>
        <p:spPr>
          <a:xfrm>
            <a:off x="7845552" y="5166360"/>
            <a:ext cx="201168" cy="219456"/>
          </a:xfrm>
          <a:prstGeom prst="rightArrow">
            <a:avLst/>
          </a:prstGeom>
          <a:solidFill>
            <a:srgbClr val="E971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138160" y="5084064"/>
            <a:ext cx="1463040" cy="384048"/>
          </a:xfrm>
          <a:prstGeom prst="roundRect">
            <a:avLst>
              <a:gd name="adj" fmla="val 119048"/>
            </a:avLst>
          </a:prstGeom>
          <a:solidFill>
            <a:srgbClr val="1B3A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8138160" y="508406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具体的なグラフ</a:t>
            </a:r>
            <a:endParaRPr lang="en-US" sz="1100" dirty="0"/>
          </a:p>
        </p:txBody>
      </p:sp>
      <p:sp>
        <p:nvSpPr>
          <p:cNvPr id="100" name="Shape 98"/>
          <p:cNvSpPr/>
          <p:nvPr/>
        </p:nvSpPr>
        <p:spPr>
          <a:xfrm>
            <a:off x="9674352" y="5166360"/>
            <a:ext cx="201168" cy="219456"/>
          </a:xfrm>
          <a:prstGeom prst="rightArrow">
            <a:avLst/>
          </a:prstGeom>
          <a:solidFill>
            <a:srgbClr val="E971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966960" y="5084064"/>
            <a:ext cx="1463040" cy="384048"/>
          </a:xfrm>
          <a:prstGeom prst="roundRect">
            <a:avLst>
              <a:gd name="adj" fmla="val 119048"/>
            </a:avLst>
          </a:prstGeom>
          <a:solidFill>
            <a:srgbClr val="1B3A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9966960" y="508406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LLMで回答</a:t>
            </a:r>
            <a:endParaRPr lang="en-US" sz="1100" dirty="0"/>
          </a:p>
        </p:txBody>
      </p:sp>
      <p:sp>
        <p:nvSpPr>
          <p:cNvPr id="103" name="Text 101"/>
          <p:cNvSpPr txBox="1"/>
          <p:nvPr/>
        </p:nvSpPr>
        <p:spPr>
          <a:xfrm>
            <a:off x="658368" y="146304"/>
            <a:ext cx="5495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18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3. 結果・考察</a:t>
            </a:r>
            <a:endParaRPr lang="en-US" sz="1050" dirty="0"/>
          </a:p>
        </p:txBody>
      </p:sp>
      <p:sp>
        <p:nvSpPr>
          <p:cNvPr id="104" name="Text 102"/>
          <p:cNvSpPr txBox="1"/>
          <p:nvPr/>
        </p:nvSpPr>
        <p:spPr>
          <a:xfrm>
            <a:off x="10424160" y="6345936"/>
            <a:ext cx="1106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411480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84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分野をまたいで探し、具体で答える。残るのは確かめ方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88720"/>
            <a:ext cx="52532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この設計で効いた点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58368" y="1554480"/>
            <a:ext cx="5253228" cy="3072384"/>
          </a:xfrm>
          <a:prstGeom prst="roundRect">
            <a:avLst>
              <a:gd name="adj" fmla="val 2381"/>
            </a:avLst>
          </a:prstGeom>
          <a:solidFill>
            <a:srgbClr val="EE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" y="1847088"/>
            <a:ext cx="475488" cy="475488"/>
          </a:xfrm>
          <a:prstGeom prst="ellipse">
            <a:avLst/>
          </a:prstGeom>
          <a:solidFill>
            <a:srgbClr val="1560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24128" y="18470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64208" y="1865376"/>
            <a:ext cx="38816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分野をまたいで届く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24128" y="2761488"/>
            <a:ext cx="475488" cy="475488"/>
          </a:xfrm>
          <a:prstGeom prst="ellipse">
            <a:avLst/>
          </a:prstGeom>
          <a:solidFill>
            <a:srgbClr val="1560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24128" y="2761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664208" y="2779776"/>
            <a:ext cx="38816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具体的な内容のまま返せる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24128" y="3675888"/>
            <a:ext cx="475488" cy="475488"/>
          </a:xfrm>
          <a:prstGeom prst="ellipse">
            <a:avLst/>
          </a:prstGeom>
          <a:solidFill>
            <a:srgbClr val="1560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24128" y="36758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664208" y="3694176"/>
            <a:ext cx="38816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根拠となる原文に戻れる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569964" y="1188720"/>
            <a:ext cx="52532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84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これから確かめる点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569964" y="1554480"/>
            <a:ext cx="5253228" cy="3072384"/>
          </a:xfrm>
          <a:prstGeom prst="roundRect">
            <a:avLst>
              <a:gd name="adj" fmla="val 2381"/>
            </a:avLst>
          </a:prstGeom>
          <a:solidFill>
            <a:srgbClr val="F5F8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35724" y="1847088"/>
            <a:ext cx="475488" cy="475488"/>
          </a:xfrm>
          <a:prstGeom prst="ellipse">
            <a:avLst/>
          </a:prstGeom>
          <a:solidFill>
            <a:srgbClr val="8FA0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35724" y="18470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7575804" y="1865376"/>
            <a:ext cx="38816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構造化の一貫性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935724" y="2761488"/>
            <a:ext cx="475488" cy="475488"/>
          </a:xfrm>
          <a:prstGeom prst="ellipse">
            <a:avLst/>
          </a:prstGeom>
          <a:solidFill>
            <a:srgbClr val="8FA0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35724" y="2761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7575804" y="2779776"/>
            <a:ext cx="38816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73パターンの重複整理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935724" y="3675888"/>
            <a:ext cx="475488" cy="475488"/>
          </a:xfrm>
          <a:prstGeom prst="ellipse">
            <a:avLst/>
          </a:prstGeom>
          <a:solidFill>
            <a:srgbClr val="8FA0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935724" y="36758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7575804" y="3694176"/>
            <a:ext cx="38816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実際の質問での有用性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58368" y="4901184"/>
            <a:ext cx="10872216" cy="768096"/>
          </a:xfrm>
          <a:prstGeom prst="roundRect">
            <a:avLst>
              <a:gd name="adj" fmla="val 7143"/>
            </a:avLst>
          </a:prstGeom>
          <a:solidFill>
            <a:srgbClr val="0E28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8368" y="4901184"/>
            <a:ext cx="108722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共通構造は表現上の一致。当てはめてよいかは、紐づく元のノウハウに戻って確認する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658368" y="146304"/>
            <a:ext cx="5495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18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3. 結果・考察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10424160" y="6345936"/>
            <a:ext cx="1106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47548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84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技術への感度の高さ、議論できる環境、熟練者の知識の深さ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298448"/>
            <a:ext cx="3429000" cy="3840480"/>
          </a:xfrm>
          <a:prstGeom prst="roundRect">
            <a:avLst>
              <a:gd name="adj" fmla="val 2133"/>
            </a:avLst>
          </a:prstGeom>
          <a:solidFill>
            <a:srgbClr val="F5F8F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25400" dir="5400000">
              <a:srgbClr val="9AA8B4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69264" y="1609344"/>
            <a:ext cx="1783080" cy="310896"/>
          </a:xfrm>
          <a:prstGeom prst="roundRect">
            <a:avLst>
              <a:gd name="adj" fmla="val 147059"/>
            </a:avLst>
          </a:prstGeom>
          <a:solidFill>
            <a:srgbClr val="0E28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9264" y="1609344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① 取り組みと技術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969264" y="2084832"/>
            <a:ext cx="28072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B27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AI活用推進のための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B27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さまざまな取り組み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69264" y="2761488"/>
            <a:ext cx="280720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2000"/>
              </a:lnSpc>
              <a:spcAft>
                <a:spcPts val="1100"/>
              </a:spcAft>
              <a:buSzPct val="100000"/>
              <a:buChar char="–"/>
            </a:pPr>
            <a:r>
              <a:rPr lang="en-US" sz="1150" dirty="0">
                <a:solidFill>
                  <a:srgbClr val="32414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トヨタ全体でAI活用を推進するなかで、さまざまな取り組みが進んでいることを知った</a:t>
            </a:r>
            <a:endParaRPr lang="en-US" sz="1150" dirty="0"/>
          </a:p>
          <a:p>
            <a:pPr marL="342900" indent="-342900">
              <a:lnSpc>
                <a:spcPct val="132000"/>
              </a:lnSpc>
              <a:spcAft>
                <a:spcPts val="1100"/>
              </a:spcAft>
              <a:buSzPct val="100000"/>
              <a:buChar char="–"/>
            </a:pPr>
            <a:r>
              <a:rPr lang="en-US" sz="1150" dirty="0">
                <a:solidFill>
                  <a:srgbClr val="32414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同時に、まだ解決すべき課題が多く残っていることも知った</a:t>
            </a:r>
            <a:endParaRPr lang="en-US" sz="1150" dirty="0"/>
          </a:p>
          <a:p>
            <a:pPr marL="342900" indent="-342900">
              <a:lnSpc>
                <a:spcPct val="132000"/>
              </a:lnSpc>
              <a:spcAft>
                <a:spcPts val="1100"/>
              </a:spcAft>
              <a:buSzPct val="100000"/>
              <a:buChar char="–"/>
            </a:pPr>
            <a:r>
              <a:rPr lang="en-US" sz="1150" dirty="0">
                <a:solidFill>
                  <a:srgbClr val="32414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定例で最新のAI活用事例が共有され、AI CoEグループの皆さんの技術への感度の高さを感じた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79976" y="1298448"/>
            <a:ext cx="3429000" cy="3840480"/>
          </a:xfrm>
          <a:prstGeom prst="roundRect">
            <a:avLst>
              <a:gd name="adj" fmla="val 2133"/>
            </a:avLst>
          </a:prstGeom>
          <a:solidFill>
            <a:srgbClr val="EEF5F8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25400" dir="5400000">
              <a:srgbClr val="9AA8B4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90872" y="1609344"/>
            <a:ext cx="1783080" cy="310896"/>
          </a:xfrm>
          <a:prstGeom prst="roundRect">
            <a:avLst>
              <a:gd name="adj" fmla="val 147059"/>
            </a:avLst>
          </a:prstGeom>
          <a:solidFill>
            <a:srgbClr val="1560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90872" y="1609344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② 働く環境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690872" y="2084832"/>
            <a:ext cx="28072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B27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いつでも議論できる環境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90872" y="2761488"/>
            <a:ext cx="280720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2000"/>
              </a:lnSpc>
              <a:spcAft>
                <a:spcPts val="1100"/>
              </a:spcAft>
              <a:buSzPct val="100000"/>
              <a:buChar char="–"/>
            </a:pPr>
            <a:r>
              <a:rPr lang="en-US" sz="1150" dirty="0">
                <a:solidFill>
                  <a:srgbClr val="32414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疑問があれば、メンターの方がホワイトボードでその場で説明してくださった</a:t>
            </a:r>
            <a:endParaRPr lang="en-US" sz="1150" dirty="0"/>
          </a:p>
          <a:p>
            <a:pPr marL="342900" indent="-342900">
              <a:lnSpc>
                <a:spcPct val="132000"/>
              </a:lnSpc>
              <a:spcAft>
                <a:spcPts val="1100"/>
              </a:spcAft>
              <a:buSzPct val="100000"/>
              <a:buChar char="–"/>
            </a:pPr>
            <a:r>
              <a:rPr lang="en-US" sz="1150" dirty="0">
                <a:solidFill>
                  <a:srgbClr val="32414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誰かが議論を始めると、近くの人が自然に加わって一緒に考えてくれる</a:t>
            </a:r>
            <a:endParaRPr lang="en-US" sz="1150" dirty="0"/>
          </a:p>
          <a:p>
            <a:pPr marL="342900" indent="-342900">
              <a:lnSpc>
                <a:spcPct val="132000"/>
              </a:lnSpc>
              <a:spcAft>
                <a:spcPts val="1100"/>
              </a:spcAft>
              <a:buSzPct val="100000"/>
              <a:buChar char="–"/>
            </a:pPr>
            <a:r>
              <a:rPr lang="en-US" sz="1150" dirty="0">
                <a:solidFill>
                  <a:srgbClr val="32414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新たな視点の意見をその場で聞ける、コミュニケーションが盛んな環境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01584" y="1298448"/>
            <a:ext cx="3429000" cy="3840480"/>
          </a:xfrm>
          <a:prstGeom prst="roundRect">
            <a:avLst>
              <a:gd name="adj" fmla="val 2133"/>
            </a:avLst>
          </a:prstGeom>
          <a:solidFill>
            <a:srgbClr val="F5F8F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25400" dir="5400000">
              <a:srgbClr val="9AA8B4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12480" y="1609344"/>
            <a:ext cx="1783080" cy="310896"/>
          </a:xfrm>
          <a:prstGeom prst="roundRect">
            <a:avLst>
              <a:gd name="adj" fmla="val 147059"/>
            </a:avLst>
          </a:prstGeom>
          <a:solidFill>
            <a:srgbClr val="0E28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12480" y="1609344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③ 熟練者との対話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8412480" y="2084832"/>
            <a:ext cx="28072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B27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専門知識の深さと、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B27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仕事への誇り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2761488"/>
            <a:ext cx="280720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2000"/>
              </a:lnSpc>
              <a:spcAft>
                <a:spcPts val="1100"/>
              </a:spcAft>
              <a:buSzPct val="100000"/>
              <a:buChar char="–"/>
            </a:pPr>
            <a:r>
              <a:rPr lang="en-US" sz="1150" dirty="0">
                <a:solidFill>
                  <a:srgbClr val="32414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熟練者の方がAIと対話してノウハウを集める会に参加させていただいた</a:t>
            </a:r>
            <a:endParaRPr lang="en-US" sz="1150" dirty="0"/>
          </a:p>
          <a:p>
            <a:pPr marL="342900" indent="-342900">
              <a:lnSpc>
                <a:spcPct val="132000"/>
              </a:lnSpc>
              <a:spcAft>
                <a:spcPts val="1100"/>
              </a:spcAft>
              <a:buSzPct val="100000"/>
              <a:buChar char="–"/>
            </a:pPr>
            <a:r>
              <a:rPr lang="en-US" sz="1150" dirty="0">
                <a:solidFill>
                  <a:srgbClr val="32414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仕事に対する誇りと情熱、そして専門分野の知識の深さに感激した</a:t>
            </a:r>
            <a:endParaRPr lang="en-US" sz="1150" dirty="0"/>
          </a:p>
          <a:p>
            <a:pPr marL="342900" indent="-342900">
              <a:lnSpc>
                <a:spcPct val="132000"/>
              </a:lnSpc>
              <a:spcAft>
                <a:spcPts val="1100"/>
              </a:spcAft>
              <a:buSzPct val="100000"/>
              <a:buChar char="–"/>
            </a:pPr>
            <a:r>
              <a:rPr lang="en-US" sz="1150" dirty="0">
                <a:solidFill>
                  <a:srgbClr val="32414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ノウハウを集めて活用できるようにすることの重要性を、あらためて実感した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58368" y="5321808"/>
            <a:ext cx="10872216" cy="822960"/>
          </a:xfrm>
          <a:prstGeom prst="roundRect">
            <a:avLst>
              <a:gd name="adj" fmla="val 6667"/>
            </a:avLst>
          </a:prstGeom>
          <a:solidFill>
            <a:srgbClr val="0E28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42416" y="544982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2週間を通して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1042416" y="5705856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AI活用の現在地と、それを前に進める議論のしかた、そして熟練者のノウハウを残すことの意義に触れられた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" y="146304"/>
            <a:ext cx="5495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18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4. インターン振り返り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0424160" y="6345936"/>
            <a:ext cx="1106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28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3566160"/>
            <a:ext cx="4206240" cy="4206240"/>
          </a:xfrm>
          <a:prstGeom prst="ellipse">
            <a:avLst/>
          </a:prstGeom>
          <a:solidFill>
            <a:srgbClr val="0E2841"/>
          </a:solidFill>
          <a:ln w="15875">
            <a:solidFill>
              <a:srgbClr val="15608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05840" y="2724912"/>
            <a:ext cx="7315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２週間ありがとうございました！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433425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以上です。ご清聴ありがとうございました。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424160" y="6345936"/>
            <a:ext cx="1106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28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3566160"/>
            <a:ext cx="4206240" cy="4206240"/>
          </a:xfrm>
          <a:prstGeom prst="ellipse">
            <a:avLst/>
          </a:prstGeom>
          <a:solidFill>
            <a:srgbClr val="0E2841"/>
          </a:solidFill>
          <a:ln w="15875">
            <a:solidFill>
              <a:srgbClr val="15608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05840" y="23317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2724912"/>
            <a:ext cx="7315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付録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3712464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A-1・A-2　　構造化の詳細</a:t>
            </a:r>
            <a:endParaRPr lang="en-US" sz="17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A-3 〜 A-5　構造比較の詳細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424160" y="6345936"/>
            <a:ext cx="1106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27432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A-1 ／ 構造化の詳細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53035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84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ノウハウを、7種類の点と、その間の接続で表す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170432"/>
            <a:ext cx="5989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ノードの7種類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" y="1536192"/>
            <a:ext cx="5989320" cy="4069080"/>
          </a:xfrm>
          <a:prstGeom prst="roundRect">
            <a:avLst>
              <a:gd name="adj" fmla="val 1798"/>
            </a:avLst>
          </a:prstGeom>
          <a:solidFill>
            <a:srgbClr val="F5F8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9264" y="179222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2395728" y="1792224"/>
            <a:ext cx="3941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2414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対象。物・人・集団・活動・システムなど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969264" y="230428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2395728" y="2304288"/>
            <a:ext cx="3941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2414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行う操作・働きかけ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969264" y="281635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2395728" y="2816352"/>
            <a:ext cx="3941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2414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ある対象について測る量・属性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969264" y="332841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2395728" y="3328416"/>
            <a:ext cx="3941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2414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量の変化（増加／減少）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969264" y="384048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2395728" y="3840480"/>
            <a:ext cx="3941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2414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対象の状態、または量と値の比較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969264" y="435254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2395728" y="4352544"/>
            <a:ext cx="3941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2414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因果などの意味関係そのもの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969264" y="486460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2395728" y="4864608"/>
            <a:ext cx="3941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2414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明示された AND / OR / NOT のまとまり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931152" y="1170432"/>
            <a:ext cx="4599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関係そのものを、1つの点として置く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931152" y="1536192"/>
            <a:ext cx="4599432" cy="1783080"/>
          </a:xfrm>
          <a:prstGeom prst="roundRect">
            <a:avLst>
              <a:gd name="adj" fmla="val 4103"/>
            </a:avLst>
          </a:prstGeom>
          <a:solidFill>
            <a:srgbClr val="0E28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242048" y="1755648"/>
            <a:ext cx="3977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CLAIM［CAUSES］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　├ FROM　　　→　ACTION（原因側）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　├ TO　　　　→　CHANGE（結果側）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　└ CONDITION →　STATE（成立条件）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931152" y="3456432"/>
            <a:ext cx="4599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2414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関係を点にすると、成立条件や否定を、関係そのものに結びつけて残せる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931152" y="4096512"/>
            <a:ext cx="4599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関係の種類（5つ）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931152" y="4407408"/>
            <a:ext cx="4599432" cy="1298448"/>
          </a:xfrm>
          <a:prstGeom prst="roundRect">
            <a:avLst>
              <a:gd name="adj" fmla="val 5634"/>
            </a:avLst>
          </a:prstGeom>
          <a:solidFill>
            <a:srgbClr val="EE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205472" y="453542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8394192" y="4535424"/>
            <a:ext cx="2862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2414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原因 → 結果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7205472" y="475945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8394192" y="4759452"/>
            <a:ext cx="2862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2414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手がかり → 示すもの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7205472" y="498348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8394192" y="4983480"/>
            <a:ext cx="2862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2414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成立に必要なもの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7205472" y="520750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8394192" y="5207508"/>
            <a:ext cx="2862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2414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防ぐ側 → 防がれる出来事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7205472" y="543153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PRECEDES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8394192" y="5431536"/>
            <a:ext cx="2862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2414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先行 → 後続（因果ではない）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10424160" y="6345936"/>
            <a:ext cx="1106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27432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A-2 ／ 構造化の詳細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53035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84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否定を残し、言葉づかいは共通の辞書でそろえる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58368" y="1463040"/>
            <a:ext cx="5253228" cy="3657600"/>
          </a:xfrm>
          <a:prstGeom prst="roundRect">
            <a:avLst>
              <a:gd name="adj" fmla="val 2000"/>
            </a:avLst>
          </a:prstGeom>
          <a:solidFill>
            <a:srgbClr val="F5F8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9264" y="1719072"/>
            <a:ext cx="46314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POLARITY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969264" y="2011680"/>
            <a:ext cx="46314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7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肯定か、否定か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69264" y="2633472"/>
            <a:ext cx="1417320" cy="329184"/>
          </a:xfrm>
          <a:prstGeom prst="roundRect">
            <a:avLst>
              <a:gd name="adj" fmla="val 138889"/>
            </a:avLst>
          </a:prstGeom>
          <a:solidFill>
            <a:srgbClr val="1560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9264" y="263347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0" y="2596896"/>
            <a:ext cx="237744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3CD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60320" y="2596896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「時間が増える」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69264" y="3566160"/>
            <a:ext cx="1417320" cy="329184"/>
          </a:xfrm>
          <a:prstGeom prst="roundRect">
            <a:avLst>
              <a:gd name="adj" fmla="val 138889"/>
            </a:avLst>
          </a:prstGeom>
          <a:solidFill>
            <a:srgbClr val="E971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9264" y="356616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60320" y="3529584"/>
            <a:ext cx="237744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3CD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560320" y="3529584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「時間が増えない」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969264" y="4480560"/>
            <a:ext cx="46314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2414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この2つを別のものとして残す。「増えない」を「減る」にも「変わらない」にも読み替えない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77356" y="1463040"/>
            <a:ext cx="5253228" cy="3657600"/>
          </a:xfrm>
          <a:prstGeom prst="roundRect">
            <a:avLst>
              <a:gd name="adj" fmla="val 2000"/>
            </a:avLst>
          </a:prstGeom>
          <a:solidFill>
            <a:srgbClr val="EE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8252" y="1719072"/>
            <a:ext cx="46314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588252" y="2011680"/>
            <a:ext cx="46314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7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意味ごとに概念IDを固定する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588252" y="261518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「人員を追加する」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654796" y="2679192"/>
            <a:ext cx="201168" cy="182880"/>
          </a:xfrm>
          <a:prstGeom prst="rightArrow">
            <a:avLst/>
          </a:prstGeom>
          <a:solidFill>
            <a:srgbClr val="E971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947404" y="2615184"/>
            <a:ext cx="22722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core:action.add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588252" y="327355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「説明にかかる時間」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654796" y="3337560"/>
            <a:ext cx="201168" cy="182880"/>
          </a:xfrm>
          <a:prstGeom prst="rightArrow">
            <a:avLst/>
          </a:prstGeom>
          <a:solidFill>
            <a:srgbClr val="E971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947404" y="3273552"/>
            <a:ext cx="22722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core:quantity.activity_duration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588252" y="3931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「実作業に使える時間」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654796" y="3995928"/>
            <a:ext cx="201168" cy="182880"/>
          </a:xfrm>
          <a:prstGeom prst="rightArrow">
            <a:avLst/>
          </a:prstGeom>
          <a:solidFill>
            <a:srgbClr val="E971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947404" y="3931920"/>
            <a:ext cx="22722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core:quantity.available_duration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588252" y="4480560"/>
            <a:ext cx="46314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2414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「使える時間」と「必要な時間」は別の概念として分ける。辞書にない意味は空のまま残し、追加候補として記録する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27432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A-3 ／ 構造比較の詳細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53035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84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比較する単位は、意味が欠けない最小のまとまり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17043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切り出しの手順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" y="1536192"/>
            <a:ext cx="5394960" cy="1207008"/>
          </a:xfrm>
          <a:prstGeom prst="roundRect">
            <a:avLst>
              <a:gd name="adj" fmla="val 6061"/>
            </a:avLst>
          </a:prstGeom>
          <a:solidFill>
            <a:srgbClr val="F5F8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1773936"/>
            <a:ext cx="329184" cy="329184"/>
          </a:xfrm>
          <a:prstGeom prst="ellipse">
            <a:avLst/>
          </a:prstGeom>
          <a:solidFill>
            <a:srgbClr val="0E28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32688" y="17739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89888" y="173736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CLAIM（意味関係）を起点にする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89888" y="2084832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2414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探索する大きさは、まず意味関係1個、または連結した2個に限る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8368" y="2926080"/>
            <a:ext cx="5394960" cy="1207008"/>
          </a:xfrm>
          <a:prstGeom prst="roundRect">
            <a:avLst>
              <a:gd name="adj" fmla="val 6061"/>
            </a:avLst>
          </a:prstGeom>
          <a:solidFill>
            <a:srgbClr val="F5F8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2688" y="3163824"/>
            <a:ext cx="329184" cy="329184"/>
          </a:xfrm>
          <a:prstGeom prst="ellipse">
            <a:avLst/>
          </a:prstGeom>
          <a:solidFill>
            <a:srgbClr val="0E28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32688" y="31638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389888" y="3127248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意味を決める接続まで必ず含める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89888" y="3474720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2414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FROM・TO・成立条件・操作の対象・変化する量・量の対象・LOGICの全要素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8368" y="4315968"/>
            <a:ext cx="5394960" cy="1207008"/>
          </a:xfrm>
          <a:prstGeom prst="roundRect">
            <a:avLst>
              <a:gd name="adj" fmla="val 6061"/>
            </a:avLst>
          </a:prstGeom>
          <a:solidFill>
            <a:srgbClr val="F5F8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2688" y="4553712"/>
            <a:ext cx="329184" cy="329184"/>
          </a:xfrm>
          <a:prstGeom prst="ellipse">
            <a:avLst/>
          </a:prstGeom>
          <a:solidFill>
            <a:srgbClr val="0E28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32688" y="4553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389888" y="4517136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欠けた断片は同じ構造として扱わない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389888" y="4864608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2414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引数を落とした小さな一致を、元と同じ意味の構造とは見なさない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0" y="1170432"/>
            <a:ext cx="4946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1つの断片に含める範囲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583680" y="1536192"/>
            <a:ext cx="4946904" cy="2304288"/>
          </a:xfrm>
          <a:prstGeom prst="roundRect">
            <a:avLst>
              <a:gd name="adj" fmla="val 3175"/>
            </a:avLst>
          </a:prstGeom>
          <a:solidFill>
            <a:srgbClr val="0E28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76288" y="1773936"/>
            <a:ext cx="436168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CLAIM［CAUSES］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　├ FROM　→ ACTION ─ 操作の対象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　├ TO　　→ CHANGE ─ 変化する量 ─ 量の対象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　└ CONDITION → STATE ─ 状態の対象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BDD0E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　　　　　　　　（比較の値・単位も含む）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4059936"/>
            <a:ext cx="4946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含めてはいけない切り方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583680" y="4370832"/>
            <a:ext cx="4946904" cy="1371600"/>
          </a:xfrm>
          <a:prstGeom prst="roundRect">
            <a:avLst>
              <a:gd name="adj" fmla="val 5333"/>
            </a:avLst>
          </a:prstGeom>
          <a:solidFill>
            <a:srgbClr val="F5F8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76288" y="4553712"/>
            <a:ext cx="43616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2000"/>
              </a:lnSpc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32414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CLAIM だけを取り出し、何が何を起こすのかを落とす</a:t>
            </a:r>
            <a:endParaRPr lang="en-US" sz="1200" dirty="0"/>
          </a:p>
          <a:p>
            <a:pPr marL="342900" indent="-342900">
              <a:lnSpc>
                <a:spcPct val="132000"/>
              </a:lnSpc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32414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「A と B がそろうと C」の AND を、片方だけに分解する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0424160" y="6345936"/>
            <a:ext cx="1106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27432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A-4 ／ 構造比較の詳細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53035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84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何を一致の判定に使い、何を使わないかを決めておく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170432"/>
            <a:ext cx="52532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一致の判定に使う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" y="1536192"/>
            <a:ext cx="5253228" cy="2907792"/>
          </a:xfrm>
          <a:prstGeom prst="roundRect">
            <a:avLst>
              <a:gd name="adj" fmla="val 2516"/>
            </a:avLst>
          </a:prstGeom>
          <a:solidFill>
            <a:srgbClr val="EE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9264" y="1792224"/>
            <a:ext cx="463143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2000"/>
              </a:lnSpc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B27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点の種類（ACTION・QUANTITY・CLAIM など）</a:t>
            </a:r>
            <a:endParaRPr lang="en-US" sz="1250" dirty="0"/>
          </a:p>
          <a:p>
            <a:pPr marL="342900" indent="-342900">
              <a:lnSpc>
                <a:spcPct val="132000"/>
              </a:lnSpc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B27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正規化した概念ID</a:t>
            </a:r>
            <a:endParaRPr lang="en-US" sz="1250" dirty="0"/>
          </a:p>
          <a:p>
            <a:pPr marL="342900" indent="-342900">
              <a:lnSpc>
                <a:spcPct val="132000"/>
              </a:lnSpc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B27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変化の向き（増加／減少）と、関係の種類</a:t>
            </a:r>
            <a:endParaRPr lang="en-US" sz="1250" dirty="0"/>
          </a:p>
          <a:p>
            <a:pPr marL="342900" indent="-342900">
              <a:lnSpc>
                <a:spcPct val="132000"/>
              </a:lnSpc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B27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否定（増える／増えない）</a:t>
            </a:r>
            <a:endParaRPr lang="en-US" sz="1250" dirty="0"/>
          </a:p>
          <a:p>
            <a:pPr marL="342900" indent="-342900">
              <a:lnSpc>
                <a:spcPct val="132000"/>
              </a:lnSpc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B27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比較演算子・値・単位、量の次元</a:t>
            </a:r>
            <a:endParaRPr lang="en-US" sz="1250" dirty="0"/>
          </a:p>
          <a:p>
            <a:pPr marL="342900" indent="-342900">
              <a:lnSpc>
                <a:spcPct val="132000"/>
              </a:lnSpc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B27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接続の種類と向き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569964" y="1170432"/>
            <a:ext cx="52532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一致の判定には使わない（対応表には残す）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569964" y="1536192"/>
            <a:ext cx="5253228" cy="2907792"/>
          </a:xfrm>
          <a:prstGeom prst="roundRect">
            <a:avLst>
              <a:gd name="adj" fmla="val 2516"/>
            </a:avLst>
          </a:prstGeom>
          <a:solidFill>
            <a:srgbClr val="F5F8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80860" y="1792224"/>
            <a:ext cx="463143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2000"/>
              </a:lnSpc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32414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文書ID・文書内のノードID</a:t>
            </a:r>
            <a:endParaRPr lang="en-US" sz="1250" dirty="0"/>
          </a:p>
          <a:p>
            <a:pPr marL="342900" indent="-342900">
              <a:lnSpc>
                <a:spcPct val="132000"/>
              </a:lnSpc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32414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原文の表現そのもの、引用文</a:t>
            </a:r>
            <a:endParaRPr lang="en-US" sz="1250" dirty="0"/>
          </a:p>
          <a:p>
            <a:pPr marL="342900" indent="-342900">
              <a:lnSpc>
                <a:spcPct val="132000"/>
              </a:lnSpc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32414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ENTITY（対象）の名前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880860" y="3383280"/>
            <a:ext cx="46314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32414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これらを一致の条件にすると、言い回しや対象名が違うだけで別物と見なされ、分野をまたいだ共通構造が見つからない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58368" y="4645152"/>
            <a:ext cx="10872216" cy="1371600"/>
          </a:xfrm>
          <a:prstGeom prst="roundRect">
            <a:avLst>
              <a:gd name="adj" fmla="val 5333"/>
            </a:avLst>
          </a:prstGeom>
          <a:solidFill>
            <a:srgbClr val="0E28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42416" y="48097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ADCF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ENTITY（対象）の扱い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042416" y="5120640"/>
            <a:ext cx="10058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対象は一対一の変数として対応づける。「人員」と「製品種類」が同じ意味だと宣言するのではなく、</a:t>
            </a:r>
            <a:endParaRPr lang="en-US" sz="125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違う対象の間で同じ関係が成り立つかを見る操作。元の名前と種類は対応表に残し、置き換えてよいかは別に確認する。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0424160" y="6345936"/>
            <a:ext cx="1106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27432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A-5 ／ 構造比較の詳細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53035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84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粗く絞ってから、厳密に照合し、支持する事例を数える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3417113" cy="2487168"/>
          </a:xfrm>
          <a:prstGeom prst="roundRect">
            <a:avLst>
              <a:gd name="adj" fmla="val 2941"/>
            </a:avLst>
          </a:prstGeom>
          <a:solidFill>
            <a:srgbClr val="F5F8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" y="1682496"/>
            <a:ext cx="365760" cy="365760"/>
          </a:xfrm>
          <a:prstGeom prst="ellipse">
            <a:avLst/>
          </a:prstGeom>
          <a:solidFill>
            <a:srgbClr val="0E28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9264" y="1682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9264" y="2194560"/>
            <a:ext cx="279532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粗い条件で絞る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69264" y="2596896"/>
            <a:ext cx="279532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2414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点の数・接続の数・ラベルの個数など、一致するなら必ず同じになる情報で候補を絞る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21201" y="2523744"/>
            <a:ext cx="219456" cy="274320"/>
          </a:xfrm>
          <a:prstGeom prst="rightArrow">
            <a:avLst/>
          </a:prstGeom>
          <a:solidFill>
            <a:srgbClr val="C3CD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41241" y="1417320"/>
            <a:ext cx="3417113" cy="2487168"/>
          </a:xfrm>
          <a:prstGeom prst="roundRect">
            <a:avLst>
              <a:gd name="adj" fmla="val 2941"/>
            </a:avLst>
          </a:prstGeom>
          <a:solidFill>
            <a:srgbClr val="F5F8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2137" y="1682496"/>
            <a:ext cx="365760" cy="365760"/>
          </a:xfrm>
          <a:prstGeom prst="ellipse">
            <a:avLst/>
          </a:prstGeom>
          <a:solidFill>
            <a:srgbClr val="0E28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52137" y="1682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752137" y="2194560"/>
            <a:ext cx="279532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厳密に照合する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752137" y="2596896"/>
            <a:ext cx="279532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2414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点の一対一対応と、接続の種類・向きまで合うかを総当たりで確かめる。粗い条件が同じというだけでは一致としない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904074" y="2523744"/>
            <a:ext cx="219456" cy="274320"/>
          </a:xfrm>
          <a:prstGeom prst="rightArrow">
            <a:avLst/>
          </a:prstGeom>
          <a:solidFill>
            <a:srgbClr val="C3CD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4114" y="1417320"/>
            <a:ext cx="3417113" cy="2487168"/>
          </a:xfrm>
          <a:prstGeom prst="roundRect">
            <a:avLst>
              <a:gd name="adj" fmla="val 2941"/>
            </a:avLst>
          </a:prstGeom>
          <a:solidFill>
            <a:srgbClr val="F5F8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35010" y="1682496"/>
            <a:ext cx="365760" cy="365760"/>
          </a:xfrm>
          <a:prstGeom prst="ellipse">
            <a:avLst/>
          </a:prstGeom>
          <a:solidFill>
            <a:srgbClr val="0E28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35010" y="1682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535010" y="2194560"/>
            <a:ext cx="279532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支持する事例を数える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535010" y="2596896"/>
            <a:ext cx="279532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2414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2件以上の文書に現れた構造を、繰り返し現れる構造として残す。同じ文書内の繰り返しは支持数に数えない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" y="4078224"/>
            <a:ext cx="52532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探索に進めず保留する断片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58368" y="4389120"/>
            <a:ext cx="5253228" cy="1353312"/>
          </a:xfrm>
          <a:prstGeom prst="roundRect">
            <a:avLst>
              <a:gd name="adj" fmla="val 5405"/>
            </a:avLst>
          </a:prstGeom>
          <a:solidFill>
            <a:srgbClr val="EE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69264" y="4572000"/>
            <a:ext cx="46314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2000"/>
              </a:lnSpc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32414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辞書にない概念を含む（空どうしを同じ意味として扱わない）</a:t>
            </a:r>
            <a:endParaRPr lang="en-US" sz="1200" dirty="0"/>
          </a:p>
          <a:p>
            <a:pPr marL="342900" indent="-342900">
              <a:lnSpc>
                <a:spcPct val="132000"/>
              </a:lnSpc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32414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未解決の限定や、曖昧な参照が残っている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569964" y="4078224"/>
            <a:ext cx="52532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比較する情報を切り替えられるようにする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569964" y="4389120"/>
            <a:ext cx="5253228" cy="1353312"/>
          </a:xfrm>
          <a:prstGeom prst="roundRect">
            <a:avLst>
              <a:gd name="adj" fmla="val 5405"/>
            </a:avLst>
          </a:prstGeom>
          <a:solidFill>
            <a:srgbClr val="F5F8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80860" y="4572000"/>
            <a:ext cx="46314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2000"/>
              </a:lnSpc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32414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概念ID・否定・条件を外した方式や、形だけの方式でも同じ断片を比較できる</a:t>
            </a:r>
            <a:endParaRPr lang="en-US" sz="1200" dirty="0"/>
          </a:p>
          <a:p>
            <a:pPr marL="342900" indent="-342900">
              <a:lnSpc>
                <a:spcPct val="132000"/>
              </a:lnSpc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32414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どの情報が誤った一致を防いでいるかを、後から確かめるため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0424160" y="6345936"/>
            <a:ext cx="1106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インターン成果報告</dc:title>
  <dc:subject>PptxGenJS Presentation</dc:subject>
  <dc:creator>岩﨑文紀</dc:creator>
  <cp:lastModifiedBy>岩﨑文紀</cp:lastModifiedBy>
  <cp:revision>1</cp:revision>
  <dcterms:created xsi:type="dcterms:W3CDTF">2026-09-16T14:03:24Z</dcterms:created>
  <dcterms:modified xsi:type="dcterms:W3CDTF">2026-09-16T14:03:24Z</dcterms:modified>
</cp:coreProperties>
</file>