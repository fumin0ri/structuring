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自己紹介。インターンで取り組んだテーマの位置づけを一言で述べる。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全体の流れ。手法は概要と詳細の2枚、結果と考察はまとめて3章、最後に振り返り。付録は質疑用。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左：いま困っていること。右：この取り組みの目標。下段：そのために作った仕組みの要約。詳しい手順は次のページ。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段は4段階の流れ。1〜2がLLM、3がプログラム、4が質問応答。下段は理由を①→②→③でつなぐ：①分野が違っても関係は残る、②その関係のまとまりこそが考え方、③だから繰り返す構造は考え方の候補になる。②の根拠としてStructure-Mapping（類推では対象の属性より関係の対応づけが中核）を挙げる。最後に速度の利点を補足。手法はまだ検討中である点も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→中→右の順に話す。中央のCLAIMが要：因果・兆候・必要・順序を混ぜず、条件や「〜のことがある」を関係そのものに結びつけられる。比較もこのCLAIMを起点に切り出すので、意味の欠けた断片どうしは一致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左：質問を受けてから回答するまでの4手順。右：同じノウハウを2つの表現で持ち、検索と回答で使い分けていること。下段がこの設計の肝。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数字は2つだけ。1,000件を構造化し、そこから73パターンの共通構造が出た。加えて、質問を受けてから回答するところまで一通り作った、という話。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左：設計が効いた点。右：まだ確かめられていない点。下段：機械的な一致を、そのまま正しい考え方とは言わない、という注意。内容は仮置きなので、実際の所感に合わせて差し替える。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AI活用の推進状況と、定例での事例共有から感じた技術への感度の高さ。②いつでも議論できる環境。メンターの方の説明と、まわりの人が自然に議論へ加わってくる雰囲気。③熟練者の方とAIの対話の会に参加して感じた、知識の深さと仕事への誇り。ここでノウハウを残すことの意義を再認識した、という流れで下段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ここから先は質疑用の付録。時間があれば構造化（A-1〜A-3）と構造比較（A-4〜A-6）を説明する。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左：原文を7種類の点に分解する。右：因果などの関係を辺ではなく点として置くことで、成立条件や否定をその関係に付けられる。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を先に辞書として決めるのではなく、実データから作った。①まず構造化だけ行う。②CLAIMを含む構造を取り出す。③そこに現れるACTION・STATE・QUANTITYを種類ごとに集め、LLMに約20分類の概念を定義させる。④各ノードがどの概念かをLLMに判定させて正規化。下段：否定は概念をそろえたあと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比較の単位をどう切り出すか。意味を決める引数を落とすと、形だけ似た別物が一致してしまうため、閉じた範囲で切り出す。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比較の設計で最も効くところ。使う情報を増やすと誤った一致は減るが、厳しくしすぎると分野をまたいだ一致が消える。そのバランスを実験で確かめている。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照合は2段階。粗い条件はあくまで絞り込みで、一致の証明にはしない。保留した断片は辞書を直してから再探索する。最後の枠は、比較方式を差し替えて効果を測れるようにしてあるという話。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108960"/>
            <a:ext cx="4754880" cy="475488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78440" y="4526280"/>
            <a:ext cx="1920240" cy="1920240"/>
          </a:xfrm>
          <a:prstGeom prst="ellipse">
            <a:avLst/>
          </a:prstGeom>
          <a:solidFill>
            <a:srgbClr val="156082">
              <a:alpha val="45000"/>
            </a:srgbClr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2487168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インターン成果報告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456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熟練者の分野を横断した共通の「考え方」の発見に向けて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05840" y="4224528"/>
            <a:ext cx="502920" cy="32004"/>
          </a:xfrm>
          <a:prstGeom prst="rect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名古屋大学　岩﨑文紀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783080" y="2834640"/>
            <a:ext cx="8558784" cy="36576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62456" y="2432304"/>
            <a:ext cx="841248" cy="841248"/>
          </a:xfrm>
          <a:prstGeom prst="ellipse">
            <a:avLst/>
          </a:prstGeom>
          <a:solidFill>
            <a:srgbClr val="0E284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62456" y="2432304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5295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215384" y="2432304"/>
            <a:ext cx="841248" cy="841248"/>
          </a:xfrm>
          <a:prstGeom prst="ellipse">
            <a:avLst/>
          </a:prstGeom>
          <a:solidFill>
            <a:srgbClr val="0E284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15384" y="2432304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35295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手法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39684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2.1  手法概要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218688" y="42793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2.2  手法詳細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068312" y="2432304"/>
            <a:ext cx="841248" cy="841248"/>
          </a:xfrm>
          <a:prstGeom prst="ellipse">
            <a:avLst/>
          </a:prstGeom>
          <a:solidFill>
            <a:srgbClr val="0E284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68312" y="2432304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071616" y="35295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結果・考察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921240" y="2432304"/>
            <a:ext cx="841248" cy="841248"/>
          </a:xfrm>
          <a:prstGeom prst="ellipse">
            <a:avLst/>
          </a:prstGeom>
          <a:solidFill>
            <a:srgbClr val="15608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21240" y="2432304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924544" y="35295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インターン振り返り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5760720"/>
            <a:ext cx="10872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　構造化の詳細（A-1・A-2）／ 構造比較の詳細（A-3〜A-5）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分野を横断して共通する「考え方」を見つけたい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5257800" cy="3611880"/>
          </a:xfrm>
          <a:prstGeom prst="roundRect">
            <a:avLst>
              <a:gd name="adj" fmla="val 2025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9264" y="1499616"/>
            <a:ext cx="1170432" cy="292608"/>
          </a:xfrm>
          <a:prstGeom prst="roundRect">
            <a:avLst>
              <a:gd name="adj" fmla="val 156250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499616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69264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9264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ソフトウェア開発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「人員を追加」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78608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78608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製造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「製品種類を追加」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7952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予約サービス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187952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「予約枠を追加」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31136" y="1536192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蓄積された分野ごとのノウハウ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4972" y="2450592"/>
            <a:ext cx="164592" cy="219456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1348" y="2688336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41348" y="268833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ベクトル・語彙検索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04972" y="3255264"/>
            <a:ext cx="164592" cy="219456"/>
          </a:xfrm>
          <a:prstGeom prst="down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33572" y="3218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A7B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641348" y="3566160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41348" y="356616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9AA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新しい分野の質問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169664"/>
            <a:ext cx="4636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分野が違えば言葉づかいも違うため、同じ考え方でも検索で結びつかない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72784" y="1298448"/>
            <a:ext cx="5257800" cy="3611880"/>
          </a:xfrm>
          <a:prstGeom prst="roundRect">
            <a:avLst>
              <a:gd name="adj" fmla="val 2025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0" y="1499616"/>
            <a:ext cx="1170432" cy="292608"/>
          </a:xfrm>
          <a:prstGeom prst="roundRect">
            <a:avLst>
              <a:gd name="adj" fmla="val 156250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1499616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ソフトウェア開発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「人員を追加」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93024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93024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製造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193024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「製品種類を追加」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02368" y="1847088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02368" y="19019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予約サービス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9802368" y="210312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「予約枠を追加」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1536192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蓄積された分野ごとのノウハウ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819388" y="2450592"/>
            <a:ext cx="164592" cy="219456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55764" y="2688336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5764" y="268833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対象Xを追加 → 活動Yの時間が増加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819388" y="3255264"/>
            <a:ext cx="164592" cy="219456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55764" y="3566160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255764" y="356616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新しい分野の質問にも回答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583680" y="4169664"/>
            <a:ext cx="4636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複数分野のノウハウから共通する考え方を抽出しておけば、データベースにない分野にも当てはめられる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0" y="2834640"/>
            <a:ext cx="457200" cy="40233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8368" y="5138928"/>
            <a:ext cx="10872216" cy="969264"/>
          </a:xfrm>
          <a:prstGeom prst="roundRect">
            <a:avLst>
              <a:gd name="adj" fmla="val 5660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42416" y="53218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本インターンでの取り組み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42416" y="561441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ノウハウを構造化・正規化して共通する構造を見つけ、質問に対して元の具体的な内容で回答する仕組みを構築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1. 目標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構造化して共通構造を見つけ、元の具体的なノウハウで回答する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024128"/>
            <a:ext cx="6428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あらかじめ実行する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24344" y="1024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質問を受けたときに実行する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316736"/>
            <a:ext cx="1984248" cy="2139696"/>
          </a:xfrm>
          <a:prstGeom prst="roundRect">
            <a:avLst>
              <a:gd name="adj" fmla="val 3687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956816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0392" y="195681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人員を追加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586484" y="2432304"/>
            <a:ext cx="128016" cy="182880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" y="2633472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" y="26334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説明時間が増加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77824" y="1481328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7824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225296" y="146304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70048" y="2276856"/>
            <a:ext cx="182880" cy="256032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1316736"/>
            <a:ext cx="1984248" cy="2139696"/>
          </a:xfrm>
          <a:prstGeom prst="roundRect">
            <a:avLst>
              <a:gd name="adj" fmla="val 3687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72384" y="1956816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72384" y="195681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概念：追加する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08476" y="2432304"/>
            <a:ext cx="128016" cy="182880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72384" y="2633472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72384" y="26334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概念：活動時間の増加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99816" y="1481328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99816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146304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92040" y="2276856"/>
            <a:ext cx="182880" cy="256032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02352" y="1316736"/>
            <a:ext cx="1984248" cy="2139696"/>
          </a:xfrm>
          <a:prstGeom prst="roundRect">
            <a:avLst>
              <a:gd name="adj" fmla="val 3687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02936" y="1865376"/>
            <a:ext cx="1600200" cy="1115568"/>
          </a:xfrm>
          <a:prstGeom prst="roundRect">
            <a:avLst>
              <a:gd name="adj" fmla="val 5738"/>
            </a:avLst>
          </a:prstGeom>
          <a:solidFill>
            <a:srgbClr val="DCE3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48656" y="1911096"/>
            <a:ext cx="1600200" cy="1115568"/>
          </a:xfrm>
          <a:prstGeom prst="roundRect">
            <a:avLst>
              <a:gd name="adj" fmla="val 5738"/>
            </a:avLst>
          </a:prstGeom>
          <a:solidFill>
            <a:srgbClr val="C6D1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94376" y="1956816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294376" y="195681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対象Xを追加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30468" y="2432304"/>
            <a:ext cx="128016" cy="182880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94376" y="2633472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94376" y="26334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活動Yの時間が増加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321808" y="1481328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321808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146304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共通構造の発見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114032" y="2276856"/>
            <a:ext cx="182880" cy="256032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24344" y="1316736"/>
            <a:ext cx="1984248" cy="2139696"/>
          </a:xfrm>
          <a:prstGeom prst="roundRect">
            <a:avLst>
              <a:gd name="adj" fmla="val 3687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16368" y="1956816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E9713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16368" y="195681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？ 新しい分野の質問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252460" y="2432304"/>
            <a:ext cx="128016" cy="182880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16368" y="2633472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16368" y="26334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一致した共通構造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543800" y="1481328"/>
            <a:ext cx="310896" cy="31089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7891272" y="146304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検索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336024" y="2276856"/>
            <a:ext cx="182880" cy="256032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546336" y="1316736"/>
            <a:ext cx="1984248" cy="2139696"/>
          </a:xfrm>
          <a:prstGeom prst="roundRect">
            <a:avLst>
              <a:gd name="adj" fmla="val 3687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738360" y="1956816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1956816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元の具体的な内容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474452" y="2432304"/>
            <a:ext cx="128016" cy="182880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738360" y="2633472"/>
            <a:ext cx="1600200" cy="438912"/>
          </a:xfrm>
          <a:prstGeom prst="roundRect">
            <a:avLst>
              <a:gd name="adj" fmla="val 14583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738360" y="2633472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アドバイスを生成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765792" y="1481328"/>
            <a:ext cx="310896" cy="31089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65792" y="1481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10113264" y="1463040"/>
            <a:ext cx="1252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回答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749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なぜ共通構造が「考え方」になるのか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658368" y="4114800"/>
            <a:ext cx="3319272" cy="868680"/>
          </a:xfrm>
          <a:prstGeom prst="roundRect">
            <a:avLst>
              <a:gd name="adj" fmla="val 8421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58368" y="4114800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分野が違っても、関係は残る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087368" y="4425696"/>
            <a:ext cx="237744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34840" y="4114800"/>
            <a:ext cx="3319272" cy="868680"/>
          </a:xfrm>
          <a:prstGeom prst="roundRect">
            <a:avLst>
              <a:gd name="adj" fmla="val 8421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434840" y="4114800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関係のまとまり＝考え方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863840" y="4425696"/>
            <a:ext cx="237744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11312" y="4114800"/>
            <a:ext cx="3319272" cy="868680"/>
          </a:xfrm>
          <a:prstGeom prst="roundRect">
            <a:avLst>
              <a:gd name="adj" fmla="val 8421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211312" y="4114800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繰り返す構造＝考え方の候補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52120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加えて、一度構造にしておけば総当たり比較が不要になり、件数が増えても機械的に照合できる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6327648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参考：Gentner, D. (1983). Structure-Mapping: A Theoretical Framework for Analogy. Cognitive Science, 7(2), 155–170.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手法　／　2.1 手法概要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CLAIM（関係そのもの）を中心に、構造化し、比較する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3127248" cy="3163824"/>
          </a:xfrm>
          <a:prstGeom prst="roundRect">
            <a:avLst>
              <a:gd name="adj" fmla="val 233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9264" y="1517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構造化・正規化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969264" y="1938528"/>
            <a:ext cx="25054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原文を、対象・操作・量・変化・状態に分解する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集めたノードから定義した概念に割り当てる（「使える時間」と「必要な時間」は別）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原文にない因果・主体・目的は足さない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03336" y="1298448"/>
            <a:ext cx="3127248" cy="3163824"/>
          </a:xfrm>
          <a:prstGeom prst="roundRect">
            <a:avLst>
              <a:gd name="adj" fmla="val 233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14232" y="1517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構造比較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714232" y="1938528"/>
            <a:ext cx="25054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を起点に、意味が欠けない範囲を切り出す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対象の名前は変数として対応づけ、元の名前は残す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概念ID・向き・否定・条件は一致条件にする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33088" y="1170432"/>
            <a:ext cx="3922776" cy="3419856"/>
          </a:xfrm>
          <a:prstGeom prst="roundRect">
            <a:avLst>
              <a:gd name="adj" fmla="val 213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3984" y="1389888"/>
            <a:ext cx="841248" cy="292608"/>
          </a:xfrm>
          <a:prstGeom prst="roundRect">
            <a:avLst>
              <a:gd name="adj" fmla="val 156250"/>
            </a:avLst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3984" y="1389888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43984" y="1792224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＝ 関係そのものを点にする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43984" y="2139696"/>
            <a:ext cx="1645920" cy="493776"/>
          </a:xfrm>
          <a:prstGeom prst="roundRect">
            <a:avLst>
              <a:gd name="adj" fmla="val 18519"/>
            </a:avLst>
          </a:prstGeom>
          <a:solidFill>
            <a:srgbClr val="1B3A55"/>
          </a:solidFill>
          <a:ln w="12700">
            <a:solidFill>
              <a:srgbClr val="3E61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43984" y="21854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人員を追加する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93792" y="2670048"/>
            <a:ext cx="146304" cy="201168"/>
          </a:xfrm>
          <a:prstGeom prst="downArrow">
            <a:avLst/>
          </a:prstGeom>
          <a:solidFill>
            <a:srgbClr val="6E8C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267919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D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2926080"/>
            <a:ext cx="1645920" cy="493776"/>
          </a:xfrm>
          <a:prstGeom prst="roundRect">
            <a:avLst>
              <a:gd name="adj" fmla="val 18519"/>
            </a:avLst>
          </a:prstGeom>
          <a:solidFill>
            <a:srgbClr val="E97132"/>
          </a:solidFill>
          <a:ln w="12700">
            <a:solidFill>
              <a:srgbClr val="E971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43984" y="297180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A2A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31272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CAUSES（起こす）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26480" y="3090672"/>
            <a:ext cx="201168" cy="164592"/>
          </a:xfrm>
          <a:prstGeom prst="rightArrow">
            <a:avLst/>
          </a:prstGeom>
          <a:solidFill>
            <a:srgbClr val="6E8C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287121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D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364224" y="292608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1B3A55"/>
          </a:solidFill>
          <a:ln w="12700">
            <a:solidFill>
              <a:srgbClr val="3E61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9718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312724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説明時間が増加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93792" y="3456432"/>
            <a:ext cx="146304" cy="201168"/>
          </a:xfrm>
          <a:prstGeom prst="downArrow">
            <a:avLst/>
          </a:prstGeom>
          <a:solidFill>
            <a:srgbClr val="6E8C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94960" y="346557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D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443984" y="3712464"/>
            <a:ext cx="1645920" cy="493776"/>
          </a:xfrm>
          <a:prstGeom prst="roundRect">
            <a:avLst>
              <a:gd name="adj" fmla="val 18519"/>
            </a:avLst>
          </a:prstGeom>
          <a:solidFill>
            <a:srgbClr val="1B3A55"/>
          </a:solidFill>
          <a:ln w="12700">
            <a:solidFill>
              <a:srgbClr val="3E61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443984" y="375818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443984" y="39136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件数が10件以上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443984" y="4261104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0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否定（増える／増えない）も、この点に付ける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840480" y="2743200"/>
            <a:ext cx="237744" cy="292608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10728" y="2743200"/>
            <a:ext cx="237744" cy="292608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4754880"/>
            <a:ext cx="10872216" cy="969264"/>
          </a:xfrm>
          <a:prstGeom prst="roundRect">
            <a:avLst>
              <a:gd name="adj" fmla="val 5660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9264" y="4882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を点として置くことが、この手法の要になる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関係の種類を混ぜない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時間順序と因果が、別物のまま残る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448970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条件と否定を関係に付けられる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48970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「増えない」「Cのときだけ」を落とさない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01014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比較の起点と単位になる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01014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意味の欠けた断片どうしが一致しない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手法　／　2.2 手法詳細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検索は正規化した構造で、回答は正規化前の具体で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2578608" y="1481328"/>
            <a:ext cx="5413248" cy="1170432"/>
          </a:xfrm>
          <a:prstGeom prst="roundRect">
            <a:avLst>
              <a:gd name="adj" fmla="val 6250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1627632"/>
            <a:ext cx="1097280" cy="274320"/>
          </a:xfrm>
          <a:prstGeom prst="roundRect">
            <a:avLst>
              <a:gd name="adj" fmla="val 166667"/>
            </a:avLst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816352" y="16276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検索に使う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005072" y="160934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正規化した共通構造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208483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C4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73パターン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FC4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のうち1つ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803904" y="2084832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1B3A55"/>
          </a:solidFill>
          <a:ln w="12700">
            <a:solidFill>
              <a:srgbClr val="6E8C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03904" y="208483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対象Xを追加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01768" y="2203704"/>
            <a:ext cx="164592" cy="146304"/>
          </a:xfrm>
          <a:prstGeom prst="rightArrow">
            <a:avLst/>
          </a:prstGeom>
          <a:solidFill>
            <a:srgbClr val="6E8C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93792" y="2084832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1B3A55"/>
          </a:solidFill>
          <a:ln w="12700">
            <a:solidFill>
              <a:srgbClr val="6E8C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93792" y="208483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活動Yの時間が増加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91656" y="2203704"/>
            <a:ext cx="164592" cy="146304"/>
          </a:xfrm>
          <a:prstGeom prst="rightArrow">
            <a:avLst/>
          </a:prstGeom>
          <a:solidFill>
            <a:srgbClr val="6E8C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0" y="2084832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1B3A55"/>
          </a:solidFill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084832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活動Zの時間が減少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78608" y="3200400"/>
            <a:ext cx="5413248" cy="1645920"/>
          </a:xfrm>
          <a:prstGeom prst="roundRect">
            <a:avLst>
              <a:gd name="adj" fmla="val 4444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16352" y="3346704"/>
            <a:ext cx="1097280" cy="274320"/>
          </a:xfrm>
          <a:prstGeom prst="roundRect">
            <a:avLst>
              <a:gd name="adj" fmla="val 166667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816352" y="33467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回答に使う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005072" y="33284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正規化前の具体的なグラフ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2816352" y="3712464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ソフトウェア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開発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803904" y="3712464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03904" y="371246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人員を追加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01768" y="3831336"/>
            <a:ext cx="164592" cy="146304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3792" y="3712464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3792" y="371246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説明時間が増加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91656" y="3831336"/>
            <a:ext cx="164592" cy="146304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3712464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3712464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実作業時間が減少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816352" y="420624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製造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803904" y="4206240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03904" y="420624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製品種類を追加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01768" y="4325112"/>
            <a:ext cx="164592" cy="146304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93792" y="4206240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93792" y="420624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段取り時間が増加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91656" y="4325112"/>
            <a:ext cx="164592" cy="146304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83680" y="4206240"/>
            <a:ext cx="117043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0" y="4206240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製造時間が減少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" y="1792224"/>
            <a:ext cx="16459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" y="179222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新しい分野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の質問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24871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構造化して検索する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304288" y="1975104"/>
            <a:ext cx="274320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15584" y="2724912"/>
            <a:ext cx="237744" cy="384048"/>
          </a:xfrm>
          <a:prstGeom prst="down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63056" y="27980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一致した共通構造に紐づく、元の具体的なグラフを取り出す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01584" y="3913632"/>
            <a:ext cx="274320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5632" y="3712464"/>
            <a:ext cx="1280160" cy="621792"/>
          </a:xfrm>
          <a:prstGeom prst="roundRect">
            <a:avLst>
              <a:gd name="adj" fmla="val 11765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485632" y="3712464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LLM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57232" y="3913632"/>
            <a:ext cx="274320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250424" y="3712464"/>
            <a:ext cx="1280160" cy="621792"/>
          </a:xfrm>
          <a:prstGeom prst="roundRect">
            <a:avLst>
              <a:gd name="adj" fmla="val 11765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250424" y="3712464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回答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58368" y="5248656"/>
            <a:ext cx="10872216" cy="768096"/>
          </a:xfrm>
          <a:prstGeom prst="roundRect">
            <a:avLst>
              <a:gd name="adj" fmla="val 714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5248656"/>
            <a:ext cx="10872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正規化した共通構造は分野をまたいだ検索に使い、正規化前の具体的な内容は回答の材料に使う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手法　／　2.2 手法詳細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1,000件のノウハウから、73パターンの共通構造を発見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7373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1,000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578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件の具体的なノウハウ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70432" y="3072384"/>
            <a:ext cx="137160" cy="164592"/>
          </a:xfrm>
          <a:prstGeom prst="rect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9888" y="3072384"/>
            <a:ext cx="137160" cy="164592"/>
          </a:xfrm>
          <a:prstGeom prst="rect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9344" y="3072384"/>
            <a:ext cx="137160" cy="164592"/>
          </a:xfrm>
          <a:prstGeom prst="rect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48256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67712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87168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06624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26080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45536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84448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03904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3072384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70432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9888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9344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28800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48256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67712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87168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06624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26080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45536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64992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84448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03904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23360" y="3291840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70432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89888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09344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28800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8256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67712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87168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06624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0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145536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84448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03904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23360" y="3511296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70432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389888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609344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828800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048256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267712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87168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06624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26080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145536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64992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584448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803904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023360" y="3730752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70432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389888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609344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828800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048256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267712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487168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706624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926080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45536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364992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584448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803904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023360" y="3950208"/>
            <a:ext cx="137160" cy="164592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956048" y="2651760"/>
            <a:ext cx="731520" cy="475488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572000" y="3218688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構造化・正規化して</a:t>
            </a:r>
            <a:endParaRPr lang="en-US" sz="10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共通構造を探索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5961888" y="1335024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961888" y="17373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</a:t>
            </a:r>
            <a:endParaRPr lang="en-US" sz="5400" dirty="0"/>
          </a:p>
        </p:txBody>
      </p:sp>
      <p:sp>
        <p:nvSpPr>
          <p:cNvPr id="80" name="Text 78"/>
          <p:cNvSpPr txBox="1"/>
          <p:nvPr/>
        </p:nvSpPr>
        <p:spPr>
          <a:xfrm>
            <a:off x="5961888" y="2578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パターンの共通構造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144768" y="3127248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144768" y="31272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対象Xを追加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287768" y="3255264"/>
            <a:ext cx="109728" cy="146304"/>
          </a:xfrm>
          <a:prstGeom prst="rightArrow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15784" y="3127248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7415784" y="31272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活動Yの時間が増加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8558784" y="3255264"/>
            <a:ext cx="109728" cy="146304"/>
          </a:xfrm>
          <a:prstGeom prst="rightArrow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686800" y="3127248"/>
            <a:ext cx="1115568" cy="402336"/>
          </a:xfrm>
          <a:prstGeom prst="roundRect">
            <a:avLst>
              <a:gd name="adj" fmla="val 1590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686800" y="31272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活動Zの時間が減少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961888" y="36758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見つかった共通構造の一例。ほかに72パターン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658368" y="4773168"/>
            <a:ext cx="10872216" cy="1005840"/>
          </a:xfrm>
          <a:prstGeom prst="roundRect">
            <a:avLst>
              <a:gd name="adj" fmla="val 5455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042416" y="5120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質問への適用まで、通して構築した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4846320" y="5084064"/>
            <a:ext cx="1097280" cy="384048"/>
          </a:xfrm>
          <a:prstGeom prst="roundRect">
            <a:avLst>
              <a:gd name="adj" fmla="val 119048"/>
            </a:avLst>
          </a:prstGeom>
          <a:solidFill>
            <a:srgbClr val="1B3A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846320" y="50840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質問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6016752" y="5166360"/>
            <a:ext cx="201168" cy="21945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09360" y="5084064"/>
            <a:ext cx="1463040" cy="384048"/>
          </a:xfrm>
          <a:prstGeom prst="roundRect">
            <a:avLst>
              <a:gd name="adj" fmla="val 119048"/>
            </a:avLst>
          </a:prstGeom>
          <a:solidFill>
            <a:srgbClr val="1B3A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309360" y="508406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共通構造を検索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7845552" y="5166360"/>
            <a:ext cx="201168" cy="21945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138160" y="5084064"/>
            <a:ext cx="1463040" cy="384048"/>
          </a:xfrm>
          <a:prstGeom prst="roundRect">
            <a:avLst>
              <a:gd name="adj" fmla="val 119048"/>
            </a:avLst>
          </a:prstGeom>
          <a:solidFill>
            <a:srgbClr val="1B3A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138160" y="508406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具体的なグラフ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9674352" y="5166360"/>
            <a:ext cx="201168" cy="21945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966960" y="5084064"/>
            <a:ext cx="1463040" cy="384048"/>
          </a:xfrm>
          <a:prstGeom prst="roundRect">
            <a:avLst>
              <a:gd name="adj" fmla="val 119048"/>
            </a:avLst>
          </a:prstGeom>
          <a:solidFill>
            <a:srgbClr val="1B3A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9966960" y="508406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LLMで回答</a:t>
            </a:r>
            <a:endParaRPr lang="en-US" sz="1100" dirty="0"/>
          </a:p>
        </p:txBody>
      </p:sp>
      <p:sp>
        <p:nvSpPr>
          <p:cNvPr id="103" name="Text 101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結果・考察</a:t>
            </a:r>
            <a:endParaRPr lang="en-US" sz="1050" dirty="0"/>
          </a:p>
        </p:txBody>
      </p:sp>
      <p:sp>
        <p:nvSpPr>
          <p:cNvPr id="104" name="Text 102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分野をまたいで探し、具体で答える。残るのは確かめ方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この設計で効いた点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5253228" cy="3072384"/>
          </a:xfrm>
          <a:prstGeom prst="roundRect">
            <a:avLst>
              <a:gd name="adj" fmla="val 2381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1847088"/>
            <a:ext cx="475488" cy="47548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18653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分野をまたいで届く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24128" y="2761488"/>
            <a:ext cx="475488" cy="47548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4128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7797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具体的な内容のまま返せる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3675888"/>
            <a:ext cx="475488" cy="475488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6941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根拠となる原文に戻れる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69964" y="1188720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これから確かめる点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69964" y="1554480"/>
            <a:ext cx="5253228" cy="3072384"/>
          </a:xfrm>
          <a:prstGeom prst="roundRect">
            <a:avLst>
              <a:gd name="adj" fmla="val 238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35724" y="1847088"/>
            <a:ext cx="475488" cy="475488"/>
          </a:xfrm>
          <a:prstGeom prst="ellipse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35724" y="1847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575804" y="18653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構造化の一貫性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35724" y="2761488"/>
            <a:ext cx="475488" cy="475488"/>
          </a:xfrm>
          <a:prstGeom prst="ellipse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35724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575804" y="27797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73パターンの重複整理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35724" y="3675888"/>
            <a:ext cx="475488" cy="475488"/>
          </a:xfrm>
          <a:prstGeom prst="ellipse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35724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575804" y="3694176"/>
            <a:ext cx="38816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実際の質問での有用性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4901184"/>
            <a:ext cx="10872216" cy="768096"/>
          </a:xfrm>
          <a:prstGeom prst="roundRect">
            <a:avLst>
              <a:gd name="adj" fmla="val 714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901184"/>
            <a:ext cx="108722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共通構造は表現上の一致。当てはめてよいかは、紐づく元のノウハウに戻って確認する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結果・考察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技術への感度の高さ、議論できる環境、熟練者の知識の深さ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9264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取り組みと技術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AI活用推進のための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さまざまな取り組み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トヨタ全体でAI活用を推進するなかで、さまざまな取り組みが進んでいることを知った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同時に、まだ解決すべき課題が多く残っていることも知った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定例で最新のAI活用事例が共有され、AI CoEグループの皆さんの技術への感度の高さを感じた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9976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働く環境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いつでも議論できる環境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疑問があれば、メンターの方がホワイトボードでその場で説明してくださった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誰かが議論を始めると、近くの人が自然に加わって一緒に考えてくれる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新たな視点の意見をその場で聞ける、コミュニケーションが盛んな環境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熟練者との対話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専門知識の深さと、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仕事への誇り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熟練者の方がAIと対話してノウハウを集める会に参加させていただいた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仕事に対する誇りと情熱、そして専門分野の知識の深さに感激した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ノウハウを集めて活用できるようにすることの重要性を、あらためて実感した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5321808"/>
            <a:ext cx="10872216" cy="822960"/>
          </a:xfrm>
          <a:prstGeom prst="roundRect">
            <a:avLst>
              <a:gd name="adj" fmla="val 6667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42416" y="54498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2週間を通して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57058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AI活用の現在地と、それを前に進める議論のしかた、そして熟練者のノウハウを残すことの意義に触れられた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4. インターン振り返り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3566160"/>
            <a:ext cx="4206240" cy="420624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724912"/>
            <a:ext cx="7315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２週間ありがとうございました！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3342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以上です。ご清聴ありがとうございました。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3566160"/>
            <a:ext cx="4206240" cy="420624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331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724912"/>
            <a:ext cx="7315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712464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A-1・A-2　　構造化の詳細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A-3 〜 A-5　構造比較の詳細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A-1 ／ 構造化の詳細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ノウハウを、7種類の点と、その間の接続で表す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ノードの7種類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989320" cy="4069080"/>
          </a:xfrm>
          <a:prstGeom prst="roundRect">
            <a:avLst>
              <a:gd name="adj" fmla="val 1798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79222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95728" y="179222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対象。物・人・集団・活動・システムなど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042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95728" y="2304288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行う操作・働きかけ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395728" y="2816352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ある対象について測る量・属性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3284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395728" y="3328416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量の変化（増加／減少）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8404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395728" y="3840480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対象の状態、または量と値の比較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95728" y="435254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因果などの意味関係そのもの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8646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395728" y="4864608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明示された AND / OR / NOT のまとまり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170432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関係そのものを、1つの点として置く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31152" y="1536192"/>
            <a:ext cx="4599432" cy="1783080"/>
          </a:xfrm>
          <a:prstGeom prst="roundRect">
            <a:avLst>
              <a:gd name="adj" fmla="val 410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42048" y="1755648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CLAIM［CAUSES］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FROM　　　→　ACTION（原因側）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TO　　　　→　CHANGE（結果側）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└ CONDITION →　STATE（成立条件）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31152" y="3456432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関係を点にすると、成立条件や否定を、関係そのものに結びつけて残せる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4096512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関係の種類（5つ）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31152" y="4407408"/>
            <a:ext cx="4599432" cy="1298448"/>
          </a:xfrm>
          <a:prstGeom prst="roundRect">
            <a:avLst>
              <a:gd name="adj" fmla="val 5634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05472" y="45354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94192" y="4535424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原因 → 結果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205472" y="47594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94192" y="4759452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手がかり → 示すもの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49834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394192" y="4983480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成立に必要なもの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52075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394192" y="5207508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防ぐ側 → 防がれる出来事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205472" y="5431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431536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先行 → 後続（因果ではない）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A-2 ／ 構造化の詳細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概念は先に決めず、集めたノードからLLMに定義させた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389888"/>
            <a:ext cx="2523744" cy="2615184"/>
          </a:xfrm>
          <a:prstGeom prst="roundRect">
            <a:avLst>
              <a:gd name="adj" fmla="val 289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591056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572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構造化だけを行う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598371" y="2245172"/>
            <a:ext cx="538582" cy="30404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52460" y="2259940"/>
            <a:ext cx="30404" cy="434340"/>
          </a:xfrm>
          <a:prstGeom prst="rect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155698"/>
            <a:ext cx="208483" cy="208483"/>
          </a:xfrm>
          <a:prstGeom prst="ellipse">
            <a:avLst/>
          </a:prstGeom>
          <a:solidFill>
            <a:srgbClr val="A9B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36953" y="2155698"/>
            <a:ext cx="208483" cy="208483"/>
          </a:xfrm>
          <a:prstGeom prst="ellipse">
            <a:avLst/>
          </a:prstGeom>
          <a:solidFill>
            <a:srgbClr val="A9B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50390" y="2598725"/>
            <a:ext cx="208483" cy="208483"/>
          </a:xfrm>
          <a:prstGeom prst="ellipse">
            <a:avLst/>
          </a:prstGeom>
          <a:solidFill>
            <a:srgbClr val="A9B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07238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原文をノードと接続のグラフにする。この時点では概念を割り当てない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38144" y="1389888"/>
            <a:ext cx="2523744" cy="2615184"/>
          </a:xfrm>
          <a:prstGeom prst="roundRect">
            <a:avLst>
              <a:gd name="adj" fmla="val 2899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94176" y="1591056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94176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078224" y="1572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CLAIMを含む構造を取り出す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78147" y="2245172"/>
            <a:ext cx="538582" cy="30404"/>
          </a:xfrm>
          <a:prstGeom prst="rect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32236" y="2259940"/>
            <a:ext cx="30404" cy="434340"/>
          </a:xfrm>
          <a:prstGeom prst="rect">
            <a:avLst/>
          </a:prstGeom>
          <a:solidFill>
            <a:srgbClr val="8FA0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69664" y="2155698"/>
            <a:ext cx="208483" cy="208483"/>
          </a:xfrm>
          <a:prstGeom prst="ellipse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6729" y="2155698"/>
            <a:ext cx="208483" cy="208483"/>
          </a:xfrm>
          <a:prstGeom prst="ellipse">
            <a:avLst/>
          </a:prstGeom>
          <a:solidFill>
            <a:srgbClr val="A9B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30166" y="2598725"/>
            <a:ext cx="208483" cy="208483"/>
          </a:xfrm>
          <a:prstGeom prst="ellipse">
            <a:avLst/>
          </a:prstGeom>
          <a:solidFill>
            <a:srgbClr val="A9B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94176" y="27980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713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オレンジ＝CLAIM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694176" y="307238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意味関係を持つ部分だけを対象にし、そこに現れるノードを集める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1389888"/>
            <a:ext cx="2523744" cy="2615184"/>
          </a:xfrm>
          <a:prstGeom prst="roundRect">
            <a:avLst>
              <a:gd name="adj" fmla="val 2899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591056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3952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572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種類ごとに集めて概念を定義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73952" y="2066544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73952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ACTION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534656" y="2130552"/>
            <a:ext cx="146304" cy="12801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35824" y="2066544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5824" y="206654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73952" y="2377440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73952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STATE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534656" y="2441448"/>
            <a:ext cx="146304" cy="12801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35824" y="2377440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35824" y="23774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473952" y="2688336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73952" y="2688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QUANTITY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34656" y="2752344"/>
            <a:ext cx="146304" cy="12801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35824" y="2688336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35824" y="268833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473952" y="307238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ACTION・STATE・QUANTITYごとにノードを集め、LLMに約20分類の概念を定義してもらう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997696" y="1389888"/>
            <a:ext cx="2523744" cy="2615184"/>
          </a:xfrm>
          <a:prstGeom prst="roundRect">
            <a:avLst>
              <a:gd name="adj" fmla="val 2899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53728" y="1591056"/>
            <a:ext cx="310896" cy="31089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253728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9637776" y="1572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各ノードを概念に割り当て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253728" y="2066544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2537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人員を追加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14432" y="2130552"/>
            <a:ext cx="146304" cy="12801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53728" y="2377440"/>
            <a:ext cx="10058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3CDD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53728" y="2377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製品種類を追加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0314432" y="2441448"/>
            <a:ext cx="146304" cy="128016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15600" y="2221992"/>
            <a:ext cx="749808" cy="256032"/>
          </a:xfrm>
          <a:prstGeom prst="roundRect">
            <a:avLst>
              <a:gd name="adj" fmla="val 21429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15600" y="222199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追加する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9253728" y="27614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約20分類の概念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9253728" y="307238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どの概念に当たるかをLLMが判定し、分野や表現が違っても同じ概念にそろえる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58368" y="4261104"/>
            <a:ext cx="10872216" cy="841248"/>
          </a:xfrm>
          <a:prstGeom prst="roundRect">
            <a:avLst>
              <a:gd name="adj" fmla="val 6522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042416" y="4425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正規化しても落とさないもの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1042416" y="468172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否定（POSITIVE／NEGATIVE）：「時間が増える」と「時間が増えない」は、概念をそろえたあとも別のものとして残す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A-3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比較する単位は、意味が欠けない最小のまとまり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切り出しの手順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773936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773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7373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CLAIM（意味関係）を起点にする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08483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探索する大きさは、まず意味関係1個、または連結した2個に限る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292608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63824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31272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意味を決める接続まで必ず含める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347472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FROM・TO・成立条件・操作の対象・変化する量・量の対象・LOGICの全要素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4315968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4553712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451713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欠けた断片は同じ構造として扱わない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486460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引数を落とした小さな一致を、元と同じ意味の構造とは見なさない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170432"/>
            <a:ext cx="4946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1つの断片に含める範囲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1536192"/>
            <a:ext cx="4946904" cy="2304288"/>
          </a:xfrm>
          <a:prstGeom prst="roundRect">
            <a:avLst>
              <a:gd name="adj" fmla="val 3175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76288" y="1773936"/>
            <a:ext cx="4361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CLAIM［CAUSES］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FROM　→ ACTION ─ 操作の対象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TO　　→ CHANGE ─ 変化する量 ─ 量の対象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└ CONDITION → STATE ─ 状態の対象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DD0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　　　　　　　（比較の値・単位も含む）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059936"/>
            <a:ext cx="4946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含めてはいけない切り方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0" y="4370832"/>
            <a:ext cx="4946904" cy="1371600"/>
          </a:xfrm>
          <a:prstGeom prst="roundRect">
            <a:avLst>
              <a:gd name="adj" fmla="val 53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76288" y="4553712"/>
            <a:ext cx="4361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だけを取り出し、何が何を起こすのかを落とす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「A と B がそろうと C」の AND を、片方だけに分解する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A-4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何を一致の判定に使い、何を使わないかを決めておく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一致の判定に使う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253228" cy="2907792"/>
          </a:xfrm>
          <a:prstGeom prst="roundRect">
            <a:avLst>
              <a:gd name="adj" fmla="val 2516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792224"/>
            <a:ext cx="46314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点の種類（ACTION・QUANTITY・CLAIM など）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正規化した概念ID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変化の向き（増加／減少）と、関係の種類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否定（増える／増えない）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比較演算子・値・単位、量の次元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接続の種類と向き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569964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一致の判定には使わない（対応表には残す）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69964" y="1536192"/>
            <a:ext cx="5253228" cy="2907792"/>
          </a:xfrm>
          <a:prstGeom prst="roundRect">
            <a:avLst>
              <a:gd name="adj" fmla="val 2516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0860" y="1792224"/>
            <a:ext cx="46314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文書ID・文書内のノードID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原文の表現そのもの、引用文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ENTITY（対象）の名前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80860" y="3383280"/>
            <a:ext cx="46314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これらを一致の条件にすると、言い回しや対象名が違うだけで別物と見なされ、分野をまたいだ共通構造が見つからない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645152"/>
            <a:ext cx="10872216" cy="1371600"/>
          </a:xfrm>
          <a:prstGeom prst="roundRect">
            <a:avLst>
              <a:gd name="adj" fmla="val 533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2416" y="48097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ENTITY（対象）の扱い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" y="512064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対象は一対一の変数として対応づける。「人員」と「製品種類」が同じ意味だと宣言するのではなく、</a:t>
            </a:r>
            <a:endParaRPr lang="en-US" sz="12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違う対象の間で同じ関係が成り立つかを見る操作。元の名前と種類は対応表に残し、置き換えてよいかは別に確認する。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A-5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粗く絞ってから、厳密に照合し、支持する事例を数える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粗い条件で絞る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点の数・接続の数・ラベルの個数など、一致するなら必ず同じになる情報で候補を絞る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21201" y="2523744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6377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7273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7273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97273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厳密に照合する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97273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点の一対一対応と、接続の種類・向きまで合うかを総当たりで確かめる。粗い条件が同じというだけでは一致としない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9210" y="2523744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4386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25282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5282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25282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支持する事例を数える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25282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2件以上の文書に現れた構造を、繰り返し現れる構造として残す。同じ文書内の繰り返しは支持数に数えない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078224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探索に進めず保留する断片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389120"/>
            <a:ext cx="5253228" cy="1353312"/>
          </a:xfrm>
          <a:prstGeom prst="roundRect">
            <a:avLst>
              <a:gd name="adj" fmla="val 5405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" y="4572000"/>
            <a:ext cx="46314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辞書にない概念を含む（空どうしを同じ意味として扱わない）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未解決の限定や、曖昧な参照が残っている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69964" y="4078224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比較する情報を切り替えられるようにする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69964" y="4389120"/>
            <a:ext cx="5253228" cy="1353312"/>
          </a:xfrm>
          <a:prstGeom prst="roundRect">
            <a:avLst>
              <a:gd name="adj" fmla="val 5405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80860" y="4572000"/>
            <a:ext cx="46314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概念ID・否定・条件を外した方式や、形だけの方式でも同じ断片を比較できる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どの情報が誤った一致を防いでいるかを、後から確かめるため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インターン成果報告</dc:title>
  <dc:subject>PptxGenJS Presentation</dc:subject>
  <dc:creator>岩﨑文紀</dc:creator>
  <cp:lastModifiedBy>岩﨑文紀</cp:lastModifiedBy>
  <cp:revision>1</cp:revision>
  <dcterms:created xsi:type="dcterms:W3CDTF">2026-09-17T20:42:37Z</dcterms:created>
  <dcterms:modified xsi:type="dcterms:W3CDTF">2026-09-17T20:42:37Z</dcterms:modified>
</cp:coreProperties>
</file>